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03520"/>
            <a:ext cx="12191695" cy="155448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
            <a:ext cx="1828800" cy="18288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058400" y="274320"/>
            <a:ext cx="1371600" cy="1371600"/>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44000" y="5029200"/>
            <a:ext cx="2286000" cy="2286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1371600"/>
            <a:ext cx="9601200" cy="914400"/>
          </a:xfrm>
          <a:prstGeom prst="rect">
            <a:avLst/>
          </a:prstGeom>
          <a:noFill/>
        </p:spPr>
        <p:txBody>
          <a:bodyPr wrap="square">
            <a:spAutoFit/>
          </a:bodyPr>
          <a:lstStyle/>
          <a:p>
            <a:pPr algn="ctr">
              <a:defRPr sz="4800" b="1">
                <a:solidFill>
                  <a:srgbClr val="FFFFFF"/>
                </a:solidFill>
                <a:latin typeface="Calibri"/>
              </a:defRPr>
            </a:pPr>
            <a:r>
              <a:t>DISASTER MANAGEMENT</a:t>
            </a:r>
          </a:p>
        </p:txBody>
      </p:sp>
      <p:sp>
        <p:nvSpPr>
          <p:cNvPr id="8" name="Rectangle 7"/>
          <p:cNvSpPr/>
          <p:nvPr/>
        </p:nvSpPr>
        <p:spPr>
          <a:xfrm>
            <a:off x="4114800" y="2286000"/>
            <a:ext cx="393192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71600" y="2560320"/>
            <a:ext cx="9601200" cy="1097280"/>
          </a:xfrm>
          <a:prstGeom prst="rect">
            <a:avLst/>
          </a:prstGeom>
          <a:noFill/>
        </p:spPr>
        <p:txBody>
          <a:bodyPr wrap="square">
            <a:spAutoFit/>
          </a:bodyPr>
          <a:lstStyle/>
          <a:p>
            <a:pPr algn="ctr">
              <a:defRPr sz="3200" b="0">
                <a:solidFill>
                  <a:srgbClr val="ECF0F1"/>
                </a:solidFill>
                <a:latin typeface="Calibri"/>
              </a:defRPr>
            </a:pPr>
            <a:r>
              <a:t>Overview of Disaster Management</a:t>
            </a:r>
            <a:br/>
            <a:r>
              <a:t>Scenario in India</a:t>
            </a:r>
          </a:p>
        </p:txBody>
      </p:sp>
      <p:sp>
        <p:nvSpPr>
          <p:cNvPr id="10" name="TextBox 9"/>
          <p:cNvSpPr txBox="1"/>
          <p:nvPr/>
        </p:nvSpPr>
        <p:spPr>
          <a:xfrm>
            <a:off x="1371600" y="3931920"/>
            <a:ext cx="9601200" cy="457200"/>
          </a:xfrm>
          <a:prstGeom prst="rect">
            <a:avLst/>
          </a:prstGeom>
          <a:noFill/>
        </p:spPr>
        <p:txBody>
          <a:bodyPr wrap="square">
            <a:spAutoFit/>
          </a:bodyPr>
          <a:lstStyle/>
          <a:p>
            <a:pPr algn="ctr">
              <a:defRPr sz="1800" b="0">
                <a:solidFill>
                  <a:srgbClr val="7F8C8D"/>
                </a:solidFill>
                <a:latin typeface="Calibri"/>
              </a:defRPr>
            </a:pPr>
            <a:r>
              <a:t>Bachelor of Architecture (B.Arch) | Comprehensive Study</a:t>
            </a:r>
          </a:p>
        </p:txBody>
      </p:sp>
      <p:sp>
        <p:nvSpPr>
          <p:cNvPr id="11" name="TextBox 10"/>
          <p:cNvSpPr txBox="1"/>
          <p:nvPr/>
        </p:nvSpPr>
        <p:spPr>
          <a:xfrm>
            <a:off x="0" y="5486400"/>
            <a:ext cx="12191695" cy="914400"/>
          </a:xfrm>
          <a:prstGeom prst="rect">
            <a:avLst/>
          </a:prstGeom>
          <a:noFill/>
        </p:spPr>
        <p:txBody>
          <a:bodyPr wrap="square">
            <a:spAutoFit/>
          </a:bodyPr>
          <a:lstStyle/>
          <a:p>
            <a:pPr algn="ctr">
              <a:defRPr sz="1600" b="0">
                <a:solidFill>
                  <a:srgbClr val="FFFFFF"/>
                </a:solidFill>
                <a:latin typeface="Calibri"/>
              </a:defRPr>
            </a:pPr>
            <a:r>
              <a:t>From Preparedness to Resilience: Understanding India's Disaster Governance Framework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TABLE OF CONTENTS</a:t>
            </a:r>
          </a:p>
        </p:txBody>
      </p:sp>
      <p:sp>
        <p:nvSpPr>
          <p:cNvPr id="4" name="Oval 3"/>
          <p:cNvSpPr/>
          <p:nvPr/>
        </p:nvSpPr>
        <p:spPr>
          <a:xfrm>
            <a:off x="274320" y="1508760"/>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92608" y="1472184"/>
            <a:ext cx="256032" cy="256032"/>
          </a:xfrm>
          <a:prstGeom prst="rect">
            <a:avLst/>
          </a:prstGeom>
          <a:noFill/>
        </p:spPr>
        <p:txBody>
          <a:bodyPr wrap="square">
            <a:spAutoFit/>
          </a:bodyPr>
          <a:lstStyle/>
          <a:p>
            <a:pPr algn="ctr">
              <a:defRPr sz="900" b="1">
                <a:solidFill>
                  <a:srgbClr val="FFFFFF"/>
                </a:solidFill>
                <a:latin typeface="Calibri"/>
              </a:defRPr>
            </a:pPr>
            <a:r>
              <a:t>01</a:t>
            </a:r>
          </a:p>
        </p:txBody>
      </p:sp>
      <p:sp>
        <p:nvSpPr>
          <p:cNvPr id="6" name="TextBox 5"/>
          <p:cNvSpPr txBox="1"/>
          <p:nvPr/>
        </p:nvSpPr>
        <p:spPr>
          <a:xfrm>
            <a:off x="640080" y="1463040"/>
            <a:ext cx="3474720" cy="365760"/>
          </a:xfrm>
          <a:prstGeom prst="rect">
            <a:avLst/>
          </a:prstGeom>
          <a:noFill/>
        </p:spPr>
        <p:txBody>
          <a:bodyPr wrap="square">
            <a:spAutoFit/>
          </a:bodyPr>
          <a:lstStyle/>
          <a:p>
            <a:pPr algn="l">
              <a:defRPr sz="1100" b="0">
                <a:solidFill>
                  <a:srgbClr val="FFFFFF"/>
                </a:solidFill>
                <a:latin typeface="Calibri"/>
              </a:defRPr>
            </a:pPr>
            <a:r>
              <a:t>Introduction to Disaster Management</a:t>
            </a:r>
          </a:p>
        </p:txBody>
      </p:sp>
      <p:sp>
        <p:nvSpPr>
          <p:cNvPr id="7" name="Oval 6"/>
          <p:cNvSpPr/>
          <p:nvPr/>
        </p:nvSpPr>
        <p:spPr>
          <a:xfrm>
            <a:off x="4206240" y="1508760"/>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224528" y="1472184"/>
            <a:ext cx="256032" cy="256032"/>
          </a:xfrm>
          <a:prstGeom prst="rect">
            <a:avLst/>
          </a:prstGeom>
          <a:noFill/>
        </p:spPr>
        <p:txBody>
          <a:bodyPr wrap="square">
            <a:spAutoFit/>
          </a:bodyPr>
          <a:lstStyle/>
          <a:p>
            <a:pPr algn="ctr">
              <a:defRPr sz="900" b="1">
                <a:solidFill>
                  <a:srgbClr val="FFFFFF"/>
                </a:solidFill>
                <a:latin typeface="Calibri"/>
              </a:defRPr>
            </a:pPr>
            <a:r>
              <a:t>02</a:t>
            </a:r>
          </a:p>
        </p:txBody>
      </p:sp>
      <p:sp>
        <p:nvSpPr>
          <p:cNvPr id="9" name="TextBox 8"/>
          <p:cNvSpPr txBox="1"/>
          <p:nvPr/>
        </p:nvSpPr>
        <p:spPr>
          <a:xfrm>
            <a:off x="4572000" y="1463040"/>
            <a:ext cx="3474720" cy="365760"/>
          </a:xfrm>
          <a:prstGeom prst="rect">
            <a:avLst/>
          </a:prstGeom>
          <a:noFill/>
        </p:spPr>
        <p:txBody>
          <a:bodyPr wrap="square">
            <a:spAutoFit/>
          </a:bodyPr>
          <a:lstStyle/>
          <a:p>
            <a:pPr algn="l">
              <a:defRPr sz="1100" b="0">
                <a:solidFill>
                  <a:srgbClr val="FFFFFF"/>
                </a:solidFill>
                <a:latin typeface="Calibri"/>
              </a:defRPr>
            </a:pPr>
            <a:r>
              <a:t>Key Definitions &amp; Terminology</a:t>
            </a:r>
          </a:p>
        </p:txBody>
      </p:sp>
      <p:sp>
        <p:nvSpPr>
          <p:cNvPr id="10" name="Oval 9"/>
          <p:cNvSpPr/>
          <p:nvPr/>
        </p:nvSpPr>
        <p:spPr>
          <a:xfrm>
            <a:off x="8138160" y="1508760"/>
            <a:ext cx="256032" cy="256032"/>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56448" y="1472184"/>
            <a:ext cx="256032" cy="256032"/>
          </a:xfrm>
          <a:prstGeom prst="rect">
            <a:avLst/>
          </a:prstGeom>
          <a:noFill/>
        </p:spPr>
        <p:txBody>
          <a:bodyPr wrap="square">
            <a:spAutoFit/>
          </a:bodyPr>
          <a:lstStyle/>
          <a:p>
            <a:pPr algn="ctr">
              <a:defRPr sz="900" b="1">
                <a:solidFill>
                  <a:srgbClr val="FFFFFF"/>
                </a:solidFill>
                <a:latin typeface="Calibri"/>
              </a:defRPr>
            </a:pPr>
            <a:r>
              <a:t>03</a:t>
            </a:r>
          </a:p>
        </p:txBody>
      </p:sp>
      <p:sp>
        <p:nvSpPr>
          <p:cNvPr id="12" name="TextBox 11"/>
          <p:cNvSpPr txBox="1"/>
          <p:nvPr/>
        </p:nvSpPr>
        <p:spPr>
          <a:xfrm>
            <a:off x="8503920" y="1463040"/>
            <a:ext cx="3474720" cy="365760"/>
          </a:xfrm>
          <a:prstGeom prst="rect">
            <a:avLst/>
          </a:prstGeom>
          <a:noFill/>
        </p:spPr>
        <p:txBody>
          <a:bodyPr wrap="square">
            <a:spAutoFit/>
          </a:bodyPr>
          <a:lstStyle/>
          <a:p>
            <a:pPr algn="l">
              <a:defRPr sz="1100" b="0">
                <a:solidFill>
                  <a:srgbClr val="FFFFFF"/>
                </a:solidFill>
                <a:latin typeface="Calibri"/>
              </a:defRPr>
            </a:pPr>
            <a:r>
              <a:t>Types of Disasters in India</a:t>
            </a:r>
          </a:p>
        </p:txBody>
      </p:sp>
      <p:sp>
        <p:nvSpPr>
          <p:cNvPr id="13" name="Oval 12"/>
          <p:cNvSpPr/>
          <p:nvPr/>
        </p:nvSpPr>
        <p:spPr>
          <a:xfrm>
            <a:off x="274320" y="1984248"/>
            <a:ext cx="256032" cy="256032"/>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 y="1947672"/>
            <a:ext cx="256032" cy="256032"/>
          </a:xfrm>
          <a:prstGeom prst="rect">
            <a:avLst/>
          </a:prstGeom>
          <a:noFill/>
        </p:spPr>
        <p:txBody>
          <a:bodyPr wrap="square">
            <a:spAutoFit/>
          </a:bodyPr>
          <a:lstStyle/>
          <a:p>
            <a:pPr algn="ctr">
              <a:defRPr sz="900" b="1">
                <a:solidFill>
                  <a:srgbClr val="FFFFFF"/>
                </a:solidFill>
                <a:latin typeface="Calibri"/>
              </a:defRPr>
            </a:pPr>
            <a:r>
              <a:t>04</a:t>
            </a:r>
          </a:p>
        </p:txBody>
      </p:sp>
      <p:sp>
        <p:nvSpPr>
          <p:cNvPr id="15" name="TextBox 14"/>
          <p:cNvSpPr txBox="1"/>
          <p:nvPr/>
        </p:nvSpPr>
        <p:spPr>
          <a:xfrm>
            <a:off x="640080" y="1938528"/>
            <a:ext cx="3474720" cy="365760"/>
          </a:xfrm>
          <a:prstGeom prst="rect">
            <a:avLst/>
          </a:prstGeom>
          <a:noFill/>
        </p:spPr>
        <p:txBody>
          <a:bodyPr wrap="square">
            <a:spAutoFit/>
          </a:bodyPr>
          <a:lstStyle/>
          <a:p>
            <a:pPr algn="l">
              <a:defRPr sz="1100" b="0">
                <a:solidFill>
                  <a:srgbClr val="FFFFFF"/>
                </a:solidFill>
                <a:latin typeface="Calibri"/>
              </a:defRPr>
            </a:pPr>
            <a:r>
              <a:t>India's Disaster Profile &amp; Statistics</a:t>
            </a:r>
          </a:p>
        </p:txBody>
      </p:sp>
      <p:sp>
        <p:nvSpPr>
          <p:cNvPr id="16" name="Oval 15"/>
          <p:cNvSpPr/>
          <p:nvPr/>
        </p:nvSpPr>
        <p:spPr>
          <a:xfrm>
            <a:off x="4206240" y="1984248"/>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24528" y="1947672"/>
            <a:ext cx="256032" cy="256032"/>
          </a:xfrm>
          <a:prstGeom prst="rect">
            <a:avLst/>
          </a:prstGeom>
          <a:noFill/>
        </p:spPr>
        <p:txBody>
          <a:bodyPr wrap="square">
            <a:spAutoFit/>
          </a:bodyPr>
          <a:lstStyle/>
          <a:p>
            <a:pPr algn="ctr">
              <a:defRPr sz="900" b="1">
                <a:solidFill>
                  <a:srgbClr val="FFFFFF"/>
                </a:solidFill>
                <a:latin typeface="Calibri"/>
              </a:defRPr>
            </a:pPr>
            <a:r>
              <a:t>05</a:t>
            </a:r>
          </a:p>
        </p:txBody>
      </p:sp>
      <p:sp>
        <p:nvSpPr>
          <p:cNvPr id="18" name="TextBox 17"/>
          <p:cNvSpPr txBox="1"/>
          <p:nvPr/>
        </p:nvSpPr>
        <p:spPr>
          <a:xfrm>
            <a:off x="4572000" y="1938528"/>
            <a:ext cx="3474720" cy="365760"/>
          </a:xfrm>
          <a:prstGeom prst="rect">
            <a:avLst/>
          </a:prstGeom>
          <a:noFill/>
        </p:spPr>
        <p:txBody>
          <a:bodyPr wrap="square">
            <a:spAutoFit/>
          </a:bodyPr>
          <a:lstStyle/>
          <a:p>
            <a:pPr algn="l">
              <a:defRPr sz="1100" b="0">
                <a:solidFill>
                  <a:srgbClr val="FFFFFF"/>
                </a:solidFill>
                <a:latin typeface="Calibri"/>
              </a:defRPr>
            </a:pPr>
            <a:r>
              <a:t>Historical Disaster Events in India</a:t>
            </a:r>
          </a:p>
        </p:txBody>
      </p:sp>
      <p:sp>
        <p:nvSpPr>
          <p:cNvPr id="19" name="Oval 18"/>
          <p:cNvSpPr/>
          <p:nvPr/>
        </p:nvSpPr>
        <p:spPr>
          <a:xfrm>
            <a:off x="8138160" y="1984248"/>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56448" y="1947672"/>
            <a:ext cx="256032" cy="256032"/>
          </a:xfrm>
          <a:prstGeom prst="rect">
            <a:avLst/>
          </a:prstGeom>
          <a:noFill/>
        </p:spPr>
        <p:txBody>
          <a:bodyPr wrap="square">
            <a:spAutoFit/>
          </a:bodyPr>
          <a:lstStyle/>
          <a:p>
            <a:pPr algn="ctr">
              <a:defRPr sz="900" b="1">
                <a:solidFill>
                  <a:srgbClr val="FFFFFF"/>
                </a:solidFill>
                <a:latin typeface="Calibri"/>
              </a:defRPr>
            </a:pPr>
            <a:r>
              <a:t>06</a:t>
            </a:r>
          </a:p>
        </p:txBody>
      </p:sp>
      <p:sp>
        <p:nvSpPr>
          <p:cNvPr id="21" name="TextBox 20"/>
          <p:cNvSpPr txBox="1"/>
          <p:nvPr/>
        </p:nvSpPr>
        <p:spPr>
          <a:xfrm>
            <a:off x="8503920" y="1938528"/>
            <a:ext cx="3474720" cy="365760"/>
          </a:xfrm>
          <a:prstGeom prst="rect">
            <a:avLst/>
          </a:prstGeom>
          <a:noFill/>
        </p:spPr>
        <p:txBody>
          <a:bodyPr wrap="square">
            <a:spAutoFit/>
          </a:bodyPr>
          <a:lstStyle/>
          <a:p>
            <a:pPr algn="l">
              <a:defRPr sz="1100" b="0">
                <a:solidFill>
                  <a:srgbClr val="FFFFFF"/>
                </a:solidFill>
                <a:latin typeface="Calibri"/>
              </a:defRPr>
            </a:pPr>
            <a:r>
              <a:t>Legal &amp; Institutional Framework</a:t>
            </a:r>
          </a:p>
        </p:txBody>
      </p:sp>
      <p:sp>
        <p:nvSpPr>
          <p:cNvPr id="22" name="Oval 21"/>
          <p:cNvSpPr/>
          <p:nvPr/>
        </p:nvSpPr>
        <p:spPr>
          <a:xfrm>
            <a:off x="274320" y="2459736"/>
            <a:ext cx="256032" cy="256032"/>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92608" y="2423160"/>
            <a:ext cx="256032" cy="256032"/>
          </a:xfrm>
          <a:prstGeom prst="rect">
            <a:avLst/>
          </a:prstGeom>
          <a:noFill/>
        </p:spPr>
        <p:txBody>
          <a:bodyPr wrap="square">
            <a:spAutoFit/>
          </a:bodyPr>
          <a:lstStyle/>
          <a:p>
            <a:pPr algn="ctr">
              <a:defRPr sz="900" b="1">
                <a:solidFill>
                  <a:srgbClr val="FFFFFF"/>
                </a:solidFill>
                <a:latin typeface="Calibri"/>
              </a:defRPr>
            </a:pPr>
            <a:r>
              <a:t>07</a:t>
            </a:r>
          </a:p>
        </p:txBody>
      </p:sp>
      <p:sp>
        <p:nvSpPr>
          <p:cNvPr id="24" name="TextBox 23"/>
          <p:cNvSpPr txBox="1"/>
          <p:nvPr/>
        </p:nvSpPr>
        <p:spPr>
          <a:xfrm>
            <a:off x="640080" y="2414016"/>
            <a:ext cx="3474720" cy="365760"/>
          </a:xfrm>
          <a:prstGeom prst="rect">
            <a:avLst/>
          </a:prstGeom>
          <a:noFill/>
        </p:spPr>
        <p:txBody>
          <a:bodyPr wrap="square">
            <a:spAutoFit/>
          </a:bodyPr>
          <a:lstStyle/>
          <a:p>
            <a:pPr algn="l">
              <a:defRPr sz="1100" b="0">
                <a:solidFill>
                  <a:srgbClr val="FFFFFF"/>
                </a:solidFill>
                <a:latin typeface="Calibri"/>
              </a:defRPr>
            </a:pPr>
            <a:r>
              <a:t>Disaster Management Act, 2005</a:t>
            </a:r>
          </a:p>
        </p:txBody>
      </p:sp>
      <p:sp>
        <p:nvSpPr>
          <p:cNvPr id="25" name="Oval 24"/>
          <p:cNvSpPr/>
          <p:nvPr/>
        </p:nvSpPr>
        <p:spPr>
          <a:xfrm>
            <a:off x="4206240" y="2459736"/>
            <a:ext cx="256032" cy="256032"/>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224528" y="2423160"/>
            <a:ext cx="256032" cy="256032"/>
          </a:xfrm>
          <a:prstGeom prst="rect">
            <a:avLst/>
          </a:prstGeom>
          <a:noFill/>
        </p:spPr>
        <p:txBody>
          <a:bodyPr wrap="square">
            <a:spAutoFit/>
          </a:bodyPr>
          <a:lstStyle/>
          <a:p>
            <a:pPr algn="ctr">
              <a:defRPr sz="900" b="1">
                <a:solidFill>
                  <a:srgbClr val="FFFFFF"/>
                </a:solidFill>
                <a:latin typeface="Calibri"/>
              </a:defRPr>
            </a:pPr>
            <a:r>
              <a:t>08</a:t>
            </a:r>
          </a:p>
        </p:txBody>
      </p:sp>
      <p:sp>
        <p:nvSpPr>
          <p:cNvPr id="27" name="TextBox 26"/>
          <p:cNvSpPr txBox="1"/>
          <p:nvPr/>
        </p:nvSpPr>
        <p:spPr>
          <a:xfrm>
            <a:off x="4572000" y="2414016"/>
            <a:ext cx="3474720" cy="365760"/>
          </a:xfrm>
          <a:prstGeom prst="rect">
            <a:avLst/>
          </a:prstGeom>
          <a:noFill/>
        </p:spPr>
        <p:txBody>
          <a:bodyPr wrap="square">
            <a:spAutoFit/>
          </a:bodyPr>
          <a:lstStyle/>
          <a:p>
            <a:pPr algn="l">
              <a:defRPr sz="1100" b="0">
                <a:solidFill>
                  <a:srgbClr val="FFFFFF"/>
                </a:solidFill>
                <a:latin typeface="Calibri"/>
              </a:defRPr>
            </a:pPr>
            <a:r>
              <a:t>NDMA Structure &amp; Functions</a:t>
            </a:r>
          </a:p>
        </p:txBody>
      </p:sp>
      <p:sp>
        <p:nvSpPr>
          <p:cNvPr id="28" name="Oval 27"/>
          <p:cNvSpPr/>
          <p:nvPr/>
        </p:nvSpPr>
        <p:spPr>
          <a:xfrm>
            <a:off x="8138160" y="2459736"/>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156448" y="2423160"/>
            <a:ext cx="256032" cy="256032"/>
          </a:xfrm>
          <a:prstGeom prst="rect">
            <a:avLst/>
          </a:prstGeom>
          <a:noFill/>
        </p:spPr>
        <p:txBody>
          <a:bodyPr wrap="square">
            <a:spAutoFit/>
          </a:bodyPr>
          <a:lstStyle/>
          <a:p>
            <a:pPr algn="ctr">
              <a:defRPr sz="900" b="1">
                <a:solidFill>
                  <a:srgbClr val="FFFFFF"/>
                </a:solidFill>
                <a:latin typeface="Calibri"/>
              </a:defRPr>
            </a:pPr>
            <a:r>
              <a:t>09</a:t>
            </a:r>
          </a:p>
        </p:txBody>
      </p:sp>
      <p:sp>
        <p:nvSpPr>
          <p:cNvPr id="30" name="TextBox 29"/>
          <p:cNvSpPr txBox="1"/>
          <p:nvPr/>
        </p:nvSpPr>
        <p:spPr>
          <a:xfrm>
            <a:off x="8503920" y="2414016"/>
            <a:ext cx="3474720" cy="365760"/>
          </a:xfrm>
          <a:prstGeom prst="rect">
            <a:avLst/>
          </a:prstGeom>
          <a:noFill/>
        </p:spPr>
        <p:txBody>
          <a:bodyPr wrap="square">
            <a:spAutoFit/>
          </a:bodyPr>
          <a:lstStyle/>
          <a:p>
            <a:pPr algn="l">
              <a:defRPr sz="1100" b="0">
                <a:solidFill>
                  <a:srgbClr val="FFFFFF"/>
                </a:solidFill>
                <a:latin typeface="Calibri"/>
              </a:defRPr>
            </a:pPr>
            <a:r>
              <a:t>Four Pillars of Disaster Management</a:t>
            </a:r>
          </a:p>
        </p:txBody>
      </p:sp>
      <p:sp>
        <p:nvSpPr>
          <p:cNvPr id="31" name="Oval 30"/>
          <p:cNvSpPr/>
          <p:nvPr/>
        </p:nvSpPr>
        <p:spPr>
          <a:xfrm>
            <a:off x="274320" y="2935224"/>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92608" y="2898648"/>
            <a:ext cx="256032" cy="256032"/>
          </a:xfrm>
          <a:prstGeom prst="rect">
            <a:avLst/>
          </a:prstGeom>
          <a:noFill/>
        </p:spPr>
        <p:txBody>
          <a:bodyPr wrap="square">
            <a:spAutoFit/>
          </a:bodyPr>
          <a:lstStyle/>
          <a:p>
            <a:pPr algn="ctr">
              <a:defRPr sz="900" b="1">
                <a:solidFill>
                  <a:srgbClr val="FFFFFF"/>
                </a:solidFill>
                <a:latin typeface="Calibri"/>
              </a:defRPr>
            </a:pPr>
            <a:r>
              <a:t>10</a:t>
            </a:r>
          </a:p>
        </p:txBody>
      </p:sp>
      <p:sp>
        <p:nvSpPr>
          <p:cNvPr id="33" name="TextBox 32"/>
          <p:cNvSpPr txBox="1"/>
          <p:nvPr/>
        </p:nvSpPr>
        <p:spPr>
          <a:xfrm>
            <a:off x="640080" y="2889504"/>
            <a:ext cx="3474720" cy="365760"/>
          </a:xfrm>
          <a:prstGeom prst="rect">
            <a:avLst/>
          </a:prstGeom>
          <a:noFill/>
        </p:spPr>
        <p:txBody>
          <a:bodyPr wrap="square">
            <a:spAutoFit/>
          </a:bodyPr>
          <a:lstStyle/>
          <a:p>
            <a:pPr algn="l">
              <a:defRPr sz="1100" b="0">
                <a:solidFill>
                  <a:srgbClr val="FFFFFF"/>
                </a:solidFill>
                <a:latin typeface="Calibri"/>
              </a:defRPr>
            </a:pPr>
            <a:r>
              <a:t>Prevention &amp; Mitigation Strategies</a:t>
            </a:r>
          </a:p>
        </p:txBody>
      </p:sp>
      <p:sp>
        <p:nvSpPr>
          <p:cNvPr id="34" name="Oval 33"/>
          <p:cNvSpPr/>
          <p:nvPr/>
        </p:nvSpPr>
        <p:spPr>
          <a:xfrm>
            <a:off x="4206240" y="2935224"/>
            <a:ext cx="256032" cy="256032"/>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24528" y="2898648"/>
            <a:ext cx="256032" cy="256032"/>
          </a:xfrm>
          <a:prstGeom prst="rect">
            <a:avLst/>
          </a:prstGeom>
          <a:noFill/>
        </p:spPr>
        <p:txBody>
          <a:bodyPr wrap="square">
            <a:spAutoFit/>
          </a:bodyPr>
          <a:lstStyle/>
          <a:p>
            <a:pPr algn="ctr">
              <a:defRPr sz="900" b="1">
                <a:solidFill>
                  <a:srgbClr val="FFFFFF"/>
                </a:solidFill>
                <a:latin typeface="Calibri"/>
              </a:defRPr>
            </a:pPr>
            <a:r>
              <a:t>11</a:t>
            </a:r>
          </a:p>
        </p:txBody>
      </p:sp>
      <p:sp>
        <p:nvSpPr>
          <p:cNvPr id="36" name="TextBox 35"/>
          <p:cNvSpPr txBox="1"/>
          <p:nvPr/>
        </p:nvSpPr>
        <p:spPr>
          <a:xfrm>
            <a:off x="4572000" y="2889504"/>
            <a:ext cx="3474720" cy="365760"/>
          </a:xfrm>
          <a:prstGeom prst="rect">
            <a:avLst/>
          </a:prstGeom>
          <a:noFill/>
        </p:spPr>
        <p:txBody>
          <a:bodyPr wrap="square">
            <a:spAutoFit/>
          </a:bodyPr>
          <a:lstStyle/>
          <a:p>
            <a:pPr algn="l">
              <a:defRPr sz="1100" b="0">
                <a:solidFill>
                  <a:srgbClr val="FFFFFF"/>
                </a:solidFill>
                <a:latin typeface="Calibri"/>
              </a:defRPr>
            </a:pPr>
            <a:r>
              <a:t>Preparedness &amp; Early Warning Systems</a:t>
            </a:r>
          </a:p>
        </p:txBody>
      </p:sp>
      <p:sp>
        <p:nvSpPr>
          <p:cNvPr id="37" name="Oval 36"/>
          <p:cNvSpPr/>
          <p:nvPr/>
        </p:nvSpPr>
        <p:spPr>
          <a:xfrm>
            <a:off x="8138160" y="2935224"/>
            <a:ext cx="256032" cy="256032"/>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156448" y="2898648"/>
            <a:ext cx="256032" cy="256032"/>
          </a:xfrm>
          <a:prstGeom prst="rect">
            <a:avLst/>
          </a:prstGeom>
          <a:noFill/>
        </p:spPr>
        <p:txBody>
          <a:bodyPr wrap="square">
            <a:spAutoFit/>
          </a:bodyPr>
          <a:lstStyle/>
          <a:p>
            <a:pPr algn="ctr">
              <a:defRPr sz="900" b="1">
                <a:solidFill>
                  <a:srgbClr val="FFFFFF"/>
                </a:solidFill>
                <a:latin typeface="Calibri"/>
              </a:defRPr>
            </a:pPr>
            <a:r>
              <a:t>12</a:t>
            </a:r>
          </a:p>
        </p:txBody>
      </p:sp>
      <p:sp>
        <p:nvSpPr>
          <p:cNvPr id="39" name="TextBox 38"/>
          <p:cNvSpPr txBox="1"/>
          <p:nvPr/>
        </p:nvSpPr>
        <p:spPr>
          <a:xfrm>
            <a:off x="8503920" y="2889504"/>
            <a:ext cx="3474720" cy="365760"/>
          </a:xfrm>
          <a:prstGeom prst="rect">
            <a:avLst/>
          </a:prstGeom>
          <a:noFill/>
        </p:spPr>
        <p:txBody>
          <a:bodyPr wrap="square">
            <a:spAutoFit/>
          </a:bodyPr>
          <a:lstStyle/>
          <a:p>
            <a:pPr algn="l">
              <a:defRPr sz="1100" b="0">
                <a:solidFill>
                  <a:srgbClr val="FFFFFF"/>
                </a:solidFill>
                <a:latin typeface="Calibri"/>
              </a:defRPr>
            </a:pPr>
            <a:r>
              <a:t>Response &amp; Rescue Operations</a:t>
            </a:r>
          </a:p>
        </p:txBody>
      </p:sp>
      <p:sp>
        <p:nvSpPr>
          <p:cNvPr id="40" name="Oval 39"/>
          <p:cNvSpPr/>
          <p:nvPr/>
        </p:nvSpPr>
        <p:spPr>
          <a:xfrm>
            <a:off x="274320" y="3410712"/>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92608" y="3374136"/>
            <a:ext cx="256032" cy="256032"/>
          </a:xfrm>
          <a:prstGeom prst="rect">
            <a:avLst/>
          </a:prstGeom>
          <a:noFill/>
        </p:spPr>
        <p:txBody>
          <a:bodyPr wrap="square">
            <a:spAutoFit/>
          </a:bodyPr>
          <a:lstStyle/>
          <a:p>
            <a:pPr algn="ctr">
              <a:defRPr sz="900" b="1">
                <a:solidFill>
                  <a:srgbClr val="FFFFFF"/>
                </a:solidFill>
                <a:latin typeface="Calibri"/>
              </a:defRPr>
            </a:pPr>
            <a:r>
              <a:t>13</a:t>
            </a:r>
          </a:p>
        </p:txBody>
      </p:sp>
      <p:sp>
        <p:nvSpPr>
          <p:cNvPr id="42" name="TextBox 41"/>
          <p:cNvSpPr txBox="1"/>
          <p:nvPr/>
        </p:nvSpPr>
        <p:spPr>
          <a:xfrm>
            <a:off x="640080" y="3364992"/>
            <a:ext cx="3474720" cy="365760"/>
          </a:xfrm>
          <a:prstGeom prst="rect">
            <a:avLst/>
          </a:prstGeom>
          <a:noFill/>
        </p:spPr>
        <p:txBody>
          <a:bodyPr wrap="square">
            <a:spAutoFit/>
          </a:bodyPr>
          <a:lstStyle/>
          <a:p>
            <a:pPr algn="l">
              <a:defRPr sz="1100" b="0">
                <a:solidFill>
                  <a:srgbClr val="FFFFFF"/>
                </a:solidFill>
                <a:latin typeface="Calibri"/>
              </a:defRPr>
            </a:pPr>
            <a:r>
              <a:t>Rehabilitation &amp; Reconstruction</a:t>
            </a:r>
          </a:p>
        </p:txBody>
      </p:sp>
      <p:sp>
        <p:nvSpPr>
          <p:cNvPr id="43" name="Oval 42"/>
          <p:cNvSpPr/>
          <p:nvPr/>
        </p:nvSpPr>
        <p:spPr>
          <a:xfrm>
            <a:off x="4206240" y="3410712"/>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224528" y="3374136"/>
            <a:ext cx="256032" cy="256032"/>
          </a:xfrm>
          <a:prstGeom prst="rect">
            <a:avLst/>
          </a:prstGeom>
          <a:noFill/>
        </p:spPr>
        <p:txBody>
          <a:bodyPr wrap="square">
            <a:spAutoFit/>
          </a:bodyPr>
          <a:lstStyle/>
          <a:p>
            <a:pPr algn="ctr">
              <a:defRPr sz="900" b="1">
                <a:solidFill>
                  <a:srgbClr val="FFFFFF"/>
                </a:solidFill>
                <a:latin typeface="Calibri"/>
              </a:defRPr>
            </a:pPr>
            <a:r>
              <a:t>14</a:t>
            </a:r>
          </a:p>
        </p:txBody>
      </p:sp>
      <p:sp>
        <p:nvSpPr>
          <p:cNvPr id="45" name="TextBox 44"/>
          <p:cNvSpPr txBox="1"/>
          <p:nvPr/>
        </p:nvSpPr>
        <p:spPr>
          <a:xfrm>
            <a:off x="4572000" y="3364992"/>
            <a:ext cx="3474720" cy="365760"/>
          </a:xfrm>
          <a:prstGeom prst="rect">
            <a:avLst/>
          </a:prstGeom>
          <a:noFill/>
        </p:spPr>
        <p:txBody>
          <a:bodyPr wrap="square">
            <a:spAutoFit/>
          </a:bodyPr>
          <a:lstStyle/>
          <a:p>
            <a:pPr algn="l">
              <a:defRPr sz="1100" b="0">
                <a:solidFill>
                  <a:srgbClr val="FFFFFF"/>
                </a:solidFill>
                <a:latin typeface="Calibri"/>
              </a:defRPr>
            </a:pPr>
            <a:r>
              <a:t>Role of Architecture in Disaster Mgmt</a:t>
            </a:r>
          </a:p>
        </p:txBody>
      </p:sp>
      <p:sp>
        <p:nvSpPr>
          <p:cNvPr id="46" name="Oval 45"/>
          <p:cNvSpPr/>
          <p:nvPr/>
        </p:nvSpPr>
        <p:spPr>
          <a:xfrm>
            <a:off x="8138160" y="3410712"/>
            <a:ext cx="256032" cy="256032"/>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156448" y="3374136"/>
            <a:ext cx="256032" cy="256032"/>
          </a:xfrm>
          <a:prstGeom prst="rect">
            <a:avLst/>
          </a:prstGeom>
          <a:noFill/>
        </p:spPr>
        <p:txBody>
          <a:bodyPr wrap="square">
            <a:spAutoFit/>
          </a:bodyPr>
          <a:lstStyle/>
          <a:p>
            <a:pPr algn="ctr">
              <a:defRPr sz="900" b="1">
                <a:solidFill>
                  <a:srgbClr val="FFFFFF"/>
                </a:solidFill>
                <a:latin typeface="Calibri"/>
              </a:defRPr>
            </a:pPr>
            <a:r>
              <a:t>15</a:t>
            </a:r>
          </a:p>
        </p:txBody>
      </p:sp>
      <p:sp>
        <p:nvSpPr>
          <p:cNvPr id="48" name="TextBox 47"/>
          <p:cNvSpPr txBox="1"/>
          <p:nvPr/>
        </p:nvSpPr>
        <p:spPr>
          <a:xfrm>
            <a:off x="8503920" y="3364992"/>
            <a:ext cx="3474720" cy="365760"/>
          </a:xfrm>
          <a:prstGeom prst="rect">
            <a:avLst/>
          </a:prstGeom>
          <a:noFill/>
        </p:spPr>
        <p:txBody>
          <a:bodyPr wrap="square">
            <a:spAutoFit/>
          </a:bodyPr>
          <a:lstStyle/>
          <a:p>
            <a:pPr algn="l">
              <a:defRPr sz="1100" b="0">
                <a:solidFill>
                  <a:srgbClr val="FFFFFF"/>
                </a:solidFill>
                <a:latin typeface="Calibri"/>
              </a:defRPr>
            </a:pPr>
            <a:r>
              <a:t>Seismic Design for Architects</a:t>
            </a:r>
          </a:p>
        </p:txBody>
      </p:sp>
      <p:sp>
        <p:nvSpPr>
          <p:cNvPr id="49" name="Oval 48"/>
          <p:cNvSpPr/>
          <p:nvPr/>
        </p:nvSpPr>
        <p:spPr>
          <a:xfrm>
            <a:off x="274320" y="3886200"/>
            <a:ext cx="256032" cy="256032"/>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92608" y="3849624"/>
            <a:ext cx="256032" cy="256032"/>
          </a:xfrm>
          <a:prstGeom prst="rect">
            <a:avLst/>
          </a:prstGeom>
          <a:noFill/>
        </p:spPr>
        <p:txBody>
          <a:bodyPr wrap="square">
            <a:spAutoFit/>
          </a:bodyPr>
          <a:lstStyle/>
          <a:p>
            <a:pPr algn="ctr">
              <a:defRPr sz="900" b="1">
                <a:solidFill>
                  <a:srgbClr val="FFFFFF"/>
                </a:solidFill>
                <a:latin typeface="Calibri"/>
              </a:defRPr>
            </a:pPr>
            <a:r>
              <a:t>16</a:t>
            </a:r>
          </a:p>
        </p:txBody>
      </p:sp>
      <p:sp>
        <p:nvSpPr>
          <p:cNvPr id="51" name="TextBox 50"/>
          <p:cNvSpPr txBox="1"/>
          <p:nvPr/>
        </p:nvSpPr>
        <p:spPr>
          <a:xfrm>
            <a:off x="640080" y="3840480"/>
            <a:ext cx="3474720" cy="365760"/>
          </a:xfrm>
          <a:prstGeom prst="rect">
            <a:avLst/>
          </a:prstGeom>
          <a:noFill/>
        </p:spPr>
        <p:txBody>
          <a:bodyPr wrap="square">
            <a:spAutoFit/>
          </a:bodyPr>
          <a:lstStyle/>
          <a:p>
            <a:pPr algn="l">
              <a:defRPr sz="1100" b="0">
                <a:solidFill>
                  <a:srgbClr val="FFFFFF"/>
                </a:solidFill>
                <a:latin typeface="Calibri"/>
              </a:defRPr>
            </a:pPr>
            <a:r>
              <a:t>Building Codes &amp; Standards</a:t>
            </a:r>
          </a:p>
        </p:txBody>
      </p:sp>
      <p:sp>
        <p:nvSpPr>
          <p:cNvPr id="52" name="Oval 51"/>
          <p:cNvSpPr/>
          <p:nvPr/>
        </p:nvSpPr>
        <p:spPr>
          <a:xfrm>
            <a:off x="4206240" y="3886200"/>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24528" y="3849624"/>
            <a:ext cx="256032" cy="256032"/>
          </a:xfrm>
          <a:prstGeom prst="rect">
            <a:avLst/>
          </a:prstGeom>
          <a:noFill/>
        </p:spPr>
        <p:txBody>
          <a:bodyPr wrap="square">
            <a:spAutoFit/>
          </a:bodyPr>
          <a:lstStyle/>
          <a:p>
            <a:pPr algn="ctr">
              <a:defRPr sz="900" b="1">
                <a:solidFill>
                  <a:srgbClr val="FFFFFF"/>
                </a:solidFill>
                <a:latin typeface="Calibri"/>
              </a:defRPr>
            </a:pPr>
            <a:r>
              <a:t>17</a:t>
            </a:r>
          </a:p>
        </p:txBody>
      </p:sp>
      <p:sp>
        <p:nvSpPr>
          <p:cNvPr id="54" name="TextBox 53"/>
          <p:cNvSpPr txBox="1"/>
          <p:nvPr/>
        </p:nvSpPr>
        <p:spPr>
          <a:xfrm>
            <a:off x="4572000" y="3840480"/>
            <a:ext cx="3474720" cy="365760"/>
          </a:xfrm>
          <a:prstGeom prst="rect">
            <a:avLst/>
          </a:prstGeom>
          <a:noFill/>
        </p:spPr>
        <p:txBody>
          <a:bodyPr wrap="square">
            <a:spAutoFit/>
          </a:bodyPr>
          <a:lstStyle/>
          <a:p>
            <a:pPr algn="l">
              <a:defRPr sz="1100" b="0">
                <a:solidFill>
                  <a:srgbClr val="FFFFFF"/>
                </a:solidFill>
                <a:latin typeface="Calibri"/>
              </a:defRPr>
            </a:pPr>
            <a:r>
              <a:t>Flood Management &amp; Coastal Protection</a:t>
            </a:r>
          </a:p>
        </p:txBody>
      </p:sp>
      <p:sp>
        <p:nvSpPr>
          <p:cNvPr id="55" name="Oval 54"/>
          <p:cNvSpPr/>
          <p:nvPr/>
        </p:nvSpPr>
        <p:spPr>
          <a:xfrm>
            <a:off x="8138160" y="3886200"/>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56448" y="3849624"/>
            <a:ext cx="256032" cy="256032"/>
          </a:xfrm>
          <a:prstGeom prst="rect">
            <a:avLst/>
          </a:prstGeom>
          <a:noFill/>
        </p:spPr>
        <p:txBody>
          <a:bodyPr wrap="square">
            <a:spAutoFit/>
          </a:bodyPr>
          <a:lstStyle/>
          <a:p>
            <a:pPr algn="ctr">
              <a:defRPr sz="900" b="1">
                <a:solidFill>
                  <a:srgbClr val="FFFFFF"/>
                </a:solidFill>
                <a:latin typeface="Calibri"/>
              </a:defRPr>
            </a:pPr>
            <a:r>
              <a:t>18</a:t>
            </a:r>
          </a:p>
        </p:txBody>
      </p:sp>
      <p:sp>
        <p:nvSpPr>
          <p:cNvPr id="57" name="TextBox 56"/>
          <p:cNvSpPr txBox="1"/>
          <p:nvPr/>
        </p:nvSpPr>
        <p:spPr>
          <a:xfrm>
            <a:off x="8503920" y="3840480"/>
            <a:ext cx="3474720" cy="365760"/>
          </a:xfrm>
          <a:prstGeom prst="rect">
            <a:avLst/>
          </a:prstGeom>
          <a:noFill/>
        </p:spPr>
        <p:txBody>
          <a:bodyPr wrap="square">
            <a:spAutoFit/>
          </a:bodyPr>
          <a:lstStyle/>
          <a:p>
            <a:pPr algn="l">
              <a:defRPr sz="1100" b="0">
                <a:solidFill>
                  <a:srgbClr val="FFFFFF"/>
                </a:solidFill>
                <a:latin typeface="Calibri"/>
              </a:defRPr>
            </a:pPr>
            <a:r>
              <a:t>Urban Disaster Management</a:t>
            </a:r>
          </a:p>
        </p:txBody>
      </p:sp>
      <p:sp>
        <p:nvSpPr>
          <p:cNvPr id="58" name="Oval 57"/>
          <p:cNvSpPr/>
          <p:nvPr/>
        </p:nvSpPr>
        <p:spPr>
          <a:xfrm>
            <a:off x="274320" y="4361688"/>
            <a:ext cx="256032" cy="256032"/>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92608" y="4325112"/>
            <a:ext cx="256032" cy="256032"/>
          </a:xfrm>
          <a:prstGeom prst="rect">
            <a:avLst/>
          </a:prstGeom>
          <a:noFill/>
        </p:spPr>
        <p:txBody>
          <a:bodyPr wrap="square">
            <a:spAutoFit/>
          </a:bodyPr>
          <a:lstStyle/>
          <a:p>
            <a:pPr algn="ctr">
              <a:defRPr sz="900" b="1">
                <a:solidFill>
                  <a:srgbClr val="FFFFFF"/>
                </a:solidFill>
                <a:latin typeface="Calibri"/>
              </a:defRPr>
            </a:pPr>
            <a:r>
              <a:t>19</a:t>
            </a:r>
          </a:p>
        </p:txBody>
      </p:sp>
      <p:sp>
        <p:nvSpPr>
          <p:cNvPr id="60" name="TextBox 59"/>
          <p:cNvSpPr txBox="1"/>
          <p:nvPr/>
        </p:nvSpPr>
        <p:spPr>
          <a:xfrm>
            <a:off x="640080" y="4315968"/>
            <a:ext cx="3474720" cy="365760"/>
          </a:xfrm>
          <a:prstGeom prst="rect">
            <a:avLst/>
          </a:prstGeom>
          <a:noFill/>
        </p:spPr>
        <p:txBody>
          <a:bodyPr wrap="square">
            <a:spAutoFit/>
          </a:bodyPr>
          <a:lstStyle/>
          <a:p>
            <a:pPr algn="l">
              <a:defRPr sz="1100" b="0">
                <a:solidFill>
                  <a:srgbClr val="FFFFFF"/>
                </a:solidFill>
                <a:latin typeface="Calibri"/>
              </a:defRPr>
            </a:pPr>
            <a:r>
              <a:t>Fire Safety in Building Design</a:t>
            </a:r>
          </a:p>
        </p:txBody>
      </p:sp>
      <p:sp>
        <p:nvSpPr>
          <p:cNvPr id="61" name="Oval 60"/>
          <p:cNvSpPr/>
          <p:nvPr/>
        </p:nvSpPr>
        <p:spPr>
          <a:xfrm>
            <a:off x="4206240" y="4361688"/>
            <a:ext cx="256032" cy="256032"/>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224528" y="4325112"/>
            <a:ext cx="256032" cy="256032"/>
          </a:xfrm>
          <a:prstGeom prst="rect">
            <a:avLst/>
          </a:prstGeom>
          <a:noFill/>
        </p:spPr>
        <p:txBody>
          <a:bodyPr wrap="square">
            <a:spAutoFit/>
          </a:bodyPr>
          <a:lstStyle/>
          <a:p>
            <a:pPr algn="ctr">
              <a:defRPr sz="900" b="1">
                <a:solidFill>
                  <a:srgbClr val="FFFFFF"/>
                </a:solidFill>
                <a:latin typeface="Calibri"/>
              </a:defRPr>
            </a:pPr>
            <a:r>
              <a:t>20</a:t>
            </a:r>
          </a:p>
        </p:txBody>
      </p:sp>
      <p:sp>
        <p:nvSpPr>
          <p:cNvPr id="63" name="TextBox 62"/>
          <p:cNvSpPr txBox="1"/>
          <p:nvPr/>
        </p:nvSpPr>
        <p:spPr>
          <a:xfrm>
            <a:off x="4572000" y="4315968"/>
            <a:ext cx="3474720" cy="365760"/>
          </a:xfrm>
          <a:prstGeom prst="rect">
            <a:avLst/>
          </a:prstGeom>
          <a:noFill/>
        </p:spPr>
        <p:txBody>
          <a:bodyPr wrap="square">
            <a:spAutoFit/>
          </a:bodyPr>
          <a:lstStyle/>
          <a:p>
            <a:pPr algn="l">
              <a:defRPr sz="1100" b="0">
                <a:solidFill>
                  <a:srgbClr val="FFFFFF"/>
                </a:solidFill>
                <a:latin typeface="Calibri"/>
              </a:defRPr>
            </a:pPr>
            <a:r>
              <a:t>Technology &amp; Innovation in DM</a:t>
            </a:r>
          </a:p>
        </p:txBody>
      </p:sp>
      <p:sp>
        <p:nvSpPr>
          <p:cNvPr id="64" name="Oval 63"/>
          <p:cNvSpPr/>
          <p:nvPr/>
        </p:nvSpPr>
        <p:spPr>
          <a:xfrm>
            <a:off x="8138160" y="4361688"/>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156448" y="4325112"/>
            <a:ext cx="256032" cy="256032"/>
          </a:xfrm>
          <a:prstGeom prst="rect">
            <a:avLst/>
          </a:prstGeom>
          <a:noFill/>
        </p:spPr>
        <p:txBody>
          <a:bodyPr wrap="square">
            <a:spAutoFit/>
          </a:bodyPr>
          <a:lstStyle/>
          <a:p>
            <a:pPr algn="ctr">
              <a:defRPr sz="900" b="1">
                <a:solidFill>
                  <a:srgbClr val="FFFFFF"/>
                </a:solidFill>
                <a:latin typeface="Calibri"/>
              </a:defRPr>
            </a:pPr>
            <a:r>
              <a:t>21</a:t>
            </a:r>
          </a:p>
        </p:txBody>
      </p:sp>
      <p:sp>
        <p:nvSpPr>
          <p:cNvPr id="66" name="TextBox 65"/>
          <p:cNvSpPr txBox="1"/>
          <p:nvPr/>
        </p:nvSpPr>
        <p:spPr>
          <a:xfrm>
            <a:off x="8503920" y="4315968"/>
            <a:ext cx="3474720" cy="365760"/>
          </a:xfrm>
          <a:prstGeom prst="rect">
            <a:avLst/>
          </a:prstGeom>
          <a:noFill/>
        </p:spPr>
        <p:txBody>
          <a:bodyPr wrap="square">
            <a:spAutoFit/>
          </a:bodyPr>
          <a:lstStyle/>
          <a:p>
            <a:pPr algn="l">
              <a:defRPr sz="1100" b="0">
                <a:solidFill>
                  <a:srgbClr val="FFFFFF"/>
                </a:solidFill>
                <a:latin typeface="Calibri"/>
              </a:defRPr>
            </a:pPr>
            <a:r>
              <a:t>Community-Based Disaster Management</a:t>
            </a:r>
          </a:p>
        </p:txBody>
      </p:sp>
      <p:sp>
        <p:nvSpPr>
          <p:cNvPr id="67" name="Oval 66"/>
          <p:cNvSpPr/>
          <p:nvPr/>
        </p:nvSpPr>
        <p:spPr>
          <a:xfrm>
            <a:off x="274320" y="4837176"/>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292608" y="4800600"/>
            <a:ext cx="256032" cy="256032"/>
          </a:xfrm>
          <a:prstGeom prst="rect">
            <a:avLst/>
          </a:prstGeom>
          <a:noFill/>
        </p:spPr>
        <p:txBody>
          <a:bodyPr wrap="square">
            <a:spAutoFit/>
          </a:bodyPr>
          <a:lstStyle/>
          <a:p>
            <a:pPr algn="ctr">
              <a:defRPr sz="900" b="1">
                <a:solidFill>
                  <a:srgbClr val="FFFFFF"/>
                </a:solidFill>
                <a:latin typeface="Calibri"/>
              </a:defRPr>
            </a:pPr>
            <a:r>
              <a:t>22</a:t>
            </a:r>
          </a:p>
        </p:txBody>
      </p:sp>
      <p:sp>
        <p:nvSpPr>
          <p:cNvPr id="69" name="TextBox 68"/>
          <p:cNvSpPr txBox="1"/>
          <p:nvPr/>
        </p:nvSpPr>
        <p:spPr>
          <a:xfrm>
            <a:off x="640080" y="4791456"/>
            <a:ext cx="3474720" cy="365760"/>
          </a:xfrm>
          <a:prstGeom prst="rect">
            <a:avLst/>
          </a:prstGeom>
          <a:noFill/>
        </p:spPr>
        <p:txBody>
          <a:bodyPr wrap="square">
            <a:spAutoFit/>
          </a:bodyPr>
          <a:lstStyle/>
          <a:p>
            <a:pPr algn="l">
              <a:defRPr sz="1100" b="0">
                <a:solidFill>
                  <a:srgbClr val="FFFFFF"/>
                </a:solidFill>
                <a:latin typeface="Calibri"/>
              </a:defRPr>
            </a:pPr>
            <a:r>
              <a:t>Climate Change &amp; Emerging Threats</a:t>
            </a:r>
          </a:p>
        </p:txBody>
      </p:sp>
      <p:sp>
        <p:nvSpPr>
          <p:cNvPr id="70" name="Oval 69"/>
          <p:cNvSpPr/>
          <p:nvPr/>
        </p:nvSpPr>
        <p:spPr>
          <a:xfrm>
            <a:off x="4206240" y="4837176"/>
            <a:ext cx="256032" cy="256032"/>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4224528" y="4800600"/>
            <a:ext cx="256032" cy="256032"/>
          </a:xfrm>
          <a:prstGeom prst="rect">
            <a:avLst/>
          </a:prstGeom>
          <a:noFill/>
        </p:spPr>
        <p:txBody>
          <a:bodyPr wrap="square">
            <a:spAutoFit/>
          </a:bodyPr>
          <a:lstStyle/>
          <a:p>
            <a:pPr algn="ctr">
              <a:defRPr sz="900" b="1">
                <a:solidFill>
                  <a:srgbClr val="FFFFFF"/>
                </a:solidFill>
                <a:latin typeface="Calibri"/>
              </a:defRPr>
            </a:pPr>
            <a:r>
              <a:t>23</a:t>
            </a:r>
          </a:p>
        </p:txBody>
      </p:sp>
      <p:sp>
        <p:nvSpPr>
          <p:cNvPr id="72" name="TextBox 71"/>
          <p:cNvSpPr txBox="1"/>
          <p:nvPr/>
        </p:nvSpPr>
        <p:spPr>
          <a:xfrm>
            <a:off x="4572000" y="4791456"/>
            <a:ext cx="3474720" cy="365760"/>
          </a:xfrm>
          <a:prstGeom prst="rect">
            <a:avLst/>
          </a:prstGeom>
          <a:noFill/>
        </p:spPr>
        <p:txBody>
          <a:bodyPr wrap="square">
            <a:spAutoFit/>
          </a:bodyPr>
          <a:lstStyle/>
          <a:p>
            <a:pPr algn="l">
              <a:defRPr sz="1100" b="0">
                <a:solidFill>
                  <a:srgbClr val="FFFFFF"/>
                </a:solidFill>
                <a:latin typeface="Calibri"/>
              </a:defRPr>
            </a:pPr>
            <a:r>
              <a:t>International Frameworks &amp; Guidelines</a:t>
            </a:r>
          </a:p>
        </p:txBody>
      </p:sp>
      <p:sp>
        <p:nvSpPr>
          <p:cNvPr id="73" name="Oval 72"/>
          <p:cNvSpPr/>
          <p:nvPr/>
        </p:nvSpPr>
        <p:spPr>
          <a:xfrm>
            <a:off x="8138160" y="4837176"/>
            <a:ext cx="256032" cy="256032"/>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156448" y="4800600"/>
            <a:ext cx="256032" cy="256032"/>
          </a:xfrm>
          <a:prstGeom prst="rect">
            <a:avLst/>
          </a:prstGeom>
          <a:noFill/>
        </p:spPr>
        <p:txBody>
          <a:bodyPr wrap="square">
            <a:spAutoFit/>
          </a:bodyPr>
          <a:lstStyle/>
          <a:p>
            <a:pPr algn="ctr">
              <a:defRPr sz="900" b="1">
                <a:solidFill>
                  <a:srgbClr val="FFFFFF"/>
                </a:solidFill>
                <a:latin typeface="Calibri"/>
              </a:defRPr>
            </a:pPr>
            <a:r>
              <a:t>24</a:t>
            </a:r>
          </a:p>
        </p:txBody>
      </p:sp>
      <p:sp>
        <p:nvSpPr>
          <p:cNvPr id="75" name="TextBox 74"/>
          <p:cNvSpPr txBox="1"/>
          <p:nvPr/>
        </p:nvSpPr>
        <p:spPr>
          <a:xfrm>
            <a:off x="8503920" y="4791456"/>
            <a:ext cx="3474720" cy="365760"/>
          </a:xfrm>
          <a:prstGeom prst="rect">
            <a:avLst/>
          </a:prstGeom>
          <a:noFill/>
        </p:spPr>
        <p:txBody>
          <a:bodyPr wrap="square">
            <a:spAutoFit/>
          </a:bodyPr>
          <a:lstStyle/>
          <a:p>
            <a:pPr algn="l">
              <a:defRPr sz="1100" b="0">
                <a:solidFill>
                  <a:srgbClr val="FFFFFF"/>
                </a:solidFill>
                <a:latin typeface="Calibri"/>
              </a:defRPr>
            </a:pPr>
            <a:r>
              <a:t>Case Studies: Major Disasters</a:t>
            </a:r>
          </a:p>
        </p:txBody>
      </p:sp>
      <p:sp>
        <p:nvSpPr>
          <p:cNvPr id="76" name="Oval 75"/>
          <p:cNvSpPr/>
          <p:nvPr/>
        </p:nvSpPr>
        <p:spPr>
          <a:xfrm>
            <a:off x="274320" y="5312664"/>
            <a:ext cx="256032" cy="256032"/>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292608" y="5276088"/>
            <a:ext cx="256032" cy="256032"/>
          </a:xfrm>
          <a:prstGeom prst="rect">
            <a:avLst/>
          </a:prstGeom>
          <a:noFill/>
        </p:spPr>
        <p:txBody>
          <a:bodyPr wrap="square">
            <a:spAutoFit/>
          </a:bodyPr>
          <a:lstStyle/>
          <a:p>
            <a:pPr algn="ctr">
              <a:defRPr sz="900" b="1">
                <a:solidFill>
                  <a:srgbClr val="FFFFFF"/>
                </a:solidFill>
                <a:latin typeface="Calibri"/>
              </a:defRPr>
            </a:pPr>
            <a:r>
              <a:t>25</a:t>
            </a:r>
          </a:p>
        </p:txBody>
      </p:sp>
      <p:sp>
        <p:nvSpPr>
          <p:cNvPr id="78" name="TextBox 77"/>
          <p:cNvSpPr txBox="1"/>
          <p:nvPr/>
        </p:nvSpPr>
        <p:spPr>
          <a:xfrm>
            <a:off x="640080" y="5266944"/>
            <a:ext cx="3474720" cy="365760"/>
          </a:xfrm>
          <a:prstGeom prst="rect">
            <a:avLst/>
          </a:prstGeom>
          <a:noFill/>
        </p:spPr>
        <p:txBody>
          <a:bodyPr wrap="square">
            <a:spAutoFit/>
          </a:bodyPr>
          <a:lstStyle/>
          <a:p>
            <a:pPr algn="l">
              <a:defRPr sz="1100" b="0">
                <a:solidFill>
                  <a:srgbClr val="FFFFFF"/>
                </a:solidFill>
                <a:latin typeface="Calibri"/>
              </a:defRPr>
            </a:pPr>
            <a:r>
              <a:t>Challenges &amp; Future Directions</a:t>
            </a:r>
          </a:p>
        </p:txBody>
      </p:sp>
      <p:sp>
        <p:nvSpPr>
          <p:cNvPr id="79" name="Oval 78"/>
          <p:cNvSpPr/>
          <p:nvPr/>
        </p:nvSpPr>
        <p:spPr>
          <a:xfrm>
            <a:off x="4206240" y="5312664"/>
            <a:ext cx="256032" cy="256032"/>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224528" y="5276088"/>
            <a:ext cx="256032" cy="256032"/>
          </a:xfrm>
          <a:prstGeom prst="rect">
            <a:avLst/>
          </a:prstGeom>
          <a:noFill/>
        </p:spPr>
        <p:txBody>
          <a:bodyPr wrap="square">
            <a:spAutoFit/>
          </a:bodyPr>
          <a:lstStyle/>
          <a:p>
            <a:pPr algn="ctr">
              <a:defRPr sz="900" b="1">
                <a:solidFill>
                  <a:srgbClr val="FFFFFF"/>
                </a:solidFill>
                <a:latin typeface="Calibri"/>
              </a:defRPr>
            </a:pPr>
            <a:r>
              <a:t>26</a:t>
            </a:r>
          </a:p>
        </p:txBody>
      </p:sp>
      <p:sp>
        <p:nvSpPr>
          <p:cNvPr id="81" name="TextBox 80"/>
          <p:cNvSpPr txBox="1"/>
          <p:nvPr/>
        </p:nvSpPr>
        <p:spPr>
          <a:xfrm>
            <a:off x="4572000" y="5266944"/>
            <a:ext cx="3474720" cy="365760"/>
          </a:xfrm>
          <a:prstGeom prst="rect">
            <a:avLst/>
          </a:prstGeom>
          <a:noFill/>
        </p:spPr>
        <p:txBody>
          <a:bodyPr wrap="square">
            <a:spAutoFit/>
          </a:bodyPr>
          <a:lstStyle/>
          <a:p>
            <a:pPr algn="l">
              <a:defRPr sz="1100" b="0">
                <a:solidFill>
                  <a:srgbClr val="FFFFFF"/>
                </a:solidFill>
                <a:latin typeface="Calibri"/>
              </a:defRPr>
            </a:pPr>
            <a:r>
              <a:t>Conclusion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CA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CA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01</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Introduction to</a:t>
            </a:r>
            <a:br/>
            <a:r>
              <a:t>Disaster Management</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WHAT IS DISASTER MANAGEMENT?</a:t>
            </a:r>
          </a:p>
        </p:txBody>
      </p:sp>
      <p:sp>
        <p:nvSpPr>
          <p:cNvPr id="4" name="TextBox 3"/>
          <p:cNvSpPr txBox="1"/>
          <p:nvPr/>
        </p:nvSpPr>
        <p:spPr>
          <a:xfrm>
            <a:off x="731520" y="1463040"/>
            <a:ext cx="6400800" cy="2286000"/>
          </a:xfrm>
          <a:prstGeom prst="rect">
            <a:avLst/>
          </a:prstGeom>
          <a:noFill/>
        </p:spPr>
        <p:txBody>
          <a:bodyPr wrap="square">
            <a:spAutoFit/>
          </a:bodyPr>
          <a:lstStyle/>
          <a:p>
            <a:pPr>
              <a:spcAft>
                <a:spcPts val="660"/>
              </a:spcAft>
              <a:defRPr sz="2200" b="1">
                <a:solidFill>
                  <a:srgbClr val="E83E3E"/>
                </a:solidFill>
                <a:latin typeface="Calibri"/>
              </a:defRPr>
            </a:pPr>
            <a:r>
              <a:t>Definition</a:t>
            </a:r>
          </a:p>
          <a:p>
            <a:pPr>
              <a:spcAft>
                <a:spcPts val="240"/>
              </a:spcAft>
              <a:defRPr sz="800" b="0">
                <a:solidFill>
                  <a:srgbClr val="FFFFFF"/>
                </a:solidFill>
                <a:latin typeface="Calibri"/>
              </a:defRPr>
            </a:pPr>
          </a:p>
          <a:p>
            <a:pPr>
              <a:spcAft>
                <a:spcPts val="480"/>
              </a:spcAft>
              <a:defRPr sz="1600" b="0">
                <a:solidFill>
                  <a:srgbClr val="ECF0F1"/>
                </a:solidFill>
                <a:latin typeface="Calibri"/>
              </a:defRPr>
            </a:pPr>
            <a:r>
              <a:t>Disaster management is the continuous and integrated process of planning, organizing, directing and controlling resources for effective coping with all aspects of disasters, from prevention and mitigation to preparedness, response, and recovery.</a:t>
            </a:r>
          </a:p>
        </p:txBody>
      </p:sp>
      <p:sp>
        <p:nvSpPr>
          <p:cNvPr id="5" name="Rounded Rectangle 4"/>
          <p:cNvSpPr/>
          <p:nvPr/>
        </p:nvSpPr>
        <p:spPr>
          <a:xfrm>
            <a:off x="731520" y="3931920"/>
            <a:ext cx="256032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54480" y="4114800"/>
            <a:ext cx="822960" cy="822960"/>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554480" y="4251960"/>
            <a:ext cx="822960" cy="457200"/>
          </a:xfrm>
          <a:prstGeom prst="rect">
            <a:avLst/>
          </a:prstGeom>
          <a:noFill/>
        </p:spPr>
        <p:txBody>
          <a:bodyPr wrap="square">
            <a:spAutoFit/>
          </a:bodyPr>
          <a:lstStyle/>
          <a:p>
            <a:pPr algn="ctr">
              <a:defRPr sz="2400" b="1">
                <a:solidFill>
                  <a:srgbClr val="FFFFFF"/>
                </a:solidFill>
                <a:latin typeface="Calibri"/>
              </a:defRPr>
            </a:pPr>
            <a:r>
              <a:t>P</a:t>
            </a:r>
          </a:p>
        </p:txBody>
      </p:sp>
      <p:sp>
        <p:nvSpPr>
          <p:cNvPr id="8" name="TextBox 7"/>
          <p:cNvSpPr txBox="1"/>
          <p:nvPr/>
        </p:nvSpPr>
        <p:spPr>
          <a:xfrm>
            <a:off x="914400" y="5120640"/>
            <a:ext cx="2194560" cy="457200"/>
          </a:xfrm>
          <a:prstGeom prst="rect">
            <a:avLst/>
          </a:prstGeom>
          <a:noFill/>
        </p:spPr>
        <p:txBody>
          <a:bodyPr wrap="square">
            <a:spAutoFit/>
          </a:bodyPr>
          <a:lstStyle/>
          <a:p>
            <a:pPr algn="ctr">
              <a:defRPr sz="1800" b="1">
                <a:solidFill>
                  <a:srgbClr val="FFFFFF"/>
                </a:solidFill>
                <a:latin typeface="Calibri"/>
              </a:defRPr>
            </a:pPr>
            <a:r>
              <a:t>Planning</a:t>
            </a:r>
          </a:p>
        </p:txBody>
      </p:sp>
      <p:sp>
        <p:nvSpPr>
          <p:cNvPr id="9" name="TextBox 8"/>
          <p:cNvSpPr txBox="1"/>
          <p:nvPr/>
        </p:nvSpPr>
        <p:spPr>
          <a:xfrm>
            <a:off x="914400" y="5577840"/>
            <a:ext cx="2194560" cy="640080"/>
          </a:xfrm>
          <a:prstGeom prst="rect">
            <a:avLst/>
          </a:prstGeom>
          <a:noFill/>
        </p:spPr>
        <p:txBody>
          <a:bodyPr wrap="square">
            <a:spAutoFit/>
          </a:bodyPr>
          <a:lstStyle/>
          <a:p>
            <a:pPr algn="ctr">
              <a:defRPr sz="1200" b="0">
                <a:solidFill>
                  <a:srgbClr val="7F8C8D"/>
                </a:solidFill>
                <a:latin typeface="Calibri"/>
              </a:defRPr>
            </a:pPr>
            <a:r>
              <a:t>Strategic frameworks</a:t>
            </a:r>
            <a:br/>
            <a:r>
              <a:t>&amp; policy development</a:t>
            </a:r>
          </a:p>
        </p:txBody>
      </p:sp>
      <p:sp>
        <p:nvSpPr>
          <p:cNvPr id="10" name="Rounded Rectangle 9"/>
          <p:cNvSpPr/>
          <p:nvPr/>
        </p:nvSpPr>
        <p:spPr>
          <a:xfrm>
            <a:off x="3566160" y="3931920"/>
            <a:ext cx="256032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389120" y="4114800"/>
            <a:ext cx="822960" cy="8229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4251960"/>
            <a:ext cx="822960" cy="457200"/>
          </a:xfrm>
          <a:prstGeom prst="rect">
            <a:avLst/>
          </a:prstGeom>
          <a:noFill/>
        </p:spPr>
        <p:txBody>
          <a:bodyPr wrap="square">
            <a:spAutoFit/>
          </a:bodyPr>
          <a:lstStyle/>
          <a:p>
            <a:pPr algn="ctr">
              <a:defRPr sz="2400" b="1">
                <a:solidFill>
                  <a:srgbClr val="FFFFFF"/>
                </a:solidFill>
                <a:latin typeface="Calibri"/>
              </a:defRPr>
            </a:pPr>
            <a:r>
              <a:t>O</a:t>
            </a:r>
          </a:p>
        </p:txBody>
      </p:sp>
      <p:sp>
        <p:nvSpPr>
          <p:cNvPr id="13" name="TextBox 12"/>
          <p:cNvSpPr txBox="1"/>
          <p:nvPr/>
        </p:nvSpPr>
        <p:spPr>
          <a:xfrm>
            <a:off x="3749040" y="5120640"/>
            <a:ext cx="2194560" cy="457200"/>
          </a:xfrm>
          <a:prstGeom prst="rect">
            <a:avLst/>
          </a:prstGeom>
          <a:noFill/>
        </p:spPr>
        <p:txBody>
          <a:bodyPr wrap="square">
            <a:spAutoFit/>
          </a:bodyPr>
          <a:lstStyle/>
          <a:p>
            <a:pPr algn="ctr">
              <a:defRPr sz="1800" b="1">
                <a:solidFill>
                  <a:srgbClr val="FFFFFF"/>
                </a:solidFill>
                <a:latin typeface="Calibri"/>
              </a:defRPr>
            </a:pPr>
            <a:r>
              <a:t>Organization</a:t>
            </a:r>
          </a:p>
        </p:txBody>
      </p:sp>
      <p:sp>
        <p:nvSpPr>
          <p:cNvPr id="14" name="TextBox 13"/>
          <p:cNvSpPr txBox="1"/>
          <p:nvPr/>
        </p:nvSpPr>
        <p:spPr>
          <a:xfrm>
            <a:off x="3749040" y="5577840"/>
            <a:ext cx="2194560" cy="640080"/>
          </a:xfrm>
          <a:prstGeom prst="rect">
            <a:avLst/>
          </a:prstGeom>
          <a:noFill/>
        </p:spPr>
        <p:txBody>
          <a:bodyPr wrap="square">
            <a:spAutoFit/>
          </a:bodyPr>
          <a:lstStyle/>
          <a:p>
            <a:pPr algn="ctr">
              <a:defRPr sz="1200" b="0">
                <a:solidFill>
                  <a:srgbClr val="7F8C8D"/>
                </a:solidFill>
                <a:latin typeface="Calibri"/>
              </a:defRPr>
            </a:pPr>
            <a:r>
              <a:t>Institutional setup</a:t>
            </a:r>
            <a:br/>
            <a:r>
              <a:t>&amp; coordination</a:t>
            </a:r>
          </a:p>
        </p:txBody>
      </p:sp>
      <p:sp>
        <p:nvSpPr>
          <p:cNvPr id="15" name="Rounded Rectangle 14"/>
          <p:cNvSpPr/>
          <p:nvPr/>
        </p:nvSpPr>
        <p:spPr>
          <a:xfrm>
            <a:off x="6400800" y="3931920"/>
            <a:ext cx="256032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223760" y="4114800"/>
            <a:ext cx="822960" cy="82296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223760" y="4251960"/>
            <a:ext cx="822960" cy="457200"/>
          </a:xfrm>
          <a:prstGeom prst="rect">
            <a:avLst/>
          </a:prstGeom>
          <a:noFill/>
        </p:spPr>
        <p:txBody>
          <a:bodyPr wrap="square">
            <a:spAutoFit/>
          </a:bodyPr>
          <a:lstStyle/>
          <a:p>
            <a:pPr algn="ctr">
              <a:defRPr sz="2400" b="1">
                <a:solidFill>
                  <a:srgbClr val="FFFFFF"/>
                </a:solidFill>
                <a:latin typeface="Calibri"/>
              </a:defRPr>
            </a:pPr>
            <a:r>
              <a:t>R</a:t>
            </a:r>
          </a:p>
        </p:txBody>
      </p:sp>
      <p:sp>
        <p:nvSpPr>
          <p:cNvPr id="18" name="TextBox 17"/>
          <p:cNvSpPr txBox="1"/>
          <p:nvPr/>
        </p:nvSpPr>
        <p:spPr>
          <a:xfrm>
            <a:off x="6583680" y="5120640"/>
            <a:ext cx="2194560" cy="457200"/>
          </a:xfrm>
          <a:prstGeom prst="rect">
            <a:avLst/>
          </a:prstGeom>
          <a:noFill/>
        </p:spPr>
        <p:txBody>
          <a:bodyPr wrap="square">
            <a:spAutoFit/>
          </a:bodyPr>
          <a:lstStyle/>
          <a:p>
            <a:pPr algn="ctr">
              <a:defRPr sz="1800" b="1">
                <a:solidFill>
                  <a:srgbClr val="FFFFFF"/>
                </a:solidFill>
                <a:latin typeface="Calibri"/>
              </a:defRPr>
            </a:pPr>
            <a:r>
              <a:t>Response</a:t>
            </a:r>
          </a:p>
        </p:txBody>
      </p:sp>
      <p:sp>
        <p:nvSpPr>
          <p:cNvPr id="19" name="TextBox 18"/>
          <p:cNvSpPr txBox="1"/>
          <p:nvPr/>
        </p:nvSpPr>
        <p:spPr>
          <a:xfrm>
            <a:off x="6583680" y="5577840"/>
            <a:ext cx="2194560" cy="640080"/>
          </a:xfrm>
          <a:prstGeom prst="rect">
            <a:avLst/>
          </a:prstGeom>
          <a:noFill/>
        </p:spPr>
        <p:txBody>
          <a:bodyPr wrap="square">
            <a:spAutoFit/>
          </a:bodyPr>
          <a:lstStyle/>
          <a:p>
            <a:pPr algn="ctr">
              <a:defRPr sz="1200" b="0">
                <a:solidFill>
                  <a:srgbClr val="7F8C8D"/>
                </a:solidFill>
                <a:latin typeface="Calibri"/>
              </a:defRPr>
            </a:pPr>
            <a:r>
              <a:t>Immediate actions</a:t>
            </a:r>
            <a:br/>
            <a:r>
              <a:t>post-disaster</a:t>
            </a:r>
          </a:p>
        </p:txBody>
      </p:sp>
      <p:sp>
        <p:nvSpPr>
          <p:cNvPr id="20" name="Rounded Rectangle 19"/>
          <p:cNvSpPr/>
          <p:nvPr/>
        </p:nvSpPr>
        <p:spPr>
          <a:xfrm>
            <a:off x="9235440" y="3931920"/>
            <a:ext cx="256032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058400" y="4114800"/>
            <a:ext cx="822960" cy="82296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58400" y="4251960"/>
            <a:ext cx="822960" cy="457200"/>
          </a:xfrm>
          <a:prstGeom prst="rect">
            <a:avLst/>
          </a:prstGeom>
          <a:noFill/>
        </p:spPr>
        <p:txBody>
          <a:bodyPr wrap="square">
            <a:spAutoFit/>
          </a:bodyPr>
          <a:lstStyle/>
          <a:p>
            <a:pPr algn="ctr">
              <a:defRPr sz="2400" b="1">
                <a:solidFill>
                  <a:srgbClr val="FFFFFF"/>
                </a:solidFill>
                <a:latin typeface="Calibri"/>
              </a:defRPr>
            </a:pPr>
            <a:r>
              <a:t>R</a:t>
            </a:r>
          </a:p>
        </p:txBody>
      </p:sp>
      <p:sp>
        <p:nvSpPr>
          <p:cNvPr id="23" name="TextBox 22"/>
          <p:cNvSpPr txBox="1"/>
          <p:nvPr/>
        </p:nvSpPr>
        <p:spPr>
          <a:xfrm>
            <a:off x="9418320" y="5120640"/>
            <a:ext cx="2194560" cy="457200"/>
          </a:xfrm>
          <a:prstGeom prst="rect">
            <a:avLst/>
          </a:prstGeom>
          <a:noFill/>
        </p:spPr>
        <p:txBody>
          <a:bodyPr wrap="square">
            <a:spAutoFit/>
          </a:bodyPr>
          <a:lstStyle/>
          <a:p>
            <a:pPr algn="ctr">
              <a:defRPr sz="1800" b="1">
                <a:solidFill>
                  <a:srgbClr val="FFFFFF"/>
                </a:solidFill>
                <a:latin typeface="Calibri"/>
              </a:defRPr>
            </a:pPr>
            <a:r>
              <a:t>Recovery</a:t>
            </a:r>
          </a:p>
        </p:txBody>
      </p:sp>
      <p:sp>
        <p:nvSpPr>
          <p:cNvPr id="24" name="TextBox 23"/>
          <p:cNvSpPr txBox="1"/>
          <p:nvPr/>
        </p:nvSpPr>
        <p:spPr>
          <a:xfrm>
            <a:off x="9418320" y="5577840"/>
            <a:ext cx="2194560" cy="640080"/>
          </a:xfrm>
          <a:prstGeom prst="rect">
            <a:avLst/>
          </a:prstGeom>
          <a:noFill/>
        </p:spPr>
        <p:txBody>
          <a:bodyPr wrap="square">
            <a:spAutoFit/>
          </a:bodyPr>
          <a:lstStyle/>
          <a:p>
            <a:pPr algn="ctr">
              <a:defRPr sz="1200" b="0">
                <a:solidFill>
                  <a:srgbClr val="7F8C8D"/>
                </a:solidFill>
                <a:latin typeface="Calibri"/>
              </a:defRPr>
            </a:pPr>
            <a:r>
              <a:t>Long-term restoration</a:t>
            </a:r>
            <a:br/>
            <a:r>
              <a:t>&amp; rebuilding</a:t>
            </a:r>
          </a:p>
        </p:txBody>
      </p:sp>
      <p:sp>
        <p:nvSpPr>
          <p:cNvPr id="25" name="TextBox 24"/>
          <p:cNvSpPr txBox="1"/>
          <p:nvPr/>
        </p:nvSpPr>
        <p:spPr>
          <a:xfrm>
            <a:off x="7772400" y="1463040"/>
            <a:ext cx="4114800" cy="2286000"/>
          </a:xfrm>
          <a:prstGeom prst="rect">
            <a:avLst/>
          </a:prstGeom>
          <a:noFill/>
        </p:spPr>
        <p:txBody>
          <a:bodyPr wrap="square">
            <a:spAutoFit/>
          </a:bodyPr>
          <a:lstStyle/>
          <a:p>
            <a:pPr>
              <a:spcAft>
                <a:spcPts val="540"/>
              </a:spcAft>
              <a:defRPr sz="1800" b="1">
                <a:solidFill>
                  <a:srgbClr val="2E86AB"/>
                </a:solidFill>
                <a:latin typeface="Calibri"/>
              </a:defRPr>
            </a:pPr>
            <a:r>
              <a:t>Key Focus Areas</a:t>
            </a:r>
          </a:p>
          <a:p>
            <a:pPr>
              <a:spcAft>
                <a:spcPts val="179"/>
              </a:spcAft>
              <a:defRPr sz="600" b="0">
                <a:solidFill>
                  <a:srgbClr val="FFFFFF"/>
                </a:solidFill>
                <a:latin typeface="Calibri"/>
              </a:defRPr>
            </a:pPr>
          </a:p>
          <a:p>
            <a:pPr>
              <a:spcAft>
                <a:spcPts val="420"/>
              </a:spcAft>
              <a:defRPr sz="1400" b="0">
                <a:solidFill>
                  <a:srgbClr val="ECF0F1"/>
                </a:solidFill>
                <a:latin typeface="Calibri"/>
              </a:defRPr>
            </a:pPr>
            <a:r>
              <a:t>Minimizing impact of disasters</a:t>
            </a:r>
          </a:p>
          <a:p>
            <a:pPr>
              <a:spcAft>
                <a:spcPts val="420"/>
              </a:spcAft>
              <a:defRPr sz="1400" b="0">
                <a:solidFill>
                  <a:srgbClr val="ECF0F1"/>
                </a:solidFill>
                <a:latin typeface="Calibri"/>
              </a:defRPr>
            </a:pPr>
            <a:r>
              <a:t>Saving lives &amp; protecting property</a:t>
            </a:r>
          </a:p>
          <a:p>
            <a:pPr>
              <a:spcAft>
                <a:spcPts val="420"/>
              </a:spcAft>
              <a:defRPr sz="1400" b="0">
                <a:solidFill>
                  <a:srgbClr val="ECF0F1"/>
                </a:solidFill>
                <a:latin typeface="Calibri"/>
              </a:defRPr>
            </a:pPr>
            <a:r>
              <a:t>Ensuring timely response</a:t>
            </a:r>
          </a:p>
          <a:p>
            <a:pPr>
              <a:spcAft>
                <a:spcPts val="420"/>
              </a:spcAft>
              <a:defRPr sz="1400" b="0">
                <a:solidFill>
                  <a:srgbClr val="ECF0F1"/>
                </a:solidFill>
                <a:latin typeface="Calibri"/>
              </a:defRPr>
            </a:pPr>
            <a:r>
              <a:t>Building resilient communities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KEY DEFINITIONS &amp; TERMINOLOGY</a:t>
            </a:r>
          </a:p>
        </p:txBody>
      </p:sp>
      <p:sp>
        <p:nvSpPr>
          <p:cNvPr id="4" name="Rounded Rectangle 3"/>
          <p:cNvSpPr/>
          <p:nvPr/>
        </p:nvSpPr>
        <p:spPr>
          <a:xfrm>
            <a:off x="457200" y="146304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463040"/>
            <a:ext cx="91440" cy="155448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600200"/>
            <a:ext cx="5303520" cy="365760"/>
          </a:xfrm>
          <a:prstGeom prst="rect">
            <a:avLst/>
          </a:prstGeom>
          <a:noFill/>
        </p:spPr>
        <p:txBody>
          <a:bodyPr wrap="square">
            <a:spAutoFit/>
          </a:bodyPr>
          <a:lstStyle/>
          <a:p>
            <a:pPr algn="l">
              <a:defRPr sz="2000" b="1">
                <a:solidFill>
                  <a:srgbClr val="E83E3E"/>
                </a:solidFill>
                <a:latin typeface="Calibri"/>
              </a:defRPr>
            </a:pPr>
            <a:r>
              <a:t>Disaster</a:t>
            </a:r>
          </a:p>
        </p:txBody>
      </p:sp>
      <p:sp>
        <p:nvSpPr>
          <p:cNvPr id="7" name="TextBox 6"/>
          <p:cNvSpPr txBox="1"/>
          <p:nvPr/>
        </p:nvSpPr>
        <p:spPr>
          <a:xfrm>
            <a:off x="731520" y="2011680"/>
            <a:ext cx="5303520" cy="914400"/>
          </a:xfrm>
          <a:prstGeom prst="rect">
            <a:avLst/>
          </a:prstGeom>
          <a:noFill/>
        </p:spPr>
        <p:txBody>
          <a:bodyPr wrap="square">
            <a:spAutoFit/>
          </a:bodyPr>
          <a:lstStyle/>
          <a:p>
            <a:pPr algn="l">
              <a:defRPr sz="1200" b="0">
                <a:solidFill>
                  <a:srgbClr val="ECF0F1"/>
                </a:solidFill>
                <a:latin typeface="Calibri"/>
              </a:defRPr>
            </a:pPr>
            <a:r>
              <a:t>A sudden, calamitous event that seriously disrupts the functioning of a community or society and causes human, material, and economic or environmental losses.</a:t>
            </a:r>
          </a:p>
        </p:txBody>
      </p:sp>
      <p:sp>
        <p:nvSpPr>
          <p:cNvPr id="8" name="Rounded Rectangle 7"/>
          <p:cNvSpPr/>
          <p:nvPr/>
        </p:nvSpPr>
        <p:spPr>
          <a:xfrm>
            <a:off x="6400800" y="146304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463040"/>
            <a:ext cx="91440" cy="15544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0" y="1600200"/>
            <a:ext cx="5303520" cy="365760"/>
          </a:xfrm>
          <a:prstGeom prst="rect">
            <a:avLst/>
          </a:prstGeom>
          <a:noFill/>
        </p:spPr>
        <p:txBody>
          <a:bodyPr wrap="square">
            <a:spAutoFit/>
          </a:bodyPr>
          <a:lstStyle/>
          <a:p>
            <a:pPr algn="l">
              <a:defRPr sz="2000" b="1">
                <a:solidFill>
                  <a:srgbClr val="2E86AB"/>
                </a:solidFill>
                <a:latin typeface="Calibri"/>
              </a:defRPr>
            </a:pPr>
            <a:r>
              <a:t>Hazard</a:t>
            </a:r>
          </a:p>
        </p:txBody>
      </p:sp>
      <p:sp>
        <p:nvSpPr>
          <p:cNvPr id="11" name="TextBox 10"/>
          <p:cNvSpPr txBox="1"/>
          <p:nvPr/>
        </p:nvSpPr>
        <p:spPr>
          <a:xfrm>
            <a:off x="6675120" y="2011680"/>
            <a:ext cx="5303520" cy="914400"/>
          </a:xfrm>
          <a:prstGeom prst="rect">
            <a:avLst/>
          </a:prstGeom>
          <a:noFill/>
        </p:spPr>
        <p:txBody>
          <a:bodyPr wrap="square">
            <a:spAutoFit/>
          </a:bodyPr>
          <a:lstStyle/>
          <a:p>
            <a:pPr algn="l">
              <a:defRPr sz="1200" b="0">
                <a:solidFill>
                  <a:srgbClr val="ECF0F1"/>
                </a:solidFill>
                <a:latin typeface="Calibri"/>
              </a:defRPr>
            </a:pPr>
            <a:r>
              <a:t>A dangerous phenomenon, substance, human activity, or condition that may cause loss of life, injury, health impacts, property damage.</a:t>
            </a:r>
          </a:p>
        </p:txBody>
      </p:sp>
      <p:sp>
        <p:nvSpPr>
          <p:cNvPr id="12" name="Rounded Rectangle 11"/>
          <p:cNvSpPr/>
          <p:nvPr/>
        </p:nvSpPr>
        <p:spPr>
          <a:xfrm>
            <a:off x="457200" y="320040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3200400"/>
            <a:ext cx="91440" cy="15544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3337560"/>
            <a:ext cx="5303520" cy="365760"/>
          </a:xfrm>
          <a:prstGeom prst="rect">
            <a:avLst/>
          </a:prstGeom>
          <a:noFill/>
        </p:spPr>
        <p:txBody>
          <a:bodyPr wrap="square">
            <a:spAutoFit/>
          </a:bodyPr>
          <a:lstStyle/>
          <a:p>
            <a:pPr algn="l">
              <a:defRPr sz="2000" b="1">
                <a:solidFill>
                  <a:srgbClr val="27AE60"/>
                </a:solidFill>
                <a:latin typeface="Calibri"/>
              </a:defRPr>
            </a:pPr>
            <a:r>
              <a:t>Vulnerability</a:t>
            </a:r>
          </a:p>
        </p:txBody>
      </p:sp>
      <p:sp>
        <p:nvSpPr>
          <p:cNvPr id="15" name="TextBox 14"/>
          <p:cNvSpPr txBox="1"/>
          <p:nvPr/>
        </p:nvSpPr>
        <p:spPr>
          <a:xfrm>
            <a:off x="731520" y="3749040"/>
            <a:ext cx="5303520" cy="914400"/>
          </a:xfrm>
          <a:prstGeom prst="rect">
            <a:avLst/>
          </a:prstGeom>
          <a:noFill/>
        </p:spPr>
        <p:txBody>
          <a:bodyPr wrap="square">
            <a:spAutoFit/>
          </a:bodyPr>
          <a:lstStyle/>
          <a:p>
            <a:pPr algn="l">
              <a:defRPr sz="1200" b="0">
                <a:solidFill>
                  <a:srgbClr val="ECF0F1"/>
                </a:solidFill>
                <a:latin typeface="Calibri"/>
              </a:defRPr>
            </a:pPr>
            <a:r>
              <a:t>The characteristics and circumstances of a community, system or asset that make it susceptible to the damaging effects of a hazard.</a:t>
            </a:r>
          </a:p>
        </p:txBody>
      </p:sp>
      <p:sp>
        <p:nvSpPr>
          <p:cNvPr id="16" name="Rounded Rectangle 15"/>
          <p:cNvSpPr/>
          <p:nvPr/>
        </p:nvSpPr>
        <p:spPr>
          <a:xfrm>
            <a:off x="6400800" y="320040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200400"/>
            <a:ext cx="91440" cy="15544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0" y="3337560"/>
            <a:ext cx="5303520" cy="365760"/>
          </a:xfrm>
          <a:prstGeom prst="rect">
            <a:avLst/>
          </a:prstGeom>
          <a:noFill/>
        </p:spPr>
        <p:txBody>
          <a:bodyPr wrap="square">
            <a:spAutoFit/>
          </a:bodyPr>
          <a:lstStyle/>
          <a:p>
            <a:pPr algn="l">
              <a:defRPr sz="2000" b="1">
                <a:solidFill>
                  <a:srgbClr val="F39C12"/>
                </a:solidFill>
                <a:latin typeface="Calibri"/>
              </a:defRPr>
            </a:pPr>
            <a:r>
              <a:t>Risk</a:t>
            </a:r>
          </a:p>
        </p:txBody>
      </p:sp>
      <p:sp>
        <p:nvSpPr>
          <p:cNvPr id="19" name="TextBox 18"/>
          <p:cNvSpPr txBox="1"/>
          <p:nvPr/>
        </p:nvSpPr>
        <p:spPr>
          <a:xfrm>
            <a:off x="6675120" y="3749040"/>
            <a:ext cx="5303520" cy="914400"/>
          </a:xfrm>
          <a:prstGeom prst="rect">
            <a:avLst/>
          </a:prstGeom>
          <a:noFill/>
        </p:spPr>
        <p:txBody>
          <a:bodyPr wrap="square">
            <a:spAutoFit/>
          </a:bodyPr>
          <a:lstStyle/>
          <a:p>
            <a:pPr algn="l">
              <a:defRPr sz="1200" b="0">
                <a:solidFill>
                  <a:srgbClr val="ECF0F1"/>
                </a:solidFill>
                <a:latin typeface="Calibri"/>
              </a:defRPr>
            </a:pPr>
            <a:r>
              <a:t>The combination of the probability of an event and its negative consequences. Risk = Hazard x Vulnerability x Exposure.</a:t>
            </a:r>
          </a:p>
        </p:txBody>
      </p:sp>
      <p:sp>
        <p:nvSpPr>
          <p:cNvPr id="20" name="Rounded Rectangle 19"/>
          <p:cNvSpPr/>
          <p:nvPr/>
        </p:nvSpPr>
        <p:spPr>
          <a:xfrm>
            <a:off x="457200" y="493776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937760"/>
            <a:ext cx="91440" cy="155448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074920"/>
            <a:ext cx="5303520" cy="365760"/>
          </a:xfrm>
          <a:prstGeom prst="rect">
            <a:avLst/>
          </a:prstGeom>
          <a:noFill/>
        </p:spPr>
        <p:txBody>
          <a:bodyPr wrap="square">
            <a:spAutoFit/>
          </a:bodyPr>
          <a:lstStyle/>
          <a:p>
            <a:pPr algn="l">
              <a:defRPr sz="2000" b="1">
                <a:solidFill>
                  <a:srgbClr val="9B59B6"/>
                </a:solidFill>
                <a:latin typeface="Calibri"/>
              </a:defRPr>
            </a:pPr>
            <a:r>
              <a:t>Mitigation</a:t>
            </a:r>
          </a:p>
        </p:txBody>
      </p:sp>
      <p:sp>
        <p:nvSpPr>
          <p:cNvPr id="23" name="TextBox 22"/>
          <p:cNvSpPr txBox="1"/>
          <p:nvPr/>
        </p:nvSpPr>
        <p:spPr>
          <a:xfrm>
            <a:off x="731520" y="5486400"/>
            <a:ext cx="5303520" cy="914400"/>
          </a:xfrm>
          <a:prstGeom prst="rect">
            <a:avLst/>
          </a:prstGeom>
          <a:noFill/>
        </p:spPr>
        <p:txBody>
          <a:bodyPr wrap="square">
            <a:spAutoFit/>
          </a:bodyPr>
          <a:lstStyle/>
          <a:p>
            <a:pPr algn="l">
              <a:defRPr sz="1200" b="0">
                <a:solidFill>
                  <a:srgbClr val="ECF0F1"/>
                </a:solidFill>
                <a:latin typeface="Calibri"/>
              </a:defRPr>
            </a:pPr>
            <a:r>
              <a:t>The effort to reduce loss of life and property by lessening the impact of disasters.</a:t>
            </a:r>
          </a:p>
        </p:txBody>
      </p:sp>
      <p:sp>
        <p:nvSpPr>
          <p:cNvPr id="24" name="Rounded Rectangle 23"/>
          <p:cNvSpPr/>
          <p:nvPr/>
        </p:nvSpPr>
        <p:spPr>
          <a:xfrm>
            <a:off x="6400800" y="493776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4937760"/>
            <a:ext cx="91440" cy="155448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0" y="5074920"/>
            <a:ext cx="5303520" cy="365760"/>
          </a:xfrm>
          <a:prstGeom prst="rect">
            <a:avLst/>
          </a:prstGeom>
          <a:noFill/>
        </p:spPr>
        <p:txBody>
          <a:bodyPr wrap="square">
            <a:spAutoFit/>
          </a:bodyPr>
          <a:lstStyle/>
          <a:p>
            <a:pPr algn="l">
              <a:defRPr sz="2000" b="1">
                <a:solidFill>
                  <a:srgbClr val="1ABC9C"/>
                </a:solidFill>
                <a:latin typeface="Calibri"/>
              </a:defRPr>
            </a:pPr>
            <a:r>
              <a:t>Resilience</a:t>
            </a:r>
          </a:p>
        </p:txBody>
      </p:sp>
      <p:sp>
        <p:nvSpPr>
          <p:cNvPr id="27" name="TextBox 26"/>
          <p:cNvSpPr txBox="1"/>
          <p:nvPr/>
        </p:nvSpPr>
        <p:spPr>
          <a:xfrm>
            <a:off x="6675120" y="5486400"/>
            <a:ext cx="5303520" cy="914400"/>
          </a:xfrm>
          <a:prstGeom prst="rect">
            <a:avLst/>
          </a:prstGeom>
          <a:noFill/>
        </p:spPr>
        <p:txBody>
          <a:bodyPr wrap="square">
            <a:spAutoFit/>
          </a:bodyPr>
          <a:lstStyle/>
          <a:p>
            <a:pPr algn="l">
              <a:defRPr sz="1200" b="0">
                <a:solidFill>
                  <a:srgbClr val="ECF0F1"/>
                </a:solidFill>
                <a:latin typeface="Calibri"/>
              </a:defRPr>
            </a:pPr>
            <a:r>
              <a:t>The ability of a system, community or society exposed to hazards to resist, absorb, accommodate and recover from effects.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WHY IS DISASTER MANAGEMENT NECESSARY?</a:t>
            </a:r>
          </a:p>
        </p:txBody>
      </p:sp>
      <p:sp>
        <p:nvSpPr>
          <p:cNvPr id="4" name="Rounded Rectangle 3"/>
          <p:cNvSpPr/>
          <p:nvPr/>
        </p:nvSpPr>
        <p:spPr>
          <a:xfrm>
            <a:off x="365760" y="146304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645920" y="1645920"/>
            <a:ext cx="914400" cy="914400"/>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645920" y="1783080"/>
            <a:ext cx="914400" cy="457200"/>
          </a:xfrm>
          <a:prstGeom prst="rect">
            <a:avLst/>
          </a:prstGeom>
          <a:noFill/>
        </p:spPr>
        <p:txBody>
          <a:bodyPr wrap="square">
            <a:spAutoFit/>
          </a:bodyPr>
          <a:lstStyle/>
          <a:p>
            <a:pPr algn="ctr">
              <a:defRPr sz="2200" b="1">
                <a:solidFill>
                  <a:srgbClr val="FFFFFF"/>
                </a:solidFill>
                <a:latin typeface="Calibri"/>
              </a:defRPr>
            </a:pPr>
            <a:r>
              <a:t>1</a:t>
            </a:r>
          </a:p>
        </p:txBody>
      </p:sp>
      <p:sp>
        <p:nvSpPr>
          <p:cNvPr id="7" name="TextBox 6"/>
          <p:cNvSpPr txBox="1"/>
          <p:nvPr/>
        </p:nvSpPr>
        <p:spPr>
          <a:xfrm>
            <a:off x="640080" y="2651760"/>
            <a:ext cx="3108960" cy="365760"/>
          </a:xfrm>
          <a:prstGeom prst="rect">
            <a:avLst/>
          </a:prstGeom>
          <a:noFill/>
        </p:spPr>
        <p:txBody>
          <a:bodyPr wrap="square">
            <a:spAutoFit/>
          </a:bodyPr>
          <a:lstStyle/>
          <a:p>
            <a:pPr algn="ctr">
              <a:defRPr sz="1600" b="1">
                <a:solidFill>
                  <a:srgbClr val="E83E3E"/>
                </a:solidFill>
                <a:latin typeface="Calibri"/>
              </a:defRPr>
            </a:pPr>
            <a:r>
              <a:t>Geographic Diversity</a:t>
            </a:r>
          </a:p>
        </p:txBody>
      </p:sp>
      <p:sp>
        <p:nvSpPr>
          <p:cNvPr id="8" name="TextBox 7"/>
          <p:cNvSpPr txBox="1"/>
          <p:nvPr/>
        </p:nvSpPr>
        <p:spPr>
          <a:xfrm>
            <a:off x="640080" y="3017520"/>
            <a:ext cx="3108960" cy="640080"/>
          </a:xfrm>
          <a:prstGeom prst="rect">
            <a:avLst/>
          </a:prstGeom>
          <a:noFill/>
        </p:spPr>
        <p:txBody>
          <a:bodyPr wrap="square">
            <a:spAutoFit/>
          </a:bodyPr>
          <a:lstStyle/>
          <a:p>
            <a:pPr algn="ctr">
              <a:defRPr sz="1200" b="0">
                <a:solidFill>
                  <a:srgbClr val="ECF0F1"/>
                </a:solidFill>
                <a:latin typeface="Calibri"/>
              </a:defRPr>
            </a:pPr>
            <a:r>
              <a:t>India's vast geography spanning Himalayas, coastal plains, deserts makes it vulnerable to multiple hazards.</a:t>
            </a:r>
          </a:p>
        </p:txBody>
      </p:sp>
      <p:sp>
        <p:nvSpPr>
          <p:cNvPr id="9" name="Rounded Rectangle 8"/>
          <p:cNvSpPr/>
          <p:nvPr/>
        </p:nvSpPr>
        <p:spPr>
          <a:xfrm>
            <a:off x="4297680" y="146304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5577840" y="1645920"/>
            <a:ext cx="914400" cy="9144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577840" y="1783080"/>
            <a:ext cx="914400" cy="457200"/>
          </a:xfrm>
          <a:prstGeom prst="rect">
            <a:avLst/>
          </a:prstGeom>
          <a:noFill/>
        </p:spPr>
        <p:txBody>
          <a:bodyPr wrap="square">
            <a:spAutoFit/>
          </a:bodyPr>
          <a:lstStyle/>
          <a:p>
            <a:pPr algn="ctr">
              <a:defRPr sz="2200" b="1">
                <a:solidFill>
                  <a:srgbClr val="FFFFFF"/>
                </a:solidFill>
                <a:latin typeface="Calibri"/>
              </a:defRPr>
            </a:pPr>
            <a:r>
              <a:t>2</a:t>
            </a:r>
          </a:p>
        </p:txBody>
      </p:sp>
      <p:sp>
        <p:nvSpPr>
          <p:cNvPr id="12" name="TextBox 11"/>
          <p:cNvSpPr txBox="1"/>
          <p:nvPr/>
        </p:nvSpPr>
        <p:spPr>
          <a:xfrm>
            <a:off x="4572000" y="2651760"/>
            <a:ext cx="3108960" cy="365760"/>
          </a:xfrm>
          <a:prstGeom prst="rect">
            <a:avLst/>
          </a:prstGeom>
          <a:noFill/>
        </p:spPr>
        <p:txBody>
          <a:bodyPr wrap="square">
            <a:spAutoFit/>
          </a:bodyPr>
          <a:lstStyle/>
          <a:p>
            <a:pPr algn="ctr">
              <a:defRPr sz="1600" b="1">
                <a:solidFill>
                  <a:srgbClr val="2E86AB"/>
                </a:solidFill>
                <a:latin typeface="Calibri"/>
              </a:defRPr>
            </a:pPr>
            <a:r>
              <a:t>High Population Density</a:t>
            </a:r>
          </a:p>
        </p:txBody>
      </p:sp>
      <p:sp>
        <p:nvSpPr>
          <p:cNvPr id="13" name="TextBox 12"/>
          <p:cNvSpPr txBox="1"/>
          <p:nvPr/>
        </p:nvSpPr>
        <p:spPr>
          <a:xfrm>
            <a:off x="4572000" y="3017520"/>
            <a:ext cx="3108960" cy="640080"/>
          </a:xfrm>
          <a:prstGeom prst="rect">
            <a:avLst/>
          </a:prstGeom>
          <a:noFill/>
        </p:spPr>
        <p:txBody>
          <a:bodyPr wrap="square">
            <a:spAutoFit/>
          </a:bodyPr>
          <a:lstStyle/>
          <a:p>
            <a:pPr algn="ctr">
              <a:defRPr sz="1200" b="0">
                <a:solidFill>
                  <a:srgbClr val="ECF0F1"/>
                </a:solidFill>
                <a:latin typeface="Calibri"/>
              </a:defRPr>
            </a:pPr>
            <a:r>
              <a:t>Concentrated populations in urban and coastal areas amplify disaster impacts.</a:t>
            </a:r>
          </a:p>
        </p:txBody>
      </p:sp>
      <p:sp>
        <p:nvSpPr>
          <p:cNvPr id="14" name="Rounded Rectangle 13"/>
          <p:cNvSpPr/>
          <p:nvPr/>
        </p:nvSpPr>
        <p:spPr>
          <a:xfrm>
            <a:off x="8229600" y="146304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509760" y="1645920"/>
            <a:ext cx="914400" cy="9144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0" y="1783080"/>
            <a:ext cx="914400" cy="457200"/>
          </a:xfrm>
          <a:prstGeom prst="rect">
            <a:avLst/>
          </a:prstGeom>
          <a:noFill/>
        </p:spPr>
        <p:txBody>
          <a:bodyPr wrap="square">
            <a:spAutoFit/>
          </a:bodyPr>
          <a:lstStyle/>
          <a:p>
            <a:pPr algn="ctr">
              <a:defRPr sz="2200" b="1">
                <a:solidFill>
                  <a:srgbClr val="FFFFFF"/>
                </a:solidFill>
                <a:latin typeface="Calibri"/>
              </a:defRPr>
            </a:pPr>
            <a:r>
              <a:t>3</a:t>
            </a:r>
          </a:p>
        </p:txBody>
      </p:sp>
      <p:sp>
        <p:nvSpPr>
          <p:cNvPr id="17" name="TextBox 16"/>
          <p:cNvSpPr txBox="1"/>
          <p:nvPr/>
        </p:nvSpPr>
        <p:spPr>
          <a:xfrm>
            <a:off x="8503920" y="2651760"/>
            <a:ext cx="3108960" cy="365760"/>
          </a:xfrm>
          <a:prstGeom prst="rect">
            <a:avLst/>
          </a:prstGeom>
          <a:noFill/>
        </p:spPr>
        <p:txBody>
          <a:bodyPr wrap="square">
            <a:spAutoFit/>
          </a:bodyPr>
          <a:lstStyle/>
          <a:p>
            <a:pPr algn="ctr">
              <a:defRPr sz="1600" b="1">
                <a:solidFill>
                  <a:srgbClr val="27AE60"/>
                </a:solidFill>
                <a:latin typeface="Calibri"/>
              </a:defRPr>
            </a:pPr>
            <a:r>
              <a:t>Economic Losses</a:t>
            </a:r>
          </a:p>
        </p:txBody>
      </p:sp>
      <p:sp>
        <p:nvSpPr>
          <p:cNvPr id="18" name="TextBox 17"/>
          <p:cNvSpPr txBox="1"/>
          <p:nvPr/>
        </p:nvSpPr>
        <p:spPr>
          <a:xfrm>
            <a:off x="8503920" y="3017520"/>
            <a:ext cx="3108960" cy="640080"/>
          </a:xfrm>
          <a:prstGeom prst="rect">
            <a:avLst/>
          </a:prstGeom>
          <a:noFill/>
        </p:spPr>
        <p:txBody>
          <a:bodyPr wrap="square">
            <a:spAutoFit/>
          </a:bodyPr>
          <a:lstStyle/>
          <a:p>
            <a:pPr algn="ctr">
              <a:defRPr sz="1200" b="0">
                <a:solidFill>
                  <a:srgbClr val="ECF0F1"/>
                </a:solidFill>
                <a:latin typeface="Calibri"/>
              </a:defRPr>
            </a:pPr>
            <a:r>
              <a:t>Disasters cause billions in economic losses annually, affecting GDP growth.</a:t>
            </a:r>
          </a:p>
        </p:txBody>
      </p:sp>
      <p:sp>
        <p:nvSpPr>
          <p:cNvPr id="19" name="Rounded Rectangle 18"/>
          <p:cNvSpPr/>
          <p:nvPr/>
        </p:nvSpPr>
        <p:spPr>
          <a:xfrm>
            <a:off x="365760" y="402336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645920" y="4206240"/>
            <a:ext cx="914400" cy="91440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645920" y="4343400"/>
            <a:ext cx="914400" cy="457200"/>
          </a:xfrm>
          <a:prstGeom prst="rect">
            <a:avLst/>
          </a:prstGeom>
          <a:noFill/>
        </p:spPr>
        <p:txBody>
          <a:bodyPr wrap="square">
            <a:spAutoFit/>
          </a:bodyPr>
          <a:lstStyle/>
          <a:p>
            <a:pPr algn="ctr">
              <a:defRPr sz="2200" b="1">
                <a:solidFill>
                  <a:srgbClr val="FFFFFF"/>
                </a:solidFill>
                <a:latin typeface="Calibri"/>
              </a:defRPr>
            </a:pPr>
            <a:r>
              <a:t>4</a:t>
            </a:r>
          </a:p>
        </p:txBody>
      </p:sp>
      <p:sp>
        <p:nvSpPr>
          <p:cNvPr id="22" name="TextBox 21"/>
          <p:cNvSpPr txBox="1"/>
          <p:nvPr/>
        </p:nvSpPr>
        <p:spPr>
          <a:xfrm>
            <a:off x="640080" y="5212080"/>
            <a:ext cx="3108960" cy="365760"/>
          </a:xfrm>
          <a:prstGeom prst="rect">
            <a:avLst/>
          </a:prstGeom>
          <a:noFill/>
        </p:spPr>
        <p:txBody>
          <a:bodyPr wrap="square">
            <a:spAutoFit/>
          </a:bodyPr>
          <a:lstStyle/>
          <a:p>
            <a:pPr algn="ctr">
              <a:defRPr sz="1600" b="1">
                <a:solidFill>
                  <a:srgbClr val="F39C12"/>
                </a:solidFill>
                <a:latin typeface="Calibri"/>
              </a:defRPr>
            </a:pPr>
            <a:r>
              <a:t>Climate Change Impact</a:t>
            </a:r>
          </a:p>
        </p:txBody>
      </p:sp>
      <p:sp>
        <p:nvSpPr>
          <p:cNvPr id="23" name="TextBox 22"/>
          <p:cNvSpPr txBox="1"/>
          <p:nvPr/>
        </p:nvSpPr>
        <p:spPr>
          <a:xfrm>
            <a:off x="640080" y="5577840"/>
            <a:ext cx="3108960" cy="640080"/>
          </a:xfrm>
          <a:prstGeom prst="rect">
            <a:avLst/>
          </a:prstGeom>
          <a:noFill/>
        </p:spPr>
        <p:txBody>
          <a:bodyPr wrap="square">
            <a:spAutoFit/>
          </a:bodyPr>
          <a:lstStyle/>
          <a:p>
            <a:pPr algn="ctr">
              <a:defRPr sz="1200" b="0">
                <a:solidFill>
                  <a:srgbClr val="ECF0F1"/>
                </a:solidFill>
                <a:latin typeface="Calibri"/>
              </a:defRPr>
            </a:pPr>
            <a:r>
              <a:t>Changing climate patterns are increasing frequency and intensity of extreme weather events.</a:t>
            </a:r>
          </a:p>
        </p:txBody>
      </p:sp>
      <p:sp>
        <p:nvSpPr>
          <p:cNvPr id="24" name="Rounded Rectangle 23"/>
          <p:cNvSpPr/>
          <p:nvPr/>
        </p:nvSpPr>
        <p:spPr>
          <a:xfrm>
            <a:off x="4297680" y="402336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577840" y="4206240"/>
            <a:ext cx="914400" cy="91440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577840" y="4343400"/>
            <a:ext cx="914400" cy="457200"/>
          </a:xfrm>
          <a:prstGeom prst="rect">
            <a:avLst/>
          </a:prstGeom>
          <a:noFill/>
        </p:spPr>
        <p:txBody>
          <a:bodyPr wrap="square">
            <a:spAutoFit/>
          </a:bodyPr>
          <a:lstStyle/>
          <a:p>
            <a:pPr algn="ctr">
              <a:defRPr sz="2200" b="1">
                <a:solidFill>
                  <a:srgbClr val="FFFFFF"/>
                </a:solidFill>
                <a:latin typeface="Calibri"/>
              </a:defRPr>
            </a:pPr>
            <a:r>
              <a:t>5</a:t>
            </a:r>
          </a:p>
        </p:txBody>
      </p:sp>
      <p:sp>
        <p:nvSpPr>
          <p:cNvPr id="27" name="TextBox 26"/>
          <p:cNvSpPr txBox="1"/>
          <p:nvPr/>
        </p:nvSpPr>
        <p:spPr>
          <a:xfrm>
            <a:off x="4572000" y="5212080"/>
            <a:ext cx="3108960" cy="365760"/>
          </a:xfrm>
          <a:prstGeom prst="rect">
            <a:avLst/>
          </a:prstGeom>
          <a:noFill/>
        </p:spPr>
        <p:txBody>
          <a:bodyPr wrap="square">
            <a:spAutoFit/>
          </a:bodyPr>
          <a:lstStyle/>
          <a:p>
            <a:pPr algn="ctr">
              <a:defRPr sz="1600" b="1">
                <a:solidFill>
                  <a:srgbClr val="9B59B6"/>
                </a:solidFill>
                <a:latin typeface="Calibri"/>
              </a:defRPr>
            </a:pPr>
            <a:r>
              <a:t>Urbanization</a:t>
            </a:r>
          </a:p>
        </p:txBody>
      </p:sp>
      <p:sp>
        <p:nvSpPr>
          <p:cNvPr id="28" name="TextBox 27"/>
          <p:cNvSpPr txBox="1"/>
          <p:nvPr/>
        </p:nvSpPr>
        <p:spPr>
          <a:xfrm>
            <a:off x="4572000" y="5577840"/>
            <a:ext cx="3108960" cy="640080"/>
          </a:xfrm>
          <a:prstGeom prst="rect">
            <a:avLst/>
          </a:prstGeom>
          <a:noFill/>
        </p:spPr>
        <p:txBody>
          <a:bodyPr wrap="square">
            <a:spAutoFit/>
          </a:bodyPr>
          <a:lstStyle/>
          <a:p>
            <a:pPr algn="ctr">
              <a:defRPr sz="1200" b="0">
                <a:solidFill>
                  <a:srgbClr val="ECF0F1"/>
                </a:solidFill>
                <a:latin typeface="Calibri"/>
              </a:defRPr>
            </a:pPr>
            <a:r>
              <a:t>Rapid unplanned urbanization is increasing vulnerability in cities.</a:t>
            </a:r>
          </a:p>
        </p:txBody>
      </p:sp>
      <p:sp>
        <p:nvSpPr>
          <p:cNvPr id="29" name="Rounded Rectangle 28"/>
          <p:cNvSpPr/>
          <p:nvPr/>
        </p:nvSpPr>
        <p:spPr>
          <a:xfrm>
            <a:off x="8229600" y="402336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509760" y="4206240"/>
            <a:ext cx="914400" cy="914400"/>
          </a:xfrm>
          <a:prstGeom prst="ellipse">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0" y="4343400"/>
            <a:ext cx="914400" cy="457200"/>
          </a:xfrm>
          <a:prstGeom prst="rect">
            <a:avLst/>
          </a:prstGeom>
          <a:noFill/>
        </p:spPr>
        <p:txBody>
          <a:bodyPr wrap="square">
            <a:spAutoFit/>
          </a:bodyPr>
          <a:lstStyle/>
          <a:p>
            <a:pPr algn="ctr">
              <a:defRPr sz="2200" b="1">
                <a:solidFill>
                  <a:srgbClr val="FFFFFF"/>
                </a:solidFill>
                <a:latin typeface="Calibri"/>
              </a:defRPr>
            </a:pPr>
            <a:r>
              <a:t>6</a:t>
            </a:r>
          </a:p>
        </p:txBody>
      </p:sp>
      <p:sp>
        <p:nvSpPr>
          <p:cNvPr id="32" name="TextBox 31"/>
          <p:cNvSpPr txBox="1"/>
          <p:nvPr/>
        </p:nvSpPr>
        <p:spPr>
          <a:xfrm>
            <a:off x="8503920" y="5212080"/>
            <a:ext cx="3108960" cy="365760"/>
          </a:xfrm>
          <a:prstGeom prst="rect">
            <a:avLst/>
          </a:prstGeom>
          <a:noFill/>
        </p:spPr>
        <p:txBody>
          <a:bodyPr wrap="square">
            <a:spAutoFit/>
          </a:bodyPr>
          <a:lstStyle/>
          <a:p>
            <a:pPr algn="ctr">
              <a:defRPr sz="1600" b="1">
                <a:solidFill>
                  <a:srgbClr val="1ABC9C"/>
                </a:solidFill>
                <a:latin typeface="Calibri"/>
              </a:defRPr>
            </a:pPr>
            <a:r>
              <a:t>Historical Precedent</a:t>
            </a:r>
          </a:p>
        </p:txBody>
      </p:sp>
      <p:sp>
        <p:nvSpPr>
          <p:cNvPr id="33" name="TextBox 32"/>
          <p:cNvSpPr txBox="1"/>
          <p:nvPr/>
        </p:nvSpPr>
        <p:spPr>
          <a:xfrm>
            <a:off x="8503920" y="5577840"/>
            <a:ext cx="3108960" cy="640080"/>
          </a:xfrm>
          <a:prstGeom prst="rect">
            <a:avLst/>
          </a:prstGeom>
          <a:noFill/>
        </p:spPr>
        <p:txBody>
          <a:bodyPr wrap="square">
            <a:spAutoFit/>
          </a:bodyPr>
          <a:lstStyle/>
          <a:p>
            <a:pPr algn="ctr">
              <a:defRPr sz="1200" b="0">
                <a:solidFill>
                  <a:srgbClr val="ECF0F1"/>
                </a:solidFill>
                <a:latin typeface="Calibri"/>
              </a:defRPr>
            </a:pPr>
            <a:r>
              <a:t>India has experienced repeated devastating disasters, necessitating systematic preparedness.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099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099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02</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Types of Disasters</a:t>
            </a:r>
            <a:br/>
            <a:r>
              <a:t>in India</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NATURAL DISASTERS IN INDIA</a:t>
            </a:r>
          </a:p>
        </p:txBody>
      </p:sp>
      <p:sp>
        <p:nvSpPr>
          <p:cNvPr id="4" name="Rounded Rectangle 3"/>
          <p:cNvSpPr/>
          <p:nvPr/>
        </p:nvSpPr>
        <p:spPr>
          <a:xfrm>
            <a:off x="36576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365760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3291840" cy="365760"/>
          </a:xfrm>
          <a:prstGeom prst="rect">
            <a:avLst/>
          </a:prstGeom>
          <a:noFill/>
        </p:spPr>
        <p:txBody>
          <a:bodyPr wrap="square">
            <a:spAutoFit/>
          </a:bodyPr>
          <a:lstStyle/>
          <a:p>
            <a:pPr algn="ctr">
              <a:defRPr sz="1800" b="1">
                <a:solidFill>
                  <a:srgbClr val="FFFFFF"/>
                </a:solidFill>
                <a:latin typeface="Calibri"/>
              </a:defRPr>
            </a:pPr>
            <a:r>
              <a:t>Earthquakes</a:t>
            </a:r>
          </a:p>
        </p:txBody>
      </p:sp>
      <p:sp>
        <p:nvSpPr>
          <p:cNvPr id="7" name="TextBox 6"/>
          <p:cNvSpPr txBox="1"/>
          <p:nvPr/>
        </p:nvSpPr>
        <p:spPr>
          <a:xfrm>
            <a:off x="548640" y="1920240"/>
            <a:ext cx="3291840" cy="1188720"/>
          </a:xfrm>
          <a:prstGeom prst="rect">
            <a:avLst/>
          </a:prstGeom>
          <a:noFill/>
        </p:spPr>
        <p:txBody>
          <a:bodyPr wrap="square">
            <a:spAutoFit/>
          </a:bodyPr>
          <a:lstStyle/>
          <a:p>
            <a:pPr algn="l">
              <a:defRPr sz="1100" b="0">
                <a:solidFill>
                  <a:srgbClr val="ECF0F1"/>
                </a:solidFill>
                <a:latin typeface="Calibri"/>
              </a:defRPr>
            </a:pPr>
            <a:r>
              <a:t>India lies on seismically active zone. Himalayan belt, northern plains face varying seismic risk.</a:t>
            </a:r>
          </a:p>
        </p:txBody>
      </p:sp>
      <p:sp>
        <p:nvSpPr>
          <p:cNvPr id="8" name="TextBox 7"/>
          <p:cNvSpPr txBox="1"/>
          <p:nvPr/>
        </p:nvSpPr>
        <p:spPr>
          <a:xfrm>
            <a:off x="548640" y="3200400"/>
            <a:ext cx="3291840" cy="548640"/>
          </a:xfrm>
          <a:prstGeom prst="rect">
            <a:avLst/>
          </a:prstGeom>
          <a:noFill/>
        </p:spPr>
        <p:txBody>
          <a:bodyPr wrap="square">
            <a:spAutoFit/>
          </a:bodyPr>
          <a:lstStyle/>
          <a:p>
            <a:pPr algn="l">
              <a:defRPr sz="1000" b="1">
                <a:solidFill>
                  <a:srgbClr val="E83E3E"/>
                </a:solidFill>
                <a:latin typeface="Calibri"/>
              </a:defRPr>
            </a:pPr>
            <a:r>
              <a:t>Major: 2001 Gujarat, 2004 TSunami</a:t>
            </a:r>
          </a:p>
        </p:txBody>
      </p:sp>
      <p:sp>
        <p:nvSpPr>
          <p:cNvPr id="9" name="Rounded Rectangle 8"/>
          <p:cNvSpPr/>
          <p:nvPr/>
        </p:nvSpPr>
        <p:spPr>
          <a:xfrm>
            <a:off x="429768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371600"/>
            <a:ext cx="36576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444752"/>
            <a:ext cx="3291840" cy="365760"/>
          </a:xfrm>
          <a:prstGeom prst="rect">
            <a:avLst/>
          </a:prstGeom>
          <a:noFill/>
        </p:spPr>
        <p:txBody>
          <a:bodyPr wrap="square">
            <a:spAutoFit/>
          </a:bodyPr>
          <a:lstStyle/>
          <a:p>
            <a:pPr algn="ctr">
              <a:defRPr sz="1800" b="1">
                <a:solidFill>
                  <a:srgbClr val="FFFFFF"/>
                </a:solidFill>
                <a:latin typeface="Calibri"/>
              </a:defRPr>
            </a:pPr>
            <a:r>
              <a:t>Floods &amp; Cyclones</a:t>
            </a:r>
          </a:p>
        </p:txBody>
      </p:sp>
      <p:sp>
        <p:nvSpPr>
          <p:cNvPr id="12" name="TextBox 11"/>
          <p:cNvSpPr txBox="1"/>
          <p:nvPr/>
        </p:nvSpPr>
        <p:spPr>
          <a:xfrm>
            <a:off x="4480560" y="1920240"/>
            <a:ext cx="3291840" cy="1188720"/>
          </a:xfrm>
          <a:prstGeom prst="rect">
            <a:avLst/>
          </a:prstGeom>
          <a:noFill/>
        </p:spPr>
        <p:txBody>
          <a:bodyPr wrap="square">
            <a:spAutoFit/>
          </a:bodyPr>
          <a:lstStyle/>
          <a:p>
            <a:pPr algn="l">
              <a:defRPr sz="1100" b="0">
                <a:solidFill>
                  <a:srgbClr val="ECF0F1"/>
                </a:solidFill>
                <a:latin typeface="Calibri"/>
              </a:defRPr>
            </a:pPr>
            <a:r>
              <a:t>Annual monsoon flooding causes widespread damage. Coastal regions face cyclones from both seas.</a:t>
            </a:r>
          </a:p>
        </p:txBody>
      </p:sp>
      <p:sp>
        <p:nvSpPr>
          <p:cNvPr id="13" name="TextBox 12"/>
          <p:cNvSpPr txBox="1"/>
          <p:nvPr/>
        </p:nvSpPr>
        <p:spPr>
          <a:xfrm>
            <a:off x="4480560" y="3200400"/>
            <a:ext cx="3291840" cy="548640"/>
          </a:xfrm>
          <a:prstGeom prst="rect">
            <a:avLst/>
          </a:prstGeom>
          <a:noFill/>
        </p:spPr>
        <p:txBody>
          <a:bodyPr wrap="square">
            <a:spAutoFit/>
          </a:bodyPr>
          <a:lstStyle/>
          <a:p>
            <a:pPr algn="l">
              <a:defRPr sz="1000" b="1">
                <a:solidFill>
                  <a:srgbClr val="2E86AB"/>
                </a:solidFill>
                <a:latin typeface="Calibri"/>
              </a:defRPr>
            </a:pPr>
            <a:r>
              <a:t>Major: 2013 Uttarakhand, 2020 Kerala</a:t>
            </a:r>
          </a:p>
        </p:txBody>
      </p:sp>
      <p:sp>
        <p:nvSpPr>
          <p:cNvPr id="14" name="Rounded Rectangle 13"/>
          <p:cNvSpPr/>
          <p:nvPr/>
        </p:nvSpPr>
        <p:spPr>
          <a:xfrm>
            <a:off x="822960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371600"/>
            <a:ext cx="365760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44752"/>
            <a:ext cx="3291840" cy="365760"/>
          </a:xfrm>
          <a:prstGeom prst="rect">
            <a:avLst/>
          </a:prstGeom>
          <a:noFill/>
        </p:spPr>
        <p:txBody>
          <a:bodyPr wrap="square">
            <a:spAutoFit/>
          </a:bodyPr>
          <a:lstStyle/>
          <a:p>
            <a:pPr algn="ctr">
              <a:defRPr sz="1800" b="1">
                <a:solidFill>
                  <a:srgbClr val="FFFFFF"/>
                </a:solidFill>
                <a:latin typeface="Calibri"/>
              </a:defRPr>
            </a:pPr>
            <a:r>
              <a:t>Landslides</a:t>
            </a:r>
          </a:p>
        </p:txBody>
      </p:sp>
      <p:sp>
        <p:nvSpPr>
          <p:cNvPr id="17" name="TextBox 16"/>
          <p:cNvSpPr txBox="1"/>
          <p:nvPr/>
        </p:nvSpPr>
        <p:spPr>
          <a:xfrm>
            <a:off x="8412480" y="1920240"/>
            <a:ext cx="3291840" cy="1188720"/>
          </a:xfrm>
          <a:prstGeom prst="rect">
            <a:avLst/>
          </a:prstGeom>
          <a:noFill/>
        </p:spPr>
        <p:txBody>
          <a:bodyPr wrap="square">
            <a:spAutoFit/>
          </a:bodyPr>
          <a:lstStyle/>
          <a:p>
            <a:pPr algn="l">
              <a:defRPr sz="1100" b="0">
                <a:solidFill>
                  <a:srgbClr val="ECF0F1"/>
                </a:solidFill>
                <a:latin typeface="Calibri"/>
              </a:defRPr>
            </a:pPr>
            <a:r>
              <a:t>Himalayan and Western Ghat regions experience frequent landslides due to rainfall and seismic activity.</a:t>
            </a:r>
          </a:p>
        </p:txBody>
      </p:sp>
      <p:sp>
        <p:nvSpPr>
          <p:cNvPr id="18" name="TextBox 17"/>
          <p:cNvSpPr txBox="1"/>
          <p:nvPr/>
        </p:nvSpPr>
        <p:spPr>
          <a:xfrm>
            <a:off x="8412480" y="3200400"/>
            <a:ext cx="3291840" cy="548640"/>
          </a:xfrm>
          <a:prstGeom prst="rect">
            <a:avLst/>
          </a:prstGeom>
          <a:noFill/>
        </p:spPr>
        <p:txBody>
          <a:bodyPr wrap="square">
            <a:spAutoFit/>
          </a:bodyPr>
          <a:lstStyle/>
          <a:p>
            <a:pPr algn="l">
              <a:defRPr sz="1000" b="1">
                <a:solidFill>
                  <a:srgbClr val="27AE60"/>
                </a:solidFill>
                <a:latin typeface="Calibri"/>
              </a:defRPr>
            </a:pPr>
            <a:r>
              <a:t>Major: 2014 J&amp;K, 2023 Himachal</a:t>
            </a:r>
          </a:p>
        </p:txBody>
      </p:sp>
      <p:sp>
        <p:nvSpPr>
          <p:cNvPr id="19" name="Rounded Rectangle 18"/>
          <p:cNvSpPr/>
          <p:nvPr/>
        </p:nvSpPr>
        <p:spPr>
          <a:xfrm>
            <a:off x="36576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023360"/>
            <a:ext cx="365760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096512"/>
            <a:ext cx="3291840" cy="365760"/>
          </a:xfrm>
          <a:prstGeom prst="rect">
            <a:avLst/>
          </a:prstGeom>
          <a:noFill/>
        </p:spPr>
        <p:txBody>
          <a:bodyPr wrap="square">
            <a:spAutoFit/>
          </a:bodyPr>
          <a:lstStyle/>
          <a:p>
            <a:pPr algn="ctr">
              <a:defRPr sz="1800" b="1">
                <a:solidFill>
                  <a:srgbClr val="FFFFFF"/>
                </a:solidFill>
                <a:latin typeface="Calibri"/>
              </a:defRPr>
            </a:pPr>
            <a:r>
              <a:t>Droughts</a:t>
            </a:r>
          </a:p>
        </p:txBody>
      </p:sp>
      <p:sp>
        <p:nvSpPr>
          <p:cNvPr id="22" name="TextBox 21"/>
          <p:cNvSpPr txBox="1"/>
          <p:nvPr/>
        </p:nvSpPr>
        <p:spPr>
          <a:xfrm>
            <a:off x="548640" y="4572000"/>
            <a:ext cx="3291840" cy="1188720"/>
          </a:xfrm>
          <a:prstGeom prst="rect">
            <a:avLst/>
          </a:prstGeom>
          <a:noFill/>
        </p:spPr>
        <p:txBody>
          <a:bodyPr wrap="square">
            <a:spAutoFit/>
          </a:bodyPr>
          <a:lstStyle/>
          <a:p>
            <a:pPr algn="l">
              <a:defRPr sz="1100" b="0">
                <a:solidFill>
                  <a:srgbClr val="ECF0F1"/>
                </a:solidFill>
                <a:latin typeface="Calibri"/>
              </a:defRPr>
            </a:pPr>
            <a:r>
              <a:t>Arid and semi-arid regions face recurring droughts affecting agriculture and water supply.</a:t>
            </a:r>
          </a:p>
        </p:txBody>
      </p:sp>
      <p:sp>
        <p:nvSpPr>
          <p:cNvPr id="23" name="TextBox 22"/>
          <p:cNvSpPr txBox="1"/>
          <p:nvPr/>
        </p:nvSpPr>
        <p:spPr>
          <a:xfrm>
            <a:off x="548640" y="5852160"/>
            <a:ext cx="3291840" cy="548640"/>
          </a:xfrm>
          <a:prstGeom prst="rect">
            <a:avLst/>
          </a:prstGeom>
          <a:noFill/>
        </p:spPr>
        <p:txBody>
          <a:bodyPr wrap="square">
            <a:spAutoFit/>
          </a:bodyPr>
          <a:lstStyle/>
          <a:p>
            <a:pPr algn="l">
              <a:defRPr sz="1000" b="1">
                <a:solidFill>
                  <a:srgbClr val="F39C12"/>
                </a:solidFill>
                <a:latin typeface="Calibri"/>
              </a:defRPr>
            </a:pPr>
            <a:r>
              <a:t>Major: 2015 Maharashtra, Rajasthan</a:t>
            </a:r>
          </a:p>
        </p:txBody>
      </p:sp>
      <p:sp>
        <p:nvSpPr>
          <p:cNvPr id="24" name="Rounded Rectangle 23"/>
          <p:cNvSpPr/>
          <p:nvPr/>
        </p:nvSpPr>
        <p:spPr>
          <a:xfrm>
            <a:off x="429768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023360"/>
            <a:ext cx="365760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4096512"/>
            <a:ext cx="3291840" cy="365760"/>
          </a:xfrm>
          <a:prstGeom prst="rect">
            <a:avLst/>
          </a:prstGeom>
          <a:noFill/>
        </p:spPr>
        <p:txBody>
          <a:bodyPr wrap="square">
            <a:spAutoFit/>
          </a:bodyPr>
          <a:lstStyle/>
          <a:p>
            <a:pPr algn="ctr">
              <a:defRPr sz="1800" b="1">
                <a:solidFill>
                  <a:srgbClr val="FFFFFF"/>
                </a:solidFill>
                <a:latin typeface="Calibri"/>
              </a:defRPr>
            </a:pPr>
            <a:r>
              <a:t>Tsunamis</a:t>
            </a:r>
          </a:p>
        </p:txBody>
      </p:sp>
      <p:sp>
        <p:nvSpPr>
          <p:cNvPr id="27" name="TextBox 26"/>
          <p:cNvSpPr txBox="1"/>
          <p:nvPr/>
        </p:nvSpPr>
        <p:spPr>
          <a:xfrm>
            <a:off x="4480560" y="4572000"/>
            <a:ext cx="3291840" cy="1188720"/>
          </a:xfrm>
          <a:prstGeom prst="rect">
            <a:avLst/>
          </a:prstGeom>
          <a:noFill/>
        </p:spPr>
        <p:txBody>
          <a:bodyPr wrap="square">
            <a:spAutoFit/>
          </a:bodyPr>
          <a:lstStyle/>
          <a:p>
            <a:pPr algn="l">
              <a:defRPr sz="1100" b="0">
                <a:solidFill>
                  <a:srgbClr val="ECF0F1"/>
                </a:solidFill>
                <a:latin typeface="Calibri"/>
              </a:defRPr>
            </a:pPr>
            <a:r>
              <a:t>India's 7,517 km coastline is vulnerable to tsunamis, particularly the eastern coast.</a:t>
            </a:r>
          </a:p>
        </p:txBody>
      </p:sp>
      <p:sp>
        <p:nvSpPr>
          <p:cNvPr id="28" name="TextBox 27"/>
          <p:cNvSpPr txBox="1"/>
          <p:nvPr/>
        </p:nvSpPr>
        <p:spPr>
          <a:xfrm>
            <a:off x="4480560" y="5852160"/>
            <a:ext cx="3291840" cy="548640"/>
          </a:xfrm>
          <a:prstGeom prst="rect">
            <a:avLst/>
          </a:prstGeom>
          <a:noFill/>
        </p:spPr>
        <p:txBody>
          <a:bodyPr wrap="square">
            <a:spAutoFit/>
          </a:bodyPr>
          <a:lstStyle/>
          <a:p>
            <a:pPr algn="l">
              <a:defRPr sz="1000" b="1">
                <a:solidFill>
                  <a:srgbClr val="9B59B6"/>
                </a:solidFill>
                <a:latin typeface="Calibri"/>
              </a:defRPr>
            </a:pPr>
            <a:r>
              <a:t>Major: 2004 Indian Ocean Tsunami</a:t>
            </a:r>
          </a:p>
        </p:txBody>
      </p:sp>
      <p:sp>
        <p:nvSpPr>
          <p:cNvPr id="29" name="Rounded Rectangle 28"/>
          <p:cNvSpPr/>
          <p:nvPr/>
        </p:nvSpPr>
        <p:spPr>
          <a:xfrm>
            <a:off x="822960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0" y="4023360"/>
            <a:ext cx="365760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4096512"/>
            <a:ext cx="3291840" cy="365760"/>
          </a:xfrm>
          <a:prstGeom prst="rect">
            <a:avLst/>
          </a:prstGeom>
          <a:noFill/>
        </p:spPr>
        <p:txBody>
          <a:bodyPr wrap="square">
            <a:spAutoFit/>
          </a:bodyPr>
          <a:lstStyle/>
          <a:p>
            <a:pPr algn="ctr">
              <a:defRPr sz="1800" b="1">
                <a:solidFill>
                  <a:srgbClr val="FFFFFF"/>
                </a:solidFill>
                <a:latin typeface="Calibri"/>
              </a:defRPr>
            </a:pPr>
            <a:r>
              <a:t>Heat Waves</a:t>
            </a:r>
          </a:p>
        </p:txBody>
      </p:sp>
      <p:sp>
        <p:nvSpPr>
          <p:cNvPr id="32" name="TextBox 31"/>
          <p:cNvSpPr txBox="1"/>
          <p:nvPr/>
        </p:nvSpPr>
        <p:spPr>
          <a:xfrm>
            <a:off x="8412480" y="4572000"/>
            <a:ext cx="3291840" cy="1188720"/>
          </a:xfrm>
          <a:prstGeom prst="rect">
            <a:avLst/>
          </a:prstGeom>
          <a:noFill/>
        </p:spPr>
        <p:txBody>
          <a:bodyPr wrap="square">
            <a:spAutoFit/>
          </a:bodyPr>
          <a:lstStyle/>
          <a:p>
            <a:pPr algn="l">
              <a:defRPr sz="1100" b="0">
                <a:solidFill>
                  <a:srgbClr val="ECF0F1"/>
                </a:solidFill>
                <a:latin typeface="Calibri"/>
              </a:defRPr>
            </a:pPr>
            <a:r>
              <a:t>Summer heat waves in central and northern India cause significant mortality.</a:t>
            </a:r>
          </a:p>
        </p:txBody>
      </p:sp>
      <p:sp>
        <p:nvSpPr>
          <p:cNvPr id="33" name="TextBox 32"/>
          <p:cNvSpPr txBox="1"/>
          <p:nvPr/>
        </p:nvSpPr>
        <p:spPr>
          <a:xfrm>
            <a:off x="8412480" y="5852160"/>
            <a:ext cx="3291840" cy="548640"/>
          </a:xfrm>
          <a:prstGeom prst="rect">
            <a:avLst/>
          </a:prstGeom>
          <a:noFill/>
        </p:spPr>
        <p:txBody>
          <a:bodyPr wrap="square">
            <a:spAutoFit/>
          </a:bodyPr>
          <a:lstStyle/>
          <a:p>
            <a:pPr algn="l">
              <a:defRPr sz="1000" b="1">
                <a:solidFill>
                  <a:srgbClr val="E74C3C"/>
                </a:solidFill>
                <a:latin typeface="Calibri"/>
              </a:defRPr>
            </a:pPr>
            <a:r>
              <a:t>Major: 2015 Andhra Pradesh, Telangana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MAN-MADE DISASTERS IN INDIA</a:t>
            </a:r>
          </a:p>
        </p:txBody>
      </p:sp>
      <p:sp>
        <p:nvSpPr>
          <p:cNvPr id="4" name="Rounded Rectangle 3"/>
          <p:cNvSpPr/>
          <p:nvPr/>
        </p:nvSpPr>
        <p:spPr>
          <a:xfrm>
            <a:off x="365760" y="146304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463040"/>
            <a:ext cx="91440" cy="22860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45920"/>
            <a:ext cx="3291840" cy="365760"/>
          </a:xfrm>
          <a:prstGeom prst="rect">
            <a:avLst/>
          </a:prstGeom>
          <a:noFill/>
        </p:spPr>
        <p:txBody>
          <a:bodyPr wrap="square">
            <a:spAutoFit/>
          </a:bodyPr>
          <a:lstStyle/>
          <a:p>
            <a:pPr algn="l">
              <a:defRPr sz="1800" b="1">
                <a:solidFill>
                  <a:srgbClr val="E83E3E"/>
                </a:solidFill>
                <a:latin typeface="Calibri"/>
              </a:defRPr>
            </a:pPr>
            <a:r>
              <a:t>Industrial Accidents</a:t>
            </a:r>
          </a:p>
        </p:txBody>
      </p:sp>
      <p:sp>
        <p:nvSpPr>
          <p:cNvPr id="7" name="TextBox 6"/>
          <p:cNvSpPr txBox="1"/>
          <p:nvPr/>
        </p:nvSpPr>
        <p:spPr>
          <a:xfrm>
            <a:off x="640080" y="2103120"/>
            <a:ext cx="3291840" cy="1554480"/>
          </a:xfrm>
          <a:prstGeom prst="rect">
            <a:avLst/>
          </a:prstGeom>
          <a:noFill/>
        </p:spPr>
        <p:txBody>
          <a:bodyPr wrap="square">
            <a:spAutoFit/>
          </a:bodyPr>
          <a:lstStyle/>
          <a:p>
            <a:pPr algn="l">
              <a:defRPr sz="1200" b="0">
                <a:solidFill>
                  <a:srgbClr val="ECF0F1"/>
                </a:solidFill>
                <a:latin typeface="Calibri"/>
              </a:defRPr>
            </a:pPr>
            <a:r>
              <a:t>Bhopal Gas Tragedy (1984) remains world's worst industrial disaster.</a:t>
            </a:r>
          </a:p>
        </p:txBody>
      </p:sp>
      <p:sp>
        <p:nvSpPr>
          <p:cNvPr id="8" name="Rounded Rectangle 7"/>
          <p:cNvSpPr/>
          <p:nvPr/>
        </p:nvSpPr>
        <p:spPr>
          <a:xfrm>
            <a:off x="4297680" y="146304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463040"/>
            <a:ext cx="91440" cy="2286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45920"/>
            <a:ext cx="3291840" cy="365760"/>
          </a:xfrm>
          <a:prstGeom prst="rect">
            <a:avLst/>
          </a:prstGeom>
          <a:noFill/>
        </p:spPr>
        <p:txBody>
          <a:bodyPr wrap="square">
            <a:spAutoFit/>
          </a:bodyPr>
          <a:lstStyle/>
          <a:p>
            <a:pPr algn="l">
              <a:defRPr sz="1800" b="1">
                <a:solidFill>
                  <a:srgbClr val="2E86AB"/>
                </a:solidFill>
                <a:latin typeface="Calibri"/>
              </a:defRPr>
            </a:pPr>
            <a:r>
              <a:t>Building Collapses</a:t>
            </a:r>
          </a:p>
        </p:txBody>
      </p:sp>
      <p:sp>
        <p:nvSpPr>
          <p:cNvPr id="11" name="TextBox 10"/>
          <p:cNvSpPr txBox="1"/>
          <p:nvPr/>
        </p:nvSpPr>
        <p:spPr>
          <a:xfrm>
            <a:off x="4572000" y="2103120"/>
            <a:ext cx="3291840" cy="1554480"/>
          </a:xfrm>
          <a:prstGeom prst="rect">
            <a:avLst/>
          </a:prstGeom>
          <a:noFill/>
        </p:spPr>
        <p:txBody>
          <a:bodyPr wrap="square">
            <a:spAutoFit/>
          </a:bodyPr>
          <a:lstStyle/>
          <a:p>
            <a:pPr algn="l">
              <a:defRPr sz="1200" b="0">
                <a:solidFill>
                  <a:srgbClr val="ECF0F1"/>
                </a:solidFill>
                <a:latin typeface="Calibri"/>
              </a:defRPr>
            </a:pPr>
            <a:r>
              <a:t>Rapid, unregulated construction leads to building collapses.</a:t>
            </a:r>
          </a:p>
        </p:txBody>
      </p:sp>
      <p:sp>
        <p:nvSpPr>
          <p:cNvPr id="12" name="Rounded Rectangle 11"/>
          <p:cNvSpPr/>
          <p:nvPr/>
        </p:nvSpPr>
        <p:spPr>
          <a:xfrm>
            <a:off x="8229600" y="146304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463040"/>
            <a:ext cx="91440" cy="2286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0" y="1645920"/>
            <a:ext cx="3291840" cy="365760"/>
          </a:xfrm>
          <a:prstGeom prst="rect">
            <a:avLst/>
          </a:prstGeom>
          <a:noFill/>
        </p:spPr>
        <p:txBody>
          <a:bodyPr wrap="square">
            <a:spAutoFit/>
          </a:bodyPr>
          <a:lstStyle/>
          <a:p>
            <a:pPr algn="l">
              <a:defRPr sz="1800" b="1">
                <a:solidFill>
                  <a:srgbClr val="27AE60"/>
                </a:solidFill>
                <a:latin typeface="Calibri"/>
              </a:defRPr>
            </a:pPr>
            <a:r>
              <a:t>Transportation Accidents</a:t>
            </a:r>
          </a:p>
        </p:txBody>
      </p:sp>
      <p:sp>
        <p:nvSpPr>
          <p:cNvPr id="15" name="TextBox 14"/>
          <p:cNvSpPr txBox="1"/>
          <p:nvPr/>
        </p:nvSpPr>
        <p:spPr>
          <a:xfrm>
            <a:off x="8503920" y="2103120"/>
            <a:ext cx="3291840" cy="1554480"/>
          </a:xfrm>
          <a:prstGeom prst="rect">
            <a:avLst/>
          </a:prstGeom>
          <a:noFill/>
        </p:spPr>
        <p:txBody>
          <a:bodyPr wrap="square">
            <a:spAutoFit/>
          </a:bodyPr>
          <a:lstStyle/>
          <a:p>
            <a:pPr algn="l">
              <a:defRPr sz="1200" b="0">
                <a:solidFill>
                  <a:srgbClr val="ECF0F1"/>
                </a:solidFill>
                <a:latin typeface="Calibri"/>
              </a:defRPr>
            </a:pPr>
            <a:r>
              <a:t>Railway accidents, road crashes due to infrastructure gaps.</a:t>
            </a:r>
          </a:p>
        </p:txBody>
      </p:sp>
      <p:sp>
        <p:nvSpPr>
          <p:cNvPr id="16" name="Rounded Rectangle 15"/>
          <p:cNvSpPr/>
          <p:nvPr/>
        </p:nvSpPr>
        <p:spPr>
          <a:xfrm>
            <a:off x="365760" y="402336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023360"/>
            <a:ext cx="91440" cy="2286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206240"/>
            <a:ext cx="3291840" cy="365760"/>
          </a:xfrm>
          <a:prstGeom prst="rect">
            <a:avLst/>
          </a:prstGeom>
          <a:noFill/>
        </p:spPr>
        <p:txBody>
          <a:bodyPr wrap="square">
            <a:spAutoFit/>
          </a:bodyPr>
          <a:lstStyle/>
          <a:p>
            <a:pPr algn="l">
              <a:defRPr sz="1800" b="1">
                <a:solidFill>
                  <a:srgbClr val="F39C12"/>
                </a:solidFill>
                <a:latin typeface="Calibri"/>
              </a:defRPr>
            </a:pPr>
            <a:r>
              <a:t>Fires</a:t>
            </a:r>
          </a:p>
        </p:txBody>
      </p:sp>
      <p:sp>
        <p:nvSpPr>
          <p:cNvPr id="19" name="TextBox 18"/>
          <p:cNvSpPr txBox="1"/>
          <p:nvPr/>
        </p:nvSpPr>
        <p:spPr>
          <a:xfrm>
            <a:off x="640080" y="4663440"/>
            <a:ext cx="3291840" cy="1554480"/>
          </a:xfrm>
          <a:prstGeom prst="rect">
            <a:avLst/>
          </a:prstGeom>
          <a:noFill/>
        </p:spPr>
        <p:txBody>
          <a:bodyPr wrap="square">
            <a:spAutoFit/>
          </a:bodyPr>
          <a:lstStyle/>
          <a:p>
            <a:pPr algn="l">
              <a:defRPr sz="1200" b="0">
                <a:solidFill>
                  <a:srgbClr val="ECF0F1"/>
                </a:solidFill>
                <a:latin typeface="Calibri"/>
              </a:defRPr>
            </a:pPr>
            <a:r>
              <a:t>Urban fires in slums, commercial areas. Fire safety compliance critical.</a:t>
            </a:r>
          </a:p>
        </p:txBody>
      </p:sp>
      <p:sp>
        <p:nvSpPr>
          <p:cNvPr id="20" name="Rounded Rectangle 19"/>
          <p:cNvSpPr/>
          <p:nvPr/>
        </p:nvSpPr>
        <p:spPr>
          <a:xfrm>
            <a:off x="4297680" y="402336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4023360"/>
            <a:ext cx="91440" cy="22860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0" y="4206240"/>
            <a:ext cx="3291840" cy="365760"/>
          </a:xfrm>
          <a:prstGeom prst="rect">
            <a:avLst/>
          </a:prstGeom>
          <a:noFill/>
        </p:spPr>
        <p:txBody>
          <a:bodyPr wrap="square">
            <a:spAutoFit/>
          </a:bodyPr>
          <a:lstStyle/>
          <a:p>
            <a:pPr algn="l">
              <a:defRPr sz="1800" b="1">
                <a:solidFill>
                  <a:srgbClr val="9B59B6"/>
                </a:solidFill>
                <a:latin typeface="Calibri"/>
              </a:defRPr>
            </a:pPr>
            <a:r>
              <a:t>Nuclear/Chemical Hazards</a:t>
            </a:r>
          </a:p>
        </p:txBody>
      </p:sp>
      <p:sp>
        <p:nvSpPr>
          <p:cNvPr id="23" name="TextBox 22"/>
          <p:cNvSpPr txBox="1"/>
          <p:nvPr/>
        </p:nvSpPr>
        <p:spPr>
          <a:xfrm>
            <a:off x="4572000" y="4663440"/>
            <a:ext cx="3291840" cy="1554480"/>
          </a:xfrm>
          <a:prstGeom prst="rect">
            <a:avLst/>
          </a:prstGeom>
          <a:noFill/>
        </p:spPr>
        <p:txBody>
          <a:bodyPr wrap="square">
            <a:spAutoFit/>
          </a:bodyPr>
          <a:lstStyle/>
          <a:p>
            <a:pPr algn="l">
              <a:defRPr sz="1200" b="0">
                <a:solidFill>
                  <a:srgbClr val="ECF0F1"/>
                </a:solidFill>
                <a:latin typeface="Calibri"/>
              </a:defRPr>
            </a:pPr>
            <a:r>
              <a:t>Proximity of nuclear facilities to population centers.</a:t>
            </a:r>
          </a:p>
        </p:txBody>
      </p:sp>
      <p:sp>
        <p:nvSpPr>
          <p:cNvPr id="24" name="Rounded Rectangle 23"/>
          <p:cNvSpPr/>
          <p:nvPr/>
        </p:nvSpPr>
        <p:spPr>
          <a:xfrm>
            <a:off x="8229600" y="4023360"/>
            <a:ext cx="36576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4023360"/>
            <a:ext cx="91440" cy="2286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3920" y="4206240"/>
            <a:ext cx="3291840" cy="365760"/>
          </a:xfrm>
          <a:prstGeom prst="rect">
            <a:avLst/>
          </a:prstGeom>
          <a:noFill/>
        </p:spPr>
        <p:txBody>
          <a:bodyPr wrap="square">
            <a:spAutoFit/>
          </a:bodyPr>
          <a:lstStyle/>
          <a:p>
            <a:pPr algn="l">
              <a:defRPr sz="1800" b="1">
                <a:solidFill>
                  <a:srgbClr val="E74C3C"/>
                </a:solidFill>
                <a:latin typeface="Calibri"/>
              </a:defRPr>
            </a:pPr>
            <a:r>
              <a:t>Infrastructure Failures</a:t>
            </a:r>
          </a:p>
        </p:txBody>
      </p:sp>
      <p:sp>
        <p:nvSpPr>
          <p:cNvPr id="27" name="TextBox 26"/>
          <p:cNvSpPr txBox="1"/>
          <p:nvPr/>
        </p:nvSpPr>
        <p:spPr>
          <a:xfrm>
            <a:off x="8503920" y="4663440"/>
            <a:ext cx="3291840" cy="1554480"/>
          </a:xfrm>
          <a:prstGeom prst="rect">
            <a:avLst/>
          </a:prstGeom>
          <a:noFill/>
        </p:spPr>
        <p:txBody>
          <a:bodyPr wrap="square">
            <a:spAutoFit/>
          </a:bodyPr>
          <a:lstStyle/>
          <a:p>
            <a:pPr algn="l">
              <a:defRPr sz="1200" b="0">
                <a:solidFill>
                  <a:srgbClr val="ECF0F1"/>
                </a:solidFill>
                <a:latin typeface="Calibri"/>
              </a:defRPr>
            </a:pPr>
            <a:r>
              <a:t>Dam failures, bridge collapses can cascade into large-scale disasters.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INDIA'S DISASTER PROFILE - KEY STATISTICS</a:t>
            </a:r>
          </a:p>
        </p:txBody>
      </p:sp>
      <p:sp>
        <p:nvSpPr>
          <p:cNvPr id="4" name="Rounded Rectangle 3"/>
          <p:cNvSpPr/>
          <p:nvPr/>
        </p:nvSpPr>
        <p:spPr>
          <a:xfrm>
            <a:off x="457200" y="146304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645920"/>
            <a:ext cx="2560320" cy="731520"/>
          </a:xfrm>
          <a:prstGeom prst="rect">
            <a:avLst/>
          </a:prstGeom>
          <a:noFill/>
        </p:spPr>
        <p:txBody>
          <a:bodyPr wrap="square">
            <a:spAutoFit/>
          </a:bodyPr>
          <a:lstStyle/>
          <a:p>
            <a:pPr algn="ctr">
              <a:defRPr sz="3600" b="1">
                <a:solidFill>
                  <a:srgbClr val="E83E3E"/>
                </a:solidFill>
                <a:latin typeface="Calibri"/>
              </a:defRPr>
            </a:pPr>
            <a:r>
              <a:t>58.6%</a:t>
            </a:r>
          </a:p>
        </p:txBody>
      </p:sp>
      <p:sp>
        <p:nvSpPr>
          <p:cNvPr id="6" name="TextBox 5"/>
          <p:cNvSpPr txBox="1"/>
          <p:nvPr/>
        </p:nvSpPr>
        <p:spPr>
          <a:xfrm>
            <a:off x="457200" y="2377440"/>
            <a:ext cx="2560320" cy="548640"/>
          </a:xfrm>
          <a:prstGeom prst="rect">
            <a:avLst/>
          </a:prstGeom>
          <a:noFill/>
        </p:spPr>
        <p:txBody>
          <a:bodyPr wrap="square">
            <a:spAutoFit/>
          </a:bodyPr>
          <a:lstStyle/>
          <a:p>
            <a:pPr algn="ctr">
              <a:defRPr sz="1400" b="0">
                <a:solidFill>
                  <a:srgbClr val="ECF0F1"/>
                </a:solidFill>
                <a:latin typeface="Calibri"/>
              </a:defRPr>
            </a:pPr>
            <a:r>
              <a:t>of land area is</a:t>
            </a:r>
            <a:br/>
            <a:r>
              <a:t>earthquake prone</a:t>
            </a:r>
          </a:p>
        </p:txBody>
      </p:sp>
      <p:sp>
        <p:nvSpPr>
          <p:cNvPr id="7" name="Rounded Rectangle 6"/>
          <p:cNvSpPr/>
          <p:nvPr/>
        </p:nvSpPr>
        <p:spPr>
          <a:xfrm>
            <a:off x="3383280" y="146304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383280" y="1645920"/>
            <a:ext cx="2560320" cy="731520"/>
          </a:xfrm>
          <a:prstGeom prst="rect">
            <a:avLst/>
          </a:prstGeom>
          <a:noFill/>
        </p:spPr>
        <p:txBody>
          <a:bodyPr wrap="square">
            <a:spAutoFit/>
          </a:bodyPr>
          <a:lstStyle/>
          <a:p>
            <a:pPr algn="ctr">
              <a:defRPr sz="3600" b="1">
                <a:solidFill>
                  <a:srgbClr val="2E86AB"/>
                </a:solidFill>
                <a:latin typeface="Calibri"/>
              </a:defRPr>
            </a:pPr>
            <a:r>
              <a:t>5,700 km</a:t>
            </a:r>
          </a:p>
        </p:txBody>
      </p:sp>
      <p:sp>
        <p:nvSpPr>
          <p:cNvPr id="9" name="TextBox 8"/>
          <p:cNvSpPr txBox="1"/>
          <p:nvPr/>
        </p:nvSpPr>
        <p:spPr>
          <a:xfrm>
            <a:off x="3383280" y="2377440"/>
            <a:ext cx="2560320" cy="548640"/>
          </a:xfrm>
          <a:prstGeom prst="rect">
            <a:avLst/>
          </a:prstGeom>
          <a:noFill/>
        </p:spPr>
        <p:txBody>
          <a:bodyPr wrap="square">
            <a:spAutoFit/>
          </a:bodyPr>
          <a:lstStyle/>
          <a:p>
            <a:pPr algn="ctr">
              <a:defRPr sz="1400" b="0">
                <a:solidFill>
                  <a:srgbClr val="ECF0F1"/>
                </a:solidFill>
                <a:latin typeface="Calibri"/>
              </a:defRPr>
            </a:pPr>
            <a:r>
              <a:t>of coastline vulnerable</a:t>
            </a:r>
            <a:br/>
            <a:r>
              <a:t>to cyclones &amp; tsunamis</a:t>
            </a:r>
          </a:p>
        </p:txBody>
      </p:sp>
      <p:sp>
        <p:nvSpPr>
          <p:cNvPr id="10" name="Rounded Rectangle 9"/>
          <p:cNvSpPr/>
          <p:nvPr/>
        </p:nvSpPr>
        <p:spPr>
          <a:xfrm>
            <a:off x="6309360" y="146304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09360" y="1645920"/>
            <a:ext cx="2560320" cy="731520"/>
          </a:xfrm>
          <a:prstGeom prst="rect">
            <a:avLst/>
          </a:prstGeom>
          <a:noFill/>
        </p:spPr>
        <p:txBody>
          <a:bodyPr wrap="square">
            <a:spAutoFit/>
          </a:bodyPr>
          <a:lstStyle/>
          <a:p>
            <a:pPr algn="ctr">
              <a:defRPr sz="3600" b="1">
                <a:solidFill>
                  <a:srgbClr val="27AE60"/>
                </a:solidFill>
                <a:latin typeface="Calibri"/>
              </a:defRPr>
            </a:pPr>
            <a:r>
              <a:t>40 million</a:t>
            </a:r>
          </a:p>
        </p:txBody>
      </p:sp>
      <p:sp>
        <p:nvSpPr>
          <p:cNvPr id="12" name="TextBox 11"/>
          <p:cNvSpPr txBox="1"/>
          <p:nvPr/>
        </p:nvSpPr>
        <p:spPr>
          <a:xfrm>
            <a:off x="6309360" y="2377440"/>
            <a:ext cx="2560320" cy="548640"/>
          </a:xfrm>
          <a:prstGeom prst="rect">
            <a:avLst/>
          </a:prstGeom>
          <a:noFill/>
        </p:spPr>
        <p:txBody>
          <a:bodyPr wrap="square">
            <a:spAutoFit/>
          </a:bodyPr>
          <a:lstStyle/>
          <a:p>
            <a:pPr algn="ctr">
              <a:defRPr sz="1400" b="0">
                <a:solidFill>
                  <a:srgbClr val="ECF0F1"/>
                </a:solidFill>
                <a:latin typeface="Calibri"/>
              </a:defRPr>
            </a:pPr>
            <a:r>
              <a:t>hectares of flood</a:t>
            </a:r>
            <a:br/>
            <a:r>
              <a:t>prone area</a:t>
            </a:r>
          </a:p>
        </p:txBody>
      </p:sp>
      <p:sp>
        <p:nvSpPr>
          <p:cNvPr id="13" name="Rounded Rectangle 12"/>
          <p:cNvSpPr/>
          <p:nvPr/>
        </p:nvSpPr>
        <p:spPr>
          <a:xfrm>
            <a:off x="9235440" y="146304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1645920"/>
            <a:ext cx="2560320" cy="731520"/>
          </a:xfrm>
          <a:prstGeom prst="rect">
            <a:avLst/>
          </a:prstGeom>
          <a:noFill/>
        </p:spPr>
        <p:txBody>
          <a:bodyPr wrap="square">
            <a:spAutoFit/>
          </a:bodyPr>
          <a:lstStyle/>
          <a:p>
            <a:pPr algn="ctr">
              <a:defRPr sz="3600" b="1">
                <a:solidFill>
                  <a:srgbClr val="F39C12"/>
                </a:solidFill>
                <a:latin typeface="Calibri"/>
              </a:defRPr>
            </a:pPr>
            <a:r>
              <a:t>68%</a:t>
            </a:r>
          </a:p>
        </p:txBody>
      </p:sp>
      <p:sp>
        <p:nvSpPr>
          <p:cNvPr id="15" name="TextBox 14"/>
          <p:cNvSpPr txBox="1"/>
          <p:nvPr/>
        </p:nvSpPr>
        <p:spPr>
          <a:xfrm>
            <a:off x="9235440" y="2377440"/>
            <a:ext cx="2560320" cy="548640"/>
          </a:xfrm>
          <a:prstGeom prst="rect">
            <a:avLst/>
          </a:prstGeom>
          <a:noFill/>
        </p:spPr>
        <p:txBody>
          <a:bodyPr wrap="square">
            <a:spAutoFit/>
          </a:bodyPr>
          <a:lstStyle/>
          <a:p>
            <a:pPr algn="ctr">
              <a:defRPr sz="1400" b="0">
                <a:solidFill>
                  <a:srgbClr val="ECF0F1"/>
                </a:solidFill>
                <a:latin typeface="Calibri"/>
              </a:defRPr>
            </a:pPr>
            <a:r>
              <a:t>of land is drought</a:t>
            </a:r>
            <a:br/>
            <a:r>
              <a:t>prone</a:t>
            </a:r>
          </a:p>
        </p:txBody>
      </p:sp>
      <p:sp>
        <p:nvSpPr>
          <p:cNvPr id="16" name="Rounded Rectangle 15"/>
          <p:cNvSpPr/>
          <p:nvPr/>
        </p:nvSpPr>
        <p:spPr>
          <a:xfrm>
            <a:off x="457200" y="347472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 y="3657600"/>
            <a:ext cx="2560320" cy="731520"/>
          </a:xfrm>
          <a:prstGeom prst="rect">
            <a:avLst/>
          </a:prstGeom>
          <a:noFill/>
        </p:spPr>
        <p:txBody>
          <a:bodyPr wrap="square">
            <a:spAutoFit/>
          </a:bodyPr>
          <a:lstStyle/>
          <a:p>
            <a:pPr algn="ctr">
              <a:defRPr sz="3600" b="1">
                <a:solidFill>
                  <a:srgbClr val="9B59B6"/>
                </a:solidFill>
                <a:latin typeface="Calibri"/>
              </a:defRPr>
            </a:pPr>
            <a:r>
              <a:t>7th</a:t>
            </a:r>
          </a:p>
        </p:txBody>
      </p:sp>
      <p:sp>
        <p:nvSpPr>
          <p:cNvPr id="18" name="TextBox 17"/>
          <p:cNvSpPr txBox="1"/>
          <p:nvPr/>
        </p:nvSpPr>
        <p:spPr>
          <a:xfrm>
            <a:off x="457200" y="4389120"/>
            <a:ext cx="2560320" cy="548640"/>
          </a:xfrm>
          <a:prstGeom prst="rect">
            <a:avLst/>
          </a:prstGeom>
          <a:noFill/>
        </p:spPr>
        <p:txBody>
          <a:bodyPr wrap="square">
            <a:spAutoFit/>
          </a:bodyPr>
          <a:lstStyle/>
          <a:p>
            <a:pPr algn="ctr">
              <a:defRPr sz="1400" b="0">
                <a:solidFill>
                  <a:srgbClr val="ECF0F1"/>
                </a:solidFill>
                <a:latin typeface="Calibri"/>
              </a:defRPr>
            </a:pPr>
            <a:r>
              <a:t>most disaster-prone</a:t>
            </a:r>
            <a:br/>
            <a:r>
              <a:t>country globally</a:t>
            </a:r>
          </a:p>
        </p:txBody>
      </p:sp>
      <p:sp>
        <p:nvSpPr>
          <p:cNvPr id="19" name="Rounded Rectangle 18"/>
          <p:cNvSpPr/>
          <p:nvPr/>
        </p:nvSpPr>
        <p:spPr>
          <a:xfrm>
            <a:off x="3383280" y="347472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83280" y="3657600"/>
            <a:ext cx="2560320" cy="731520"/>
          </a:xfrm>
          <a:prstGeom prst="rect">
            <a:avLst/>
          </a:prstGeom>
          <a:noFill/>
        </p:spPr>
        <p:txBody>
          <a:bodyPr wrap="square">
            <a:spAutoFit/>
          </a:bodyPr>
          <a:lstStyle/>
          <a:p>
            <a:pPr algn="ctr">
              <a:defRPr sz="3600" b="1">
                <a:solidFill>
                  <a:srgbClr val="1ABC9C"/>
                </a:solidFill>
                <a:latin typeface="Calibri"/>
              </a:defRPr>
            </a:pPr>
            <a:r>
              <a:t>28 states</a:t>
            </a:r>
          </a:p>
        </p:txBody>
      </p:sp>
      <p:sp>
        <p:nvSpPr>
          <p:cNvPr id="21" name="TextBox 20"/>
          <p:cNvSpPr txBox="1"/>
          <p:nvPr/>
        </p:nvSpPr>
        <p:spPr>
          <a:xfrm>
            <a:off x="3383280" y="4389120"/>
            <a:ext cx="2560320" cy="548640"/>
          </a:xfrm>
          <a:prstGeom prst="rect">
            <a:avLst/>
          </a:prstGeom>
          <a:noFill/>
        </p:spPr>
        <p:txBody>
          <a:bodyPr wrap="square">
            <a:spAutoFit/>
          </a:bodyPr>
          <a:lstStyle/>
          <a:p>
            <a:pPr algn="ctr">
              <a:defRPr sz="1400" b="0">
                <a:solidFill>
                  <a:srgbClr val="ECF0F1"/>
                </a:solidFill>
                <a:latin typeface="Calibri"/>
              </a:defRPr>
            </a:pPr>
            <a:r>
              <a:t>affected by one or</a:t>
            </a:r>
            <a:br/>
            <a:r>
              <a:t>more natural hazards</a:t>
            </a:r>
          </a:p>
        </p:txBody>
      </p:sp>
      <p:sp>
        <p:nvSpPr>
          <p:cNvPr id="22" name="Rounded Rectangle 21"/>
          <p:cNvSpPr/>
          <p:nvPr/>
        </p:nvSpPr>
        <p:spPr>
          <a:xfrm>
            <a:off x="6309360" y="347472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09360" y="3657600"/>
            <a:ext cx="2560320" cy="731520"/>
          </a:xfrm>
          <a:prstGeom prst="rect">
            <a:avLst/>
          </a:prstGeom>
          <a:noFill/>
        </p:spPr>
        <p:txBody>
          <a:bodyPr wrap="square">
            <a:spAutoFit/>
          </a:bodyPr>
          <a:lstStyle/>
          <a:p>
            <a:pPr algn="ctr">
              <a:defRPr sz="3600" b="1">
                <a:solidFill>
                  <a:srgbClr val="E74C3C"/>
                </a:solidFill>
                <a:latin typeface="Calibri"/>
              </a:defRPr>
            </a:pPr>
            <a:r>
              <a:t>$10B+</a:t>
            </a:r>
          </a:p>
        </p:txBody>
      </p:sp>
      <p:sp>
        <p:nvSpPr>
          <p:cNvPr id="24" name="TextBox 23"/>
          <p:cNvSpPr txBox="1"/>
          <p:nvPr/>
        </p:nvSpPr>
        <p:spPr>
          <a:xfrm>
            <a:off x="6309360" y="4389120"/>
            <a:ext cx="2560320" cy="548640"/>
          </a:xfrm>
          <a:prstGeom prst="rect">
            <a:avLst/>
          </a:prstGeom>
          <a:noFill/>
        </p:spPr>
        <p:txBody>
          <a:bodyPr wrap="square">
            <a:spAutoFit/>
          </a:bodyPr>
          <a:lstStyle/>
          <a:p>
            <a:pPr algn="ctr">
              <a:defRPr sz="1400" b="0">
                <a:solidFill>
                  <a:srgbClr val="ECF0F1"/>
                </a:solidFill>
                <a:latin typeface="Calibri"/>
              </a:defRPr>
            </a:pPr>
            <a:r>
              <a:t>annual economic</a:t>
            </a:r>
            <a:br/>
            <a:r>
              <a:t>loss from disasters</a:t>
            </a:r>
          </a:p>
        </p:txBody>
      </p:sp>
      <p:sp>
        <p:nvSpPr>
          <p:cNvPr id="25" name="Rounded Rectangle 24"/>
          <p:cNvSpPr/>
          <p:nvPr/>
        </p:nvSpPr>
        <p:spPr>
          <a:xfrm>
            <a:off x="9235440" y="347472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35440" y="3657600"/>
            <a:ext cx="2560320" cy="731520"/>
          </a:xfrm>
          <a:prstGeom prst="rect">
            <a:avLst/>
          </a:prstGeom>
          <a:noFill/>
        </p:spPr>
        <p:txBody>
          <a:bodyPr wrap="square">
            <a:spAutoFit/>
          </a:bodyPr>
          <a:lstStyle/>
          <a:p>
            <a:pPr algn="ctr">
              <a:defRPr sz="3600" b="1">
                <a:solidFill>
                  <a:srgbClr val="F39C12"/>
                </a:solidFill>
                <a:latin typeface="Calibri"/>
              </a:defRPr>
            </a:pPr>
            <a:r>
              <a:t>Zone IV-V</a:t>
            </a:r>
          </a:p>
        </p:txBody>
      </p:sp>
      <p:sp>
        <p:nvSpPr>
          <p:cNvPr id="27" name="TextBox 26"/>
          <p:cNvSpPr txBox="1"/>
          <p:nvPr/>
        </p:nvSpPr>
        <p:spPr>
          <a:xfrm>
            <a:off x="9235440" y="4389120"/>
            <a:ext cx="2560320" cy="548640"/>
          </a:xfrm>
          <a:prstGeom prst="rect">
            <a:avLst/>
          </a:prstGeom>
          <a:noFill/>
        </p:spPr>
        <p:txBody>
          <a:bodyPr wrap="square">
            <a:spAutoFit/>
          </a:bodyPr>
          <a:lstStyle/>
          <a:p>
            <a:pPr algn="ctr">
              <a:defRPr sz="1400" b="0">
                <a:solidFill>
                  <a:srgbClr val="ECF0F1"/>
                </a:solidFill>
                <a:latin typeface="Calibri"/>
              </a:defRPr>
            </a:pPr>
            <a:r>
              <a:t>high seismic risk</a:t>
            </a:r>
            <a:br/>
            <a:r>
              <a:t>for northern India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106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106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03</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Historical Disaster Events</a:t>
            </a:r>
            <a:br/>
            <a:r>
              <a:t>in India</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MAJOR HISTORICAL DISASTERS - TIMELINE</a:t>
            </a:r>
          </a:p>
        </p:txBody>
      </p:sp>
      <p:sp>
        <p:nvSpPr>
          <p:cNvPr id="4" name="Rounded Rectangle 3"/>
          <p:cNvSpPr/>
          <p:nvPr/>
        </p:nvSpPr>
        <p:spPr>
          <a:xfrm>
            <a:off x="182880" y="137160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68680" y="1508760"/>
            <a:ext cx="822960" cy="822960"/>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822960" cy="457200"/>
          </a:xfrm>
          <a:prstGeom prst="rect">
            <a:avLst/>
          </a:prstGeom>
          <a:noFill/>
        </p:spPr>
        <p:txBody>
          <a:bodyPr wrap="square">
            <a:spAutoFit/>
          </a:bodyPr>
          <a:lstStyle/>
          <a:p>
            <a:pPr algn="ctr">
              <a:defRPr sz="1600" b="1">
                <a:solidFill>
                  <a:srgbClr val="FFFFFF"/>
                </a:solidFill>
                <a:latin typeface="Calibri"/>
              </a:defRPr>
            </a:pPr>
            <a:r>
              <a:t>1971</a:t>
            </a:r>
          </a:p>
        </p:txBody>
      </p:sp>
      <p:sp>
        <p:nvSpPr>
          <p:cNvPr id="7" name="TextBox 6"/>
          <p:cNvSpPr txBox="1"/>
          <p:nvPr/>
        </p:nvSpPr>
        <p:spPr>
          <a:xfrm>
            <a:off x="320040" y="2468880"/>
            <a:ext cx="1920240" cy="365760"/>
          </a:xfrm>
          <a:prstGeom prst="rect">
            <a:avLst/>
          </a:prstGeom>
          <a:noFill/>
        </p:spPr>
        <p:txBody>
          <a:bodyPr wrap="square">
            <a:spAutoFit/>
          </a:bodyPr>
          <a:lstStyle/>
          <a:p>
            <a:pPr algn="ctr">
              <a:defRPr sz="1300" b="1">
                <a:solidFill>
                  <a:srgbClr val="E83E3E"/>
                </a:solidFill>
                <a:latin typeface="Calibri"/>
              </a:defRPr>
            </a:pPr>
            <a:r>
              <a:t>Bihar Floods</a:t>
            </a:r>
          </a:p>
        </p:txBody>
      </p:sp>
      <p:sp>
        <p:nvSpPr>
          <p:cNvPr id="8" name="TextBox 7"/>
          <p:cNvSpPr txBox="1"/>
          <p:nvPr/>
        </p:nvSpPr>
        <p:spPr>
          <a:xfrm>
            <a:off x="320040" y="2834640"/>
            <a:ext cx="1920240" cy="822960"/>
          </a:xfrm>
          <a:prstGeom prst="rect">
            <a:avLst/>
          </a:prstGeom>
          <a:noFill/>
        </p:spPr>
        <p:txBody>
          <a:bodyPr wrap="square">
            <a:spAutoFit/>
          </a:bodyPr>
          <a:lstStyle/>
          <a:p>
            <a:pPr algn="ctr">
              <a:defRPr sz="1000" b="0">
                <a:solidFill>
                  <a:srgbClr val="ECF0F1"/>
                </a:solidFill>
                <a:latin typeface="Calibri"/>
              </a:defRPr>
            </a:pPr>
            <a:r>
              <a:t>Over 1,800 deaths; massive displacement.</a:t>
            </a:r>
          </a:p>
        </p:txBody>
      </p:sp>
      <p:sp>
        <p:nvSpPr>
          <p:cNvPr id="9" name="Rounded Rectangle 8"/>
          <p:cNvSpPr/>
          <p:nvPr/>
        </p:nvSpPr>
        <p:spPr>
          <a:xfrm>
            <a:off x="2560320" y="137160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246120" y="1508760"/>
            <a:ext cx="822960" cy="8229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46120" y="1645920"/>
            <a:ext cx="822960" cy="457200"/>
          </a:xfrm>
          <a:prstGeom prst="rect">
            <a:avLst/>
          </a:prstGeom>
          <a:noFill/>
        </p:spPr>
        <p:txBody>
          <a:bodyPr wrap="square">
            <a:spAutoFit/>
          </a:bodyPr>
          <a:lstStyle/>
          <a:p>
            <a:pPr algn="ctr">
              <a:defRPr sz="1600" b="1">
                <a:solidFill>
                  <a:srgbClr val="FFFFFF"/>
                </a:solidFill>
                <a:latin typeface="Calibri"/>
              </a:defRPr>
            </a:pPr>
            <a:r>
              <a:t>1984</a:t>
            </a:r>
          </a:p>
        </p:txBody>
      </p:sp>
      <p:sp>
        <p:nvSpPr>
          <p:cNvPr id="12" name="TextBox 11"/>
          <p:cNvSpPr txBox="1"/>
          <p:nvPr/>
        </p:nvSpPr>
        <p:spPr>
          <a:xfrm>
            <a:off x="2697480" y="2468880"/>
            <a:ext cx="1920240" cy="365760"/>
          </a:xfrm>
          <a:prstGeom prst="rect">
            <a:avLst/>
          </a:prstGeom>
          <a:noFill/>
        </p:spPr>
        <p:txBody>
          <a:bodyPr wrap="square">
            <a:spAutoFit/>
          </a:bodyPr>
          <a:lstStyle/>
          <a:p>
            <a:pPr algn="ctr">
              <a:defRPr sz="1300" b="1">
                <a:solidFill>
                  <a:srgbClr val="2E86AB"/>
                </a:solidFill>
                <a:latin typeface="Calibri"/>
              </a:defRPr>
            </a:pPr>
            <a:r>
              <a:t>Bhopal Gas Tragedy</a:t>
            </a:r>
          </a:p>
        </p:txBody>
      </p:sp>
      <p:sp>
        <p:nvSpPr>
          <p:cNvPr id="13" name="TextBox 12"/>
          <p:cNvSpPr txBox="1"/>
          <p:nvPr/>
        </p:nvSpPr>
        <p:spPr>
          <a:xfrm>
            <a:off x="2697480" y="2834640"/>
            <a:ext cx="1920240" cy="822960"/>
          </a:xfrm>
          <a:prstGeom prst="rect">
            <a:avLst/>
          </a:prstGeom>
          <a:noFill/>
        </p:spPr>
        <p:txBody>
          <a:bodyPr wrap="square">
            <a:spAutoFit/>
          </a:bodyPr>
          <a:lstStyle/>
          <a:p>
            <a:pPr algn="ctr">
              <a:defRPr sz="1000" b="0">
                <a:solidFill>
                  <a:srgbClr val="ECF0F1"/>
                </a:solidFill>
                <a:latin typeface="Calibri"/>
              </a:defRPr>
            </a:pPr>
            <a:r>
              <a:t>3,000+ dead; 500,000+ exposed.</a:t>
            </a:r>
          </a:p>
        </p:txBody>
      </p:sp>
      <p:sp>
        <p:nvSpPr>
          <p:cNvPr id="14" name="Rounded Rectangle 13"/>
          <p:cNvSpPr/>
          <p:nvPr/>
        </p:nvSpPr>
        <p:spPr>
          <a:xfrm>
            <a:off x="4937760" y="137160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5623560" y="1508760"/>
            <a:ext cx="822960" cy="82296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623560" y="1645920"/>
            <a:ext cx="822960" cy="457200"/>
          </a:xfrm>
          <a:prstGeom prst="rect">
            <a:avLst/>
          </a:prstGeom>
          <a:noFill/>
        </p:spPr>
        <p:txBody>
          <a:bodyPr wrap="square">
            <a:spAutoFit/>
          </a:bodyPr>
          <a:lstStyle/>
          <a:p>
            <a:pPr algn="ctr">
              <a:defRPr sz="1600" b="1">
                <a:solidFill>
                  <a:srgbClr val="FFFFFF"/>
                </a:solidFill>
                <a:latin typeface="Calibri"/>
              </a:defRPr>
            </a:pPr>
            <a:r>
              <a:t>1999</a:t>
            </a:r>
          </a:p>
        </p:txBody>
      </p:sp>
      <p:sp>
        <p:nvSpPr>
          <p:cNvPr id="17" name="TextBox 16"/>
          <p:cNvSpPr txBox="1"/>
          <p:nvPr/>
        </p:nvSpPr>
        <p:spPr>
          <a:xfrm>
            <a:off x="5074920" y="2468880"/>
            <a:ext cx="1920240" cy="365760"/>
          </a:xfrm>
          <a:prstGeom prst="rect">
            <a:avLst/>
          </a:prstGeom>
          <a:noFill/>
        </p:spPr>
        <p:txBody>
          <a:bodyPr wrap="square">
            <a:spAutoFit/>
          </a:bodyPr>
          <a:lstStyle/>
          <a:p>
            <a:pPr algn="ctr">
              <a:defRPr sz="1300" b="1">
                <a:solidFill>
                  <a:srgbClr val="27AE60"/>
                </a:solidFill>
                <a:latin typeface="Calibri"/>
              </a:defRPr>
            </a:pPr>
            <a:r>
              <a:t>Odisha Cyclone</a:t>
            </a:r>
          </a:p>
        </p:txBody>
      </p:sp>
      <p:sp>
        <p:nvSpPr>
          <p:cNvPr id="18" name="TextBox 17"/>
          <p:cNvSpPr txBox="1"/>
          <p:nvPr/>
        </p:nvSpPr>
        <p:spPr>
          <a:xfrm>
            <a:off x="5074920" y="2834640"/>
            <a:ext cx="1920240" cy="822960"/>
          </a:xfrm>
          <a:prstGeom prst="rect">
            <a:avLst/>
          </a:prstGeom>
          <a:noFill/>
        </p:spPr>
        <p:txBody>
          <a:bodyPr wrap="square">
            <a:spAutoFit/>
          </a:bodyPr>
          <a:lstStyle/>
          <a:p>
            <a:pPr algn="ctr">
              <a:defRPr sz="1000" b="0">
                <a:solidFill>
                  <a:srgbClr val="ECF0F1"/>
                </a:solidFill>
                <a:latin typeface="Calibri"/>
              </a:defRPr>
            </a:pPr>
            <a:r>
              <a:t>10,000+ deaths; 15 million affected.</a:t>
            </a:r>
          </a:p>
        </p:txBody>
      </p:sp>
      <p:sp>
        <p:nvSpPr>
          <p:cNvPr id="19" name="Rounded Rectangle 18"/>
          <p:cNvSpPr/>
          <p:nvPr/>
        </p:nvSpPr>
        <p:spPr>
          <a:xfrm>
            <a:off x="7315200" y="137160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001000" y="1508760"/>
            <a:ext cx="822960" cy="82296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01000" y="1645920"/>
            <a:ext cx="822960" cy="457200"/>
          </a:xfrm>
          <a:prstGeom prst="rect">
            <a:avLst/>
          </a:prstGeom>
          <a:noFill/>
        </p:spPr>
        <p:txBody>
          <a:bodyPr wrap="square">
            <a:spAutoFit/>
          </a:bodyPr>
          <a:lstStyle/>
          <a:p>
            <a:pPr algn="ctr">
              <a:defRPr sz="1600" b="1">
                <a:solidFill>
                  <a:srgbClr val="FFFFFF"/>
                </a:solidFill>
                <a:latin typeface="Calibri"/>
              </a:defRPr>
            </a:pPr>
            <a:r>
              <a:t>2001</a:t>
            </a:r>
          </a:p>
        </p:txBody>
      </p:sp>
      <p:sp>
        <p:nvSpPr>
          <p:cNvPr id="22" name="TextBox 21"/>
          <p:cNvSpPr txBox="1"/>
          <p:nvPr/>
        </p:nvSpPr>
        <p:spPr>
          <a:xfrm>
            <a:off x="7452360" y="2468880"/>
            <a:ext cx="1920240" cy="365760"/>
          </a:xfrm>
          <a:prstGeom prst="rect">
            <a:avLst/>
          </a:prstGeom>
          <a:noFill/>
        </p:spPr>
        <p:txBody>
          <a:bodyPr wrap="square">
            <a:spAutoFit/>
          </a:bodyPr>
          <a:lstStyle/>
          <a:p>
            <a:pPr algn="ctr">
              <a:defRPr sz="1300" b="1">
                <a:solidFill>
                  <a:srgbClr val="F39C12"/>
                </a:solidFill>
                <a:latin typeface="Calibri"/>
              </a:defRPr>
            </a:pPr>
            <a:r>
              <a:t>Gujarat Earthquake</a:t>
            </a:r>
          </a:p>
        </p:txBody>
      </p:sp>
      <p:sp>
        <p:nvSpPr>
          <p:cNvPr id="23" name="TextBox 22"/>
          <p:cNvSpPr txBox="1"/>
          <p:nvPr/>
        </p:nvSpPr>
        <p:spPr>
          <a:xfrm>
            <a:off x="7452360" y="2834640"/>
            <a:ext cx="1920240" cy="822960"/>
          </a:xfrm>
          <a:prstGeom prst="rect">
            <a:avLst/>
          </a:prstGeom>
          <a:noFill/>
        </p:spPr>
        <p:txBody>
          <a:bodyPr wrap="square">
            <a:spAutoFit/>
          </a:bodyPr>
          <a:lstStyle/>
          <a:p>
            <a:pPr algn="ctr">
              <a:defRPr sz="1000" b="0">
                <a:solidFill>
                  <a:srgbClr val="ECF0F1"/>
                </a:solidFill>
                <a:latin typeface="Calibri"/>
              </a:defRPr>
            </a:pPr>
            <a:r>
              <a:t>20,000+ dead; Magnitude 7.7.</a:t>
            </a:r>
          </a:p>
        </p:txBody>
      </p:sp>
      <p:sp>
        <p:nvSpPr>
          <p:cNvPr id="24" name="Rounded Rectangle 23"/>
          <p:cNvSpPr/>
          <p:nvPr/>
        </p:nvSpPr>
        <p:spPr>
          <a:xfrm>
            <a:off x="9692640" y="137160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378440" y="1508760"/>
            <a:ext cx="822960" cy="822960"/>
          </a:xfrm>
          <a:prstGeom prst="ellipse">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78440" y="1645920"/>
            <a:ext cx="822960" cy="457200"/>
          </a:xfrm>
          <a:prstGeom prst="rect">
            <a:avLst/>
          </a:prstGeom>
          <a:noFill/>
        </p:spPr>
        <p:txBody>
          <a:bodyPr wrap="square">
            <a:spAutoFit/>
          </a:bodyPr>
          <a:lstStyle/>
          <a:p>
            <a:pPr algn="ctr">
              <a:defRPr sz="1600" b="1">
                <a:solidFill>
                  <a:srgbClr val="FFFFFF"/>
                </a:solidFill>
                <a:latin typeface="Calibri"/>
              </a:defRPr>
            </a:pPr>
            <a:r>
              <a:t>2004</a:t>
            </a:r>
          </a:p>
        </p:txBody>
      </p:sp>
      <p:sp>
        <p:nvSpPr>
          <p:cNvPr id="27" name="TextBox 26"/>
          <p:cNvSpPr txBox="1"/>
          <p:nvPr/>
        </p:nvSpPr>
        <p:spPr>
          <a:xfrm>
            <a:off x="9829800" y="2468880"/>
            <a:ext cx="1920240" cy="365760"/>
          </a:xfrm>
          <a:prstGeom prst="rect">
            <a:avLst/>
          </a:prstGeom>
          <a:noFill/>
        </p:spPr>
        <p:txBody>
          <a:bodyPr wrap="square">
            <a:spAutoFit/>
          </a:bodyPr>
          <a:lstStyle/>
          <a:p>
            <a:pPr algn="ctr">
              <a:defRPr sz="1300" b="1">
                <a:solidFill>
                  <a:srgbClr val="9B59B6"/>
                </a:solidFill>
                <a:latin typeface="Calibri"/>
              </a:defRPr>
            </a:pPr>
            <a:r>
              <a:t>Indian Ocean Tsunami</a:t>
            </a:r>
          </a:p>
        </p:txBody>
      </p:sp>
      <p:sp>
        <p:nvSpPr>
          <p:cNvPr id="28" name="TextBox 27"/>
          <p:cNvSpPr txBox="1"/>
          <p:nvPr/>
        </p:nvSpPr>
        <p:spPr>
          <a:xfrm>
            <a:off x="9829800" y="2834640"/>
            <a:ext cx="1920240" cy="822960"/>
          </a:xfrm>
          <a:prstGeom prst="rect">
            <a:avLst/>
          </a:prstGeom>
          <a:noFill/>
        </p:spPr>
        <p:txBody>
          <a:bodyPr wrap="square">
            <a:spAutoFit/>
          </a:bodyPr>
          <a:lstStyle/>
          <a:p>
            <a:pPr algn="ctr">
              <a:defRPr sz="1000" b="0">
                <a:solidFill>
                  <a:srgbClr val="ECF0F1"/>
                </a:solidFill>
                <a:latin typeface="Calibri"/>
              </a:defRPr>
            </a:pPr>
            <a:r>
              <a:t>12,000+ deaths in India.</a:t>
            </a:r>
          </a:p>
        </p:txBody>
      </p:sp>
      <p:sp>
        <p:nvSpPr>
          <p:cNvPr id="29" name="Rounded Rectangle 28"/>
          <p:cNvSpPr/>
          <p:nvPr/>
        </p:nvSpPr>
        <p:spPr>
          <a:xfrm>
            <a:off x="182880" y="402336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68680" y="4160520"/>
            <a:ext cx="822960" cy="822960"/>
          </a:xfrm>
          <a:prstGeom prst="ellipse">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68680" y="4297680"/>
            <a:ext cx="822960" cy="457200"/>
          </a:xfrm>
          <a:prstGeom prst="rect">
            <a:avLst/>
          </a:prstGeom>
          <a:noFill/>
        </p:spPr>
        <p:txBody>
          <a:bodyPr wrap="square">
            <a:spAutoFit/>
          </a:bodyPr>
          <a:lstStyle/>
          <a:p>
            <a:pPr algn="ctr">
              <a:defRPr sz="1600" b="1">
                <a:solidFill>
                  <a:srgbClr val="FFFFFF"/>
                </a:solidFill>
                <a:latin typeface="Calibri"/>
              </a:defRPr>
            </a:pPr>
            <a:r>
              <a:t>2013</a:t>
            </a:r>
          </a:p>
        </p:txBody>
      </p:sp>
      <p:sp>
        <p:nvSpPr>
          <p:cNvPr id="32" name="TextBox 31"/>
          <p:cNvSpPr txBox="1"/>
          <p:nvPr/>
        </p:nvSpPr>
        <p:spPr>
          <a:xfrm>
            <a:off x="320040" y="5120640"/>
            <a:ext cx="1920240" cy="365760"/>
          </a:xfrm>
          <a:prstGeom prst="rect">
            <a:avLst/>
          </a:prstGeom>
          <a:noFill/>
        </p:spPr>
        <p:txBody>
          <a:bodyPr wrap="square">
            <a:spAutoFit/>
          </a:bodyPr>
          <a:lstStyle/>
          <a:p>
            <a:pPr algn="ctr">
              <a:defRPr sz="1300" b="1">
                <a:solidFill>
                  <a:srgbClr val="1ABC9C"/>
                </a:solidFill>
                <a:latin typeface="Calibri"/>
              </a:defRPr>
            </a:pPr>
            <a:r>
              <a:t>Uttarakhand Floods</a:t>
            </a:r>
          </a:p>
        </p:txBody>
      </p:sp>
      <p:sp>
        <p:nvSpPr>
          <p:cNvPr id="33" name="TextBox 32"/>
          <p:cNvSpPr txBox="1"/>
          <p:nvPr/>
        </p:nvSpPr>
        <p:spPr>
          <a:xfrm>
            <a:off x="320040" y="5486400"/>
            <a:ext cx="1920240" cy="822960"/>
          </a:xfrm>
          <a:prstGeom prst="rect">
            <a:avLst/>
          </a:prstGeom>
          <a:noFill/>
        </p:spPr>
        <p:txBody>
          <a:bodyPr wrap="square">
            <a:spAutoFit/>
          </a:bodyPr>
          <a:lstStyle/>
          <a:p>
            <a:pPr algn="ctr">
              <a:defRPr sz="1000" b="0">
                <a:solidFill>
                  <a:srgbClr val="ECF0F1"/>
                </a:solidFill>
                <a:latin typeface="Calibri"/>
              </a:defRPr>
            </a:pPr>
            <a:r>
              <a:t>5,700+ dead; Kedarnath destroyed.</a:t>
            </a:r>
          </a:p>
        </p:txBody>
      </p:sp>
      <p:sp>
        <p:nvSpPr>
          <p:cNvPr id="34" name="Rounded Rectangle 33"/>
          <p:cNvSpPr/>
          <p:nvPr/>
        </p:nvSpPr>
        <p:spPr>
          <a:xfrm>
            <a:off x="2560320" y="402336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246120" y="4160520"/>
            <a:ext cx="822960" cy="822960"/>
          </a:xfrm>
          <a:prstGeom prst="ellipse">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246120" y="4297680"/>
            <a:ext cx="822960" cy="457200"/>
          </a:xfrm>
          <a:prstGeom prst="rect">
            <a:avLst/>
          </a:prstGeom>
          <a:noFill/>
        </p:spPr>
        <p:txBody>
          <a:bodyPr wrap="square">
            <a:spAutoFit/>
          </a:bodyPr>
          <a:lstStyle/>
          <a:p>
            <a:pPr algn="ctr">
              <a:defRPr sz="1600" b="1">
                <a:solidFill>
                  <a:srgbClr val="FFFFFF"/>
                </a:solidFill>
                <a:latin typeface="Calibri"/>
              </a:defRPr>
            </a:pPr>
            <a:r>
              <a:t>2014</a:t>
            </a:r>
          </a:p>
        </p:txBody>
      </p:sp>
      <p:sp>
        <p:nvSpPr>
          <p:cNvPr id="37" name="TextBox 36"/>
          <p:cNvSpPr txBox="1"/>
          <p:nvPr/>
        </p:nvSpPr>
        <p:spPr>
          <a:xfrm>
            <a:off x="2697480" y="5120640"/>
            <a:ext cx="1920240" cy="365760"/>
          </a:xfrm>
          <a:prstGeom prst="rect">
            <a:avLst/>
          </a:prstGeom>
          <a:noFill/>
        </p:spPr>
        <p:txBody>
          <a:bodyPr wrap="square">
            <a:spAutoFit/>
          </a:bodyPr>
          <a:lstStyle/>
          <a:p>
            <a:pPr algn="ctr">
              <a:defRPr sz="1300" b="1">
                <a:solidFill>
                  <a:srgbClr val="E74C3C"/>
                </a:solidFill>
                <a:latin typeface="Calibri"/>
              </a:defRPr>
            </a:pPr>
            <a:r>
              <a:t>J&amp;K Floods</a:t>
            </a:r>
          </a:p>
        </p:txBody>
      </p:sp>
      <p:sp>
        <p:nvSpPr>
          <p:cNvPr id="38" name="TextBox 37"/>
          <p:cNvSpPr txBox="1"/>
          <p:nvPr/>
        </p:nvSpPr>
        <p:spPr>
          <a:xfrm>
            <a:off x="2697480" y="5486400"/>
            <a:ext cx="1920240" cy="822960"/>
          </a:xfrm>
          <a:prstGeom prst="rect">
            <a:avLst/>
          </a:prstGeom>
          <a:noFill/>
        </p:spPr>
        <p:txBody>
          <a:bodyPr wrap="square">
            <a:spAutoFit/>
          </a:bodyPr>
          <a:lstStyle/>
          <a:p>
            <a:pPr algn="ctr">
              <a:defRPr sz="1000" b="0">
                <a:solidFill>
                  <a:srgbClr val="ECF0F1"/>
                </a:solidFill>
                <a:latin typeface="Calibri"/>
              </a:defRPr>
            </a:pPr>
            <a:r>
              <a:t>277+ dead; 2.5M affected.</a:t>
            </a:r>
          </a:p>
        </p:txBody>
      </p:sp>
      <p:sp>
        <p:nvSpPr>
          <p:cNvPr id="39" name="Rounded Rectangle 38"/>
          <p:cNvSpPr/>
          <p:nvPr/>
        </p:nvSpPr>
        <p:spPr>
          <a:xfrm>
            <a:off x="4937760" y="402336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623560" y="4160520"/>
            <a:ext cx="822960" cy="82296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23560" y="4297680"/>
            <a:ext cx="822960" cy="457200"/>
          </a:xfrm>
          <a:prstGeom prst="rect">
            <a:avLst/>
          </a:prstGeom>
          <a:noFill/>
        </p:spPr>
        <p:txBody>
          <a:bodyPr wrap="square">
            <a:spAutoFit/>
          </a:bodyPr>
          <a:lstStyle/>
          <a:p>
            <a:pPr algn="ctr">
              <a:defRPr sz="1600" b="1">
                <a:solidFill>
                  <a:srgbClr val="FFFFFF"/>
                </a:solidFill>
                <a:latin typeface="Calibri"/>
              </a:defRPr>
            </a:pPr>
            <a:r>
              <a:t>2015</a:t>
            </a:r>
          </a:p>
        </p:txBody>
      </p:sp>
      <p:sp>
        <p:nvSpPr>
          <p:cNvPr id="42" name="TextBox 41"/>
          <p:cNvSpPr txBox="1"/>
          <p:nvPr/>
        </p:nvSpPr>
        <p:spPr>
          <a:xfrm>
            <a:off x="5074920" y="5120640"/>
            <a:ext cx="1920240" cy="365760"/>
          </a:xfrm>
          <a:prstGeom prst="rect">
            <a:avLst/>
          </a:prstGeom>
          <a:noFill/>
        </p:spPr>
        <p:txBody>
          <a:bodyPr wrap="square">
            <a:spAutoFit/>
          </a:bodyPr>
          <a:lstStyle/>
          <a:p>
            <a:pPr algn="ctr">
              <a:defRPr sz="1300" b="1">
                <a:solidFill>
                  <a:srgbClr val="F39C12"/>
                </a:solidFill>
                <a:latin typeface="Calibri"/>
              </a:defRPr>
            </a:pPr>
            <a:r>
              <a:t>Chennai Floods</a:t>
            </a:r>
          </a:p>
        </p:txBody>
      </p:sp>
      <p:sp>
        <p:nvSpPr>
          <p:cNvPr id="43" name="TextBox 42"/>
          <p:cNvSpPr txBox="1"/>
          <p:nvPr/>
        </p:nvSpPr>
        <p:spPr>
          <a:xfrm>
            <a:off x="5074920" y="5486400"/>
            <a:ext cx="1920240" cy="822960"/>
          </a:xfrm>
          <a:prstGeom prst="rect">
            <a:avLst/>
          </a:prstGeom>
          <a:noFill/>
        </p:spPr>
        <p:txBody>
          <a:bodyPr wrap="square">
            <a:spAutoFit/>
          </a:bodyPr>
          <a:lstStyle/>
          <a:p>
            <a:pPr algn="ctr">
              <a:defRPr sz="1000" b="0">
                <a:solidFill>
                  <a:srgbClr val="ECF0F1"/>
                </a:solidFill>
                <a:latin typeface="Calibri"/>
              </a:defRPr>
            </a:pPr>
            <a:r>
              <a:t>500+ deaths; $3B loss.</a:t>
            </a:r>
          </a:p>
        </p:txBody>
      </p:sp>
      <p:sp>
        <p:nvSpPr>
          <p:cNvPr id="44" name="Rounded Rectangle 43"/>
          <p:cNvSpPr/>
          <p:nvPr/>
        </p:nvSpPr>
        <p:spPr>
          <a:xfrm>
            <a:off x="7315200" y="402336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001000" y="4160520"/>
            <a:ext cx="822960" cy="822960"/>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001000" y="4297680"/>
            <a:ext cx="822960" cy="457200"/>
          </a:xfrm>
          <a:prstGeom prst="rect">
            <a:avLst/>
          </a:prstGeom>
          <a:noFill/>
        </p:spPr>
        <p:txBody>
          <a:bodyPr wrap="square">
            <a:spAutoFit/>
          </a:bodyPr>
          <a:lstStyle/>
          <a:p>
            <a:pPr algn="ctr">
              <a:defRPr sz="1600" b="1">
                <a:solidFill>
                  <a:srgbClr val="FFFFFF"/>
                </a:solidFill>
                <a:latin typeface="Calibri"/>
              </a:defRPr>
            </a:pPr>
            <a:r>
              <a:t>2018</a:t>
            </a:r>
          </a:p>
        </p:txBody>
      </p:sp>
      <p:sp>
        <p:nvSpPr>
          <p:cNvPr id="47" name="TextBox 46"/>
          <p:cNvSpPr txBox="1"/>
          <p:nvPr/>
        </p:nvSpPr>
        <p:spPr>
          <a:xfrm>
            <a:off x="7452360" y="5120640"/>
            <a:ext cx="1920240" cy="365760"/>
          </a:xfrm>
          <a:prstGeom prst="rect">
            <a:avLst/>
          </a:prstGeom>
          <a:noFill/>
        </p:spPr>
        <p:txBody>
          <a:bodyPr wrap="square">
            <a:spAutoFit/>
          </a:bodyPr>
          <a:lstStyle/>
          <a:p>
            <a:pPr algn="ctr">
              <a:defRPr sz="1300" b="1">
                <a:solidFill>
                  <a:srgbClr val="E83E3E"/>
                </a:solidFill>
                <a:latin typeface="Calibri"/>
              </a:defRPr>
            </a:pPr>
            <a:r>
              <a:t>Kerala Floods</a:t>
            </a:r>
          </a:p>
        </p:txBody>
      </p:sp>
      <p:sp>
        <p:nvSpPr>
          <p:cNvPr id="48" name="TextBox 47"/>
          <p:cNvSpPr txBox="1"/>
          <p:nvPr/>
        </p:nvSpPr>
        <p:spPr>
          <a:xfrm>
            <a:off x="7452360" y="5486400"/>
            <a:ext cx="1920240" cy="822960"/>
          </a:xfrm>
          <a:prstGeom prst="rect">
            <a:avLst/>
          </a:prstGeom>
          <a:noFill/>
        </p:spPr>
        <p:txBody>
          <a:bodyPr wrap="square">
            <a:spAutoFit/>
          </a:bodyPr>
          <a:lstStyle/>
          <a:p>
            <a:pPr algn="ctr">
              <a:defRPr sz="1000" b="0">
                <a:solidFill>
                  <a:srgbClr val="ECF0F1"/>
                </a:solidFill>
                <a:latin typeface="Calibri"/>
              </a:defRPr>
            </a:pPr>
            <a:r>
              <a:t>483 dead; 1M+ displaced.</a:t>
            </a:r>
          </a:p>
        </p:txBody>
      </p:sp>
      <p:sp>
        <p:nvSpPr>
          <p:cNvPr id="49" name="Rounded Rectangle 48"/>
          <p:cNvSpPr/>
          <p:nvPr/>
        </p:nvSpPr>
        <p:spPr>
          <a:xfrm>
            <a:off x="9692640" y="4023360"/>
            <a:ext cx="2194560" cy="23774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378440" y="4160520"/>
            <a:ext cx="822960" cy="82296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0378440" y="4297680"/>
            <a:ext cx="822960" cy="457200"/>
          </a:xfrm>
          <a:prstGeom prst="rect">
            <a:avLst/>
          </a:prstGeom>
          <a:noFill/>
        </p:spPr>
        <p:txBody>
          <a:bodyPr wrap="square">
            <a:spAutoFit/>
          </a:bodyPr>
          <a:lstStyle/>
          <a:p>
            <a:pPr algn="ctr">
              <a:defRPr sz="1600" b="1">
                <a:solidFill>
                  <a:srgbClr val="FFFFFF"/>
                </a:solidFill>
                <a:latin typeface="Calibri"/>
              </a:defRPr>
            </a:pPr>
            <a:r>
              <a:t>2020</a:t>
            </a:r>
          </a:p>
        </p:txBody>
      </p:sp>
      <p:sp>
        <p:nvSpPr>
          <p:cNvPr id="52" name="TextBox 51"/>
          <p:cNvSpPr txBox="1"/>
          <p:nvPr/>
        </p:nvSpPr>
        <p:spPr>
          <a:xfrm>
            <a:off x="9829800" y="5120640"/>
            <a:ext cx="1920240" cy="365760"/>
          </a:xfrm>
          <a:prstGeom prst="rect">
            <a:avLst/>
          </a:prstGeom>
          <a:noFill/>
        </p:spPr>
        <p:txBody>
          <a:bodyPr wrap="square">
            <a:spAutoFit/>
          </a:bodyPr>
          <a:lstStyle/>
          <a:p>
            <a:pPr algn="ctr">
              <a:defRPr sz="1300" b="1">
                <a:solidFill>
                  <a:srgbClr val="2E86AB"/>
                </a:solidFill>
                <a:latin typeface="Calibri"/>
              </a:defRPr>
            </a:pPr>
            <a:r>
              <a:t>Cyclone Amphan</a:t>
            </a:r>
          </a:p>
        </p:txBody>
      </p:sp>
      <p:sp>
        <p:nvSpPr>
          <p:cNvPr id="53" name="TextBox 52"/>
          <p:cNvSpPr txBox="1"/>
          <p:nvPr/>
        </p:nvSpPr>
        <p:spPr>
          <a:xfrm>
            <a:off x="9829800" y="5486400"/>
            <a:ext cx="1920240" cy="822960"/>
          </a:xfrm>
          <a:prstGeom prst="rect">
            <a:avLst/>
          </a:prstGeom>
          <a:noFill/>
        </p:spPr>
        <p:txBody>
          <a:bodyPr wrap="square">
            <a:spAutoFit/>
          </a:bodyPr>
          <a:lstStyle/>
          <a:p>
            <a:pPr algn="ctr">
              <a:defRPr sz="1000" b="0">
                <a:solidFill>
                  <a:srgbClr val="ECF0F1"/>
                </a:solidFill>
                <a:latin typeface="Calibri"/>
              </a:defRPr>
            </a:pPr>
            <a:r>
              <a:t>129 deaths; $13B damage.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LESSONS LEARNED FROM HISTORICAL DISASTERS</a:t>
            </a:r>
          </a:p>
        </p:txBody>
      </p:sp>
      <p:sp>
        <p:nvSpPr>
          <p:cNvPr id="4" name="Rounded Rectangle 3"/>
          <p:cNvSpPr/>
          <p:nvPr/>
        </p:nvSpPr>
        <p:spPr>
          <a:xfrm>
            <a:off x="365760" y="137160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Early Warning Systems Work</a:t>
            </a:r>
          </a:p>
        </p:txBody>
      </p:sp>
      <p:sp>
        <p:nvSpPr>
          <p:cNvPr id="7" name="TextBox 6"/>
          <p:cNvSpPr txBox="1"/>
          <p:nvPr/>
        </p:nvSpPr>
        <p:spPr>
          <a:xfrm>
            <a:off x="548640" y="1920240"/>
            <a:ext cx="5303520" cy="914400"/>
          </a:xfrm>
          <a:prstGeom prst="rect">
            <a:avLst/>
          </a:prstGeom>
          <a:noFill/>
        </p:spPr>
        <p:txBody>
          <a:bodyPr wrap="square">
            <a:spAutoFit/>
          </a:bodyPr>
          <a:lstStyle/>
          <a:p>
            <a:pPr algn="l">
              <a:defRPr sz="1200" b="0">
                <a:solidFill>
                  <a:srgbClr val="ECF0F1"/>
                </a:solidFill>
                <a:latin typeface="Calibri"/>
              </a:defRPr>
            </a:pPr>
            <a:r>
              <a:t>Cyclone preparedness in Odisha reduced deaths from 10,000+ (1999) to &lt;100 (2019).</a:t>
            </a:r>
          </a:p>
        </p:txBody>
      </p:sp>
      <p:sp>
        <p:nvSpPr>
          <p:cNvPr id="8" name="Rounded Rectangle 7"/>
          <p:cNvSpPr/>
          <p:nvPr/>
        </p:nvSpPr>
        <p:spPr>
          <a:xfrm>
            <a:off x="6309360" y="137160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Urban Planning Matters</a:t>
            </a:r>
          </a:p>
        </p:txBody>
      </p:sp>
      <p:sp>
        <p:nvSpPr>
          <p:cNvPr id="11" name="TextBox 10"/>
          <p:cNvSpPr txBox="1"/>
          <p:nvPr/>
        </p:nvSpPr>
        <p:spPr>
          <a:xfrm>
            <a:off x="6492240" y="1920240"/>
            <a:ext cx="5303520" cy="914400"/>
          </a:xfrm>
          <a:prstGeom prst="rect">
            <a:avLst/>
          </a:prstGeom>
          <a:noFill/>
        </p:spPr>
        <p:txBody>
          <a:bodyPr wrap="square">
            <a:spAutoFit/>
          </a:bodyPr>
          <a:lstStyle/>
          <a:p>
            <a:pPr algn="l">
              <a:defRPr sz="1200" b="0">
                <a:solidFill>
                  <a:srgbClr val="ECF0F1"/>
                </a:solidFill>
                <a:latin typeface="Calibri"/>
              </a:defRPr>
            </a:pPr>
            <a:r>
              <a:t>Chennai 2015 floods showed how unplanned urbanization amplifies flood impacts.</a:t>
            </a:r>
          </a:p>
        </p:txBody>
      </p:sp>
      <p:sp>
        <p:nvSpPr>
          <p:cNvPr id="12" name="Rounded Rectangle 11"/>
          <p:cNvSpPr/>
          <p:nvPr/>
        </p:nvSpPr>
        <p:spPr>
          <a:xfrm>
            <a:off x="365760" y="310896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760" y="31089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82112"/>
            <a:ext cx="5303520" cy="365760"/>
          </a:xfrm>
          <a:prstGeom prst="rect">
            <a:avLst/>
          </a:prstGeom>
          <a:noFill/>
        </p:spPr>
        <p:txBody>
          <a:bodyPr wrap="square">
            <a:spAutoFit/>
          </a:bodyPr>
          <a:lstStyle/>
          <a:p>
            <a:pPr algn="l">
              <a:defRPr sz="1600" b="1">
                <a:solidFill>
                  <a:srgbClr val="FFFFFF"/>
                </a:solidFill>
                <a:latin typeface="Calibri"/>
              </a:defRPr>
            </a:pPr>
            <a:r>
              <a:t>Building Codes Save Lives</a:t>
            </a:r>
          </a:p>
        </p:txBody>
      </p:sp>
      <p:sp>
        <p:nvSpPr>
          <p:cNvPr id="15" name="TextBox 14"/>
          <p:cNvSpPr txBox="1"/>
          <p:nvPr/>
        </p:nvSpPr>
        <p:spPr>
          <a:xfrm>
            <a:off x="548640" y="3657600"/>
            <a:ext cx="5303520" cy="914400"/>
          </a:xfrm>
          <a:prstGeom prst="rect">
            <a:avLst/>
          </a:prstGeom>
          <a:noFill/>
        </p:spPr>
        <p:txBody>
          <a:bodyPr wrap="square">
            <a:spAutoFit/>
          </a:bodyPr>
          <a:lstStyle/>
          <a:p>
            <a:pPr algn="l">
              <a:defRPr sz="1200" b="0">
                <a:solidFill>
                  <a:srgbClr val="ECF0F1"/>
                </a:solidFill>
                <a:latin typeface="Calibri"/>
              </a:defRPr>
            </a:pPr>
            <a:r>
              <a:t>Gujarat 2001 showed strict seismic code enforcement reduces casualties.</a:t>
            </a:r>
          </a:p>
        </p:txBody>
      </p:sp>
      <p:sp>
        <p:nvSpPr>
          <p:cNvPr id="16" name="Rounded Rectangle 15"/>
          <p:cNvSpPr/>
          <p:nvPr/>
        </p:nvSpPr>
        <p:spPr>
          <a:xfrm>
            <a:off x="6309360" y="310896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60" y="31089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182112"/>
            <a:ext cx="5303520" cy="365760"/>
          </a:xfrm>
          <a:prstGeom prst="rect">
            <a:avLst/>
          </a:prstGeom>
          <a:noFill/>
        </p:spPr>
        <p:txBody>
          <a:bodyPr wrap="square">
            <a:spAutoFit/>
          </a:bodyPr>
          <a:lstStyle/>
          <a:p>
            <a:pPr algn="l">
              <a:defRPr sz="1600" b="1">
                <a:solidFill>
                  <a:srgbClr val="FFFFFF"/>
                </a:solidFill>
                <a:latin typeface="Calibri"/>
              </a:defRPr>
            </a:pPr>
            <a:r>
              <a:t>Community Preparedness is Key</a:t>
            </a:r>
          </a:p>
        </p:txBody>
      </p:sp>
      <p:sp>
        <p:nvSpPr>
          <p:cNvPr id="19" name="TextBox 18"/>
          <p:cNvSpPr txBox="1"/>
          <p:nvPr/>
        </p:nvSpPr>
        <p:spPr>
          <a:xfrm>
            <a:off x="6492240" y="3657600"/>
            <a:ext cx="5303520" cy="914400"/>
          </a:xfrm>
          <a:prstGeom prst="rect">
            <a:avLst/>
          </a:prstGeom>
          <a:noFill/>
        </p:spPr>
        <p:txBody>
          <a:bodyPr wrap="square">
            <a:spAutoFit/>
          </a:bodyPr>
          <a:lstStyle/>
          <a:p>
            <a:pPr algn="l">
              <a:defRPr sz="1200" b="0">
                <a:solidFill>
                  <a:srgbClr val="ECF0F1"/>
                </a:solidFill>
                <a:latin typeface="Calibri"/>
              </a:defRPr>
            </a:pPr>
            <a:r>
              <a:t>Kerala 2018 demonstrated role of community-based disaster preparedness.</a:t>
            </a:r>
          </a:p>
        </p:txBody>
      </p:sp>
      <p:sp>
        <p:nvSpPr>
          <p:cNvPr id="20" name="Rounded Rectangle 19"/>
          <p:cNvSpPr/>
          <p:nvPr/>
        </p:nvSpPr>
        <p:spPr>
          <a:xfrm>
            <a:off x="365760" y="484632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4846320"/>
            <a:ext cx="566928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4919472"/>
            <a:ext cx="5303520" cy="365760"/>
          </a:xfrm>
          <a:prstGeom prst="rect">
            <a:avLst/>
          </a:prstGeom>
          <a:noFill/>
        </p:spPr>
        <p:txBody>
          <a:bodyPr wrap="square">
            <a:spAutoFit/>
          </a:bodyPr>
          <a:lstStyle/>
          <a:p>
            <a:pPr algn="l">
              <a:defRPr sz="1600" b="1">
                <a:solidFill>
                  <a:srgbClr val="FFFFFF"/>
                </a:solidFill>
                <a:latin typeface="Calibri"/>
              </a:defRPr>
            </a:pPr>
            <a:r>
              <a:t>Industrial Safety Cannot Be Ignored</a:t>
            </a:r>
          </a:p>
        </p:txBody>
      </p:sp>
      <p:sp>
        <p:nvSpPr>
          <p:cNvPr id="23" name="TextBox 22"/>
          <p:cNvSpPr txBox="1"/>
          <p:nvPr/>
        </p:nvSpPr>
        <p:spPr>
          <a:xfrm>
            <a:off x="548640" y="5394960"/>
            <a:ext cx="5303520" cy="914400"/>
          </a:xfrm>
          <a:prstGeom prst="rect">
            <a:avLst/>
          </a:prstGeom>
          <a:noFill/>
        </p:spPr>
        <p:txBody>
          <a:bodyPr wrap="square">
            <a:spAutoFit/>
          </a:bodyPr>
          <a:lstStyle/>
          <a:p>
            <a:pPr algn="l">
              <a:defRPr sz="1200" b="0">
                <a:solidFill>
                  <a:srgbClr val="ECF0F1"/>
                </a:solidFill>
                <a:latin typeface="Calibri"/>
              </a:defRPr>
            </a:pPr>
            <a:r>
              <a:t>Bhopal 1984 led to comprehensive industrial safety legislation.</a:t>
            </a:r>
          </a:p>
        </p:txBody>
      </p:sp>
      <p:sp>
        <p:nvSpPr>
          <p:cNvPr id="24" name="Rounded Rectangle 23"/>
          <p:cNvSpPr/>
          <p:nvPr/>
        </p:nvSpPr>
        <p:spPr>
          <a:xfrm>
            <a:off x="6309360" y="4846320"/>
            <a:ext cx="5669280" cy="15544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309360" y="4846320"/>
            <a:ext cx="5669280" cy="4572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4919472"/>
            <a:ext cx="5303520" cy="365760"/>
          </a:xfrm>
          <a:prstGeom prst="rect">
            <a:avLst/>
          </a:prstGeom>
          <a:noFill/>
        </p:spPr>
        <p:txBody>
          <a:bodyPr wrap="square">
            <a:spAutoFit/>
          </a:bodyPr>
          <a:lstStyle/>
          <a:p>
            <a:pPr algn="l">
              <a:defRPr sz="1600" b="1">
                <a:solidFill>
                  <a:srgbClr val="FFFFFF"/>
                </a:solidFill>
                <a:latin typeface="Calibri"/>
              </a:defRPr>
            </a:pPr>
            <a:r>
              <a:t>Recovery Must Be Inclusive</a:t>
            </a:r>
          </a:p>
        </p:txBody>
      </p:sp>
      <p:sp>
        <p:nvSpPr>
          <p:cNvPr id="27" name="TextBox 26"/>
          <p:cNvSpPr txBox="1"/>
          <p:nvPr/>
        </p:nvSpPr>
        <p:spPr>
          <a:xfrm>
            <a:off x="6492240" y="5394960"/>
            <a:ext cx="5303520" cy="914400"/>
          </a:xfrm>
          <a:prstGeom prst="rect">
            <a:avLst/>
          </a:prstGeom>
          <a:noFill/>
        </p:spPr>
        <p:txBody>
          <a:bodyPr wrap="square">
            <a:spAutoFit/>
          </a:bodyPr>
          <a:lstStyle/>
          <a:p>
            <a:pPr algn="l">
              <a:defRPr sz="1200" b="0">
                <a:solidFill>
                  <a:srgbClr val="ECF0F1"/>
                </a:solidFill>
                <a:latin typeface="Calibri"/>
              </a:defRPr>
            </a:pPr>
            <a:r>
              <a:t>Post-tsunami rehabilitation showed need to address vulnerable sections.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D5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D5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04</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Legal &amp; Institutional</a:t>
            </a:r>
            <a:br/>
            <a:r>
              <a:t>Framework</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DISASTER MANAGEMENT ACT, 2005</a:t>
            </a:r>
          </a:p>
        </p:txBody>
      </p:sp>
      <p:sp>
        <p:nvSpPr>
          <p:cNvPr id="4" name="TextBox 3"/>
          <p:cNvSpPr txBox="1"/>
          <p:nvPr/>
        </p:nvSpPr>
        <p:spPr>
          <a:xfrm>
            <a:off x="731520" y="1371600"/>
            <a:ext cx="5029200" cy="1828800"/>
          </a:xfrm>
          <a:prstGeom prst="rect">
            <a:avLst/>
          </a:prstGeom>
          <a:noFill/>
        </p:spPr>
        <p:txBody>
          <a:bodyPr wrap="square">
            <a:spAutoFit/>
          </a:bodyPr>
          <a:lstStyle/>
          <a:p>
            <a:pPr>
              <a:spcAft>
                <a:spcPts val="660"/>
              </a:spcAft>
              <a:defRPr sz="2200" b="1">
                <a:solidFill>
                  <a:srgbClr val="F39C12"/>
                </a:solidFill>
                <a:latin typeface="Calibri"/>
              </a:defRPr>
            </a:pPr>
            <a:r>
              <a:t>Overview</a:t>
            </a:r>
          </a:p>
          <a:p>
            <a:pPr>
              <a:spcAft>
                <a:spcPts val="179"/>
              </a:spcAft>
              <a:defRPr sz="600" b="0">
                <a:solidFill>
                  <a:srgbClr val="FFFFFF"/>
                </a:solidFill>
                <a:latin typeface="Calibri"/>
              </a:defRPr>
            </a:pPr>
          </a:p>
          <a:p>
            <a:pPr>
              <a:spcAft>
                <a:spcPts val="420"/>
              </a:spcAft>
              <a:defRPr sz="1400" b="0">
                <a:solidFill>
                  <a:srgbClr val="ECF0F1"/>
                </a:solidFill>
                <a:latin typeface="Calibri"/>
              </a:defRPr>
            </a:pPr>
            <a:r>
              <a:t>Enacted December 26, 2005 following the devastating 2004 tsunami. Provides the legal and institutional framework for disaster management in India.</a:t>
            </a:r>
          </a:p>
        </p:txBody>
      </p:sp>
      <p:sp>
        <p:nvSpPr>
          <p:cNvPr id="5" name="Rounded Rectangle 4"/>
          <p:cNvSpPr/>
          <p:nvPr/>
        </p:nvSpPr>
        <p:spPr>
          <a:xfrm>
            <a:off x="365760" y="3474720"/>
            <a:ext cx="3657600" cy="14630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3474720"/>
            <a:ext cx="91440" cy="146304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3566160"/>
            <a:ext cx="3291840" cy="320040"/>
          </a:xfrm>
          <a:prstGeom prst="rect">
            <a:avLst/>
          </a:prstGeom>
          <a:noFill/>
        </p:spPr>
        <p:txBody>
          <a:bodyPr wrap="square">
            <a:spAutoFit/>
          </a:bodyPr>
          <a:lstStyle/>
          <a:p>
            <a:pPr algn="l">
              <a:defRPr sz="1500" b="1">
                <a:solidFill>
                  <a:srgbClr val="E83E3E"/>
                </a:solidFill>
                <a:latin typeface="Calibri"/>
              </a:defRPr>
            </a:pPr>
            <a:r>
              <a:t>NDMA Establishment</a:t>
            </a:r>
          </a:p>
        </p:txBody>
      </p:sp>
      <p:sp>
        <p:nvSpPr>
          <p:cNvPr id="8" name="TextBox 7"/>
          <p:cNvSpPr txBox="1"/>
          <p:nvPr/>
        </p:nvSpPr>
        <p:spPr>
          <a:xfrm>
            <a:off x="640080" y="3931920"/>
            <a:ext cx="3291840" cy="914400"/>
          </a:xfrm>
          <a:prstGeom prst="rect">
            <a:avLst/>
          </a:prstGeom>
          <a:noFill/>
        </p:spPr>
        <p:txBody>
          <a:bodyPr wrap="square">
            <a:spAutoFit/>
          </a:bodyPr>
          <a:lstStyle/>
          <a:p>
            <a:pPr algn="l">
              <a:defRPr sz="1100" b="0">
                <a:solidFill>
                  <a:srgbClr val="ECF0F1"/>
                </a:solidFill>
                <a:latin typeface="Calibri"/>
              </a:defRPr>
            </a:pPr>
            <a:r>
              <a:t>National Disaster Management Authority under PM</a:t>
            </a:r>
          </a:p>
        </p:txBody>
      </p:sp>
      <p:sp>
        <p:nvSpPr>
          <p:cNvPr id="9" name="Rounded Rectangle 8"/>
          <p:cNvSpPr/>
          <p:nvPr/>
        </p:nvSpPr>
        <p:spPr>
          <a:xfrm>
            <a:off x="4297680" y="3474720"/>
            <a:ext cx="3657600" cy="14630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3474720"/>
            <a:ext cx="91440" cy="146304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0" y="3566160"/>
            <a:ext cx="3291840" cy="320040"/>
          </a:xfrm>
          <a:prstGeom prst="rect">
            <a:avLst/>
          </a:prstGeom>
          <a:noFill/>
        </p:spPr>
        <p:txBody>
          <a:bodyPr wrap="square">
            <a:spAutoFit/>
          </a:bodyPr>
          <a:lstStyle/>
          <a:p>
            <a:pPr algn="l">
              <a:defRPr sz="1500" b="1">
                <a:solidFill>
                  <a:srgbClr val="2E86AB"/>
                </a:solidFill>
                <a:latin typeface="Calibri"/>
              </a:defRPr>
            </a:pPr>
            <a:r>
              <a:t>SDMA Formation</a:t>
            </a:r>
          </a:p>
        </p:txBody>
      </p:sp>
      <p:sp>
        <p:nvSpPr>
          <p:cNvPr id="12" name="TextBox 11"/>
          <p:cNvSpPr txBox="1"/>
          <p:nvPr/>
        </p:nvSpPr>
        <p:spPr>
          <a:xfrm>
            <a:off x="4572000" y="3931920"/>
            <a:ext cx="3291840" cy="914400"/>
          </a:xfrm>
          <a:prstGeom prst="rect">
            <a:avLst/>
          </a:prstGeom>
          <a:noFill/>
        </p:spPr>
        <p:txBody>
          <a:bodyPr wrap="square">
            <a:spAutoFit/>
          </a:bodyPr>
          <a:lstStyle/>
          <a:p>
            <a:pPr algn="l">
              <a:defRPr sz="1100" b="0">
                <a:solidFill>
                  <a:srgbClr val="ECF0F1"/>
                </a:solidFill>
                <a:latin typeface="Calibri"/>
              </a:defRPr>
            </a:pPr>
            <a:r>
              <a:t>State DM Authorities under Chief Ministers</a:t>
            </a:r>
          </a:p>
        </p:txBody>
      </p:sp>
      <p:sp>
        <p:nvSpPr>
          <p:cNvPr id="13" name="Rounded Rectangle 12"/>
          <p:cNvSpPr/>
          <p:nvPr/>
        </p:nvSpPr>
        <p:spPr>
          <a:xfrm>
            <a:off x="8229600" y="3474720"/>
            <a:ext cx="3657600" cy="14630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229600" y="3474720"/>
            <a:ext cx="91440" cy="14630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3566160"/>
            <a:ext cx="3291840" cy="320040"/>
          </a:xfrm>
          <a:prstGeom prst="rect">
            <a:avLst/>
          </a:prstGeom>
          <a:noFill/>
        </p:spPr>
        <p:txBody>
          <a:bodyPr wrap="square">
            <a:spAutoFit/>
          </a:bodyPr>
          <a:lstStyle/>
          <a:p>
            <a:pPr algn="l">
              <a:defRPr sz="1500" b="1">
                <a:solidFill>
                  <a:srgbClr val="27AE60"/>
                </a:solidFill>
                <a:latin typeface="Calibri"/>
              </a:defRPr>
            </a:pPr>
            <a:r>
              <a:t>NDRF Creation</a:t>
            </a:r>
          </a:p>
        </p:txBody>
      </p:sp>
      <p:sp>
        <p:nvSpPr>
          <p:cNvPr id="16" name="TextBox 15"/>
          <p:cNvSpPr txBox="1"/>
          <p:nvPr/>
        </p:nvSpPr>
        <p:spPr>
          <a:xfrm>
            <a:off x="8503920" y="3931920"/>
            <a:ext cx="3291840" cy="914400"/>
          </a:xfrm>
          <a:prstGeom prst="rect">
            <a:avLst/>
          </a:prstGeom>
          <a:noFill/>
        </p:spPr>
        <p:txBody>
          <a:bodyPr wrap="square">
            <a:spAutoFit/>
          </a:bodyPr>
          <a:lstStyle/>
          <a:p>
            <a:pPr algn="l">
              <a:defRPr sz="1100" b="0">
                <a:solidFill>
                  <a:srgbClr val="ECF0F1"/>
                </a:solidFill>
                <a:latin typeface="Calibri"/>
              </a:defRPr>
            </a:pPr>
            <a:r>
              <a:t>National Disaster Response Force</a:t>
            </a:r>
          </a:p>
        </p:txBody>
      </p:sp>
      <p:sp>
        <p:nvSpPr>
          <p:cNvPr id="17" name="Rounded Rectangle 16"/>
          <p:cNvSpPr/>
          <p:nvPr/>
        </p:nvSpPr>
        <p:spPr>
          <a:xfrm>
            <a:off x="365760" y="5120640"/>
            <a:ext cx="3657600" cy="14630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5120640"/>
            <a:ext cx="91440" cy="14630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12080"/>
            <a:ext cx="3291840" cy="320040"/>
          </a:xfrm>
          <a:prstGeom prst="rect">
            <a:avLst/>
          </a:prstGeom>
          <a:noFill/>
        </p:spPr>
        <p:txBody>
          <a:bodyPr wrap="square">
            <a:spAutoFit/>
          </a:bodyPr>
          <a:lstStyle/>
          <a:p>
            <a:pPr algn="l">
              <a:defRPr sz="1500" b="1">
                <a:solidFill>
                  <a:srgbClr val="F39C12"/>
                </a:solidFill>
                <a:latin typeface="Calibri"/>
              </a:defRPr>
            </a:pPr>
            <a:r>
              <a:t>DM Plans</a:t>
            </a:r>
          </a:p>
        </p:txBody>
      </p:sp>
      <p:sp>
        <p:nvSpPr>
          <p:cNvPr id="20" name="TextBox 19"/>
          <p:cNvSpPr txBox="1"/>
          <p:nvPr/>
        </p:nvSpPr>
        <p:spPr>
          <a:xfrm>
            <a:off x="640080" y="5577840"/>
            <a:ext cx="3291840" cy="914400"/>
          </a:xfrm>
          <a:prstGeom prst="rect">
            <a:avLst/>
          </a:prstGeom>
          <a:noFill/>
        </p:spPr>
        <p:txBody>
          <a:bodyPr wrap="square">
            <a:spAutoFit/>
          </a:bodyPr>
          <a:lstStyle/>
          <a:p>
            <a:pPr algn="l">
              <a:defRPr sz="1100" b="0">
                <a:solidFill>
                  <a:srgbClr val="ECF0F1"/>
                </a:solidFill>
                <a:latin typeface="Calibri"/>
              </a:defRPr>
            </a:pPr>
            <a:r>
              <a:t>Plans at National, State, District levels</a:t>
            </a:r>
          </a:p>
        </p:txBody>
      </p:sp>
      <p:sp>
        <p:nvSpPr>
          <p:cNvPr id="21" name="Rounded Rectangle 20"/>
          <p:cNvSpPr/>
          <p:nvPr/>
        </p:nvSpPr>
        <p:spPr>
          <a:xfrm>
            <a:off x="4297680" y="5120640"/>
            <a:ext cx="3657600" cy="14630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297680" y="5120640"/>
            <a:ext cx="91440" cy="146304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0" y="5212080"/>
            <a:ext cx="3291840" cy="320040"/>
          </a:xfrm>
          <a:prstGeom prst="rect">
            <a:avLst/>
          </a:prstGeom>
          <a:noFill/>
        </p:spPr>
        <p:txBody>
          <a:bodyPr wrap="square">
            <a:spAutoFit/>
          </a:bodyPr>
          <a:lstStyle/>
          <a:p>
            <a:pPr algn="l">
              <a:defRPr sz="1500" b="1">
                <a:solidFill>
                  <a:srgbClr val="9B59B6"/>
                </a:solidFill>
                <a:latin typeface="Calibri"/>
              </a:defRPr>
            </a:pPr>
            <a:r>
              <a:t>Funding</a:t>
            </a:r>
          </a:p>
        </p:txBody>
      </p:sp>
      <p:sp>
        <p:nvSpPr>
          <p:cNvPr id="24" name="TextBox 23"/>
          <p:cNvSpPr txBox="1"/>
          <p:nvPr/>
        </p:nvSpPr>
        <p:spPr>
          <a:xfrm>
            <a:off x="4572000" y="5577840"/>
            <a:ext cx="3291840" cy="914400"/>
          </a:xfrm>
          <a:prstGeom prst="rect">
            <a:avLst/>
          </a:prstGeom>
          <a:noFill/>
        </p:spPr>
        <p:txBody>
          <a:bodyPr wrap="square">
            <a:spAutoFit/>
          </a:bodyPr>
          <a:lstStyle/>
          <a:p>
            <a:pPr algn="l">
              <a:defRPr sz="1100" b="0">
                <a:solidFill>
                  <a:srgbClr val="ECF0F1"/>
                </a:solidFill>
                <a:latin typeface="Calibri"/>
              </a:defRPr>
            </a:pPr>
            <a:r>
              <a:t>National &amp; State Disaster Response Funds</a:t>
            </a:r>
          </a:p>
        </p:txBody>
      </p:sp>
      <p:sp>
        <p:nvSpPr>
          <p:cNvPr id="25" name="Rounded Rectangle 24"/>
          <p:cNvSpPr/>
          <p:nvPr/>
        </p:nvSpPr>
        <p:spPr>
          <a:xfrm>
            <a:off x="8229600" y="5120640"/>
            <a:ext cx="3657600" cy="146304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229600" y="5120640"/>
            <a:ext cx="91440" cy="14630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3920" y="5212080"/>
            <a:ext cx="3291840" cy="320040"/>
          </a:xfrm>
          <a:prstGeom prst="rect">
            <a:avLst/>
          </a:prstGeom>
          <a:noFill/>
        </p:spPr>
        <p:txBody>
          <a:bodyPr wrap="square">
            <a:spAutoFit/>
          </a:bodyPr>
          <a:lstStyle/>
          <a:p>
            <a:pPr algn="l">
              <a:defRPr sz="1500" b="1">
                <a:solidFill>
                  <a:srgbClr val="E74C3C"/>
                </a:solidFill>
                <a:latin typeface="Calibri"/>
              </a:defRPr>
            </a:pPr>
            <a:r>
              <a:t>Penalties</a:t>
            </a:r>
          </a:p>
        </p:txBody>
      </p:sp>
      <p:sp>
        <p:nvSpPr>
          <p:cNvPr id="28" name="TextBox 27"/>
          <p:cNvSpPr txBox="1"/>
          <p:nvPr/>
        </p:nvSpPr>
        <p:spPr>
          <a:xfrm>
            <a:off x="8503920" y="5577840"/>
            <a:ext cx="3291840" cy="914400"/>
          </a:xfrm>
          <a:prstGeom prst="rect">
            <a:avLst/>
          </a:prstGeom>
          <a:noFill/>
        </p:spPr>
        <p:txBody>
          <a:bodyPr wrap="square">
            <a:spAutoFit/>
          </a:bodyPr>
          <a:lstStyle/>
          <a:p>
            <a:pPr algn="l">
              <a:defRPr sz="1100" b="0">
                <a:solidFill>
                  <a:srgbClr val="ECF0F1"/>
                </a:solidFill>
                <a:latin typeface="Calibri"/>
              </a:defRPr>
            </a:pPr>
            <a:r>
              <a:t>Provisions for non-compliance</a:t>
            </a:r>
          </a:p>
        </p:txBody>
      </p:sp>
      <p:sp>
        <p:nvSpPr>
          <p:cNvPr id="29" name="TextBox 28"/>
          <p:cNvSpPr txBox="1"/>
          <p:nvPr/>
        </p:nvSpPr>
        <p:spPr>
          <a:xfrm>
            <a:off x="6400800" y="1371600"/>
            <a:ext cx="5029200" cy="1828800"/>
          </a:xfrm>
          <a:prstGeom prst="rect">
            <a:avLst/>
          </a:prstGeom>
          <a:noFill/>
        </p:spPr>
        <p:txBody>
          <a:bodyPr wrap="square">
            <a:spAutoFit/>
          </a:bodyPr>
          <a:lstStyle/>
          <a:p>
            <a:pPr>
              <a:spcAft>
                <a:spcPts val="600"/>
              </a:spcAft>
              <a:defRPr sz="2000" b="1">
                <a:solidFill>
                  <a:srgbClr val="2E86AB"/>
                </a:solidFill>
                <a:latin typeface="Calibri"/>
              </a:defRPr>
            </a:pPr>
            <a:r>
              <a:t>Key Provisions</a:t>
            </a:r>
          </a:p>
          <a:p>
            <a:pPr>
              <a:spcAft>
                <a:spcPts val="179"/>
              </a:spcAft>
              <a:defRPr sz="600" b="0">
                <a:solidFill>
                  <a:srgbClr val="FFFFFF"/>
                </a:solidFill>
                <a:latin typeface="Calibri"/>
              </a:defRPr>
            </a:pPr>
          </a:p>
          <a:p>
            <a:pPr>
              <a:spcAft>
                <a:spcPts val="359"/>
              </a:spcAft>
              <a:defRPr sz="1200" b="0">
                <a:solidFill>
                  <a:srgbClr val="ECF0F1"/>
                </a:solidFill>
                <a:latin typeface="Calibri"/>
              </a:defRPr>
            </a:pPr>
            <a:r>
              <a:t>Section 6-10: NDMA Powers &amp; Functions</a:t>
            </a:r>
          </a:p>
          <a:p>
            <a:pPr>
              <a:spcAft>
                <a:spcPts val="359"/>
              </a:spcAft>
              <a:defRPr sz="1200" b="0">
                <a:solidFill>
                  <a:srgbClr val="ECF0F1"/>
                </a:solidFill>
                <a:latin typeface="Calibri"/>
              </a:defRPr>
            </a:pPr>
            <a:r>
              <a:t>Section 11-15: SDMA Powers &amp; Functions</a:t>
            </a:r>
          </a:p>
          <a:p>
            <a:pPr>
              <a:spcAft>
                <a:spcPts val="359"/>
              </a:spcAft>
              <a:defRPr sz="1200" b="0">
                <a:solidFill>
                  <a:srgbClr val="ECF0F1"/>
                </a:solidFill>
                <a:latin typeface="Calibri"/>
              </a:defRPr>
            </a:pPr>
            <a:r>
              <a:t>Section 16-21: DDMA</a:t>
            </a:r>
          </a:p>
          <a:p>
            <a:pPr>
              <a:spcAft>
                <a:spcPts val="359"/>
              </a:spcAft>
              <a:defRPr sz="1200" b="0">
                <a:solidFill>
                  <a:srgbClr val="ECF0F1"/>
                </a:solidFill>
                <a:latin typeface="Calibri"/>
              </a:defRPr>
            </a:pPr>
            <a:r>
              <a:t>Section 22-24: NDRF</a:t>
            </a:r>
          </a:p>
          <a:p>
            <a:pPr>
              <a:spcAft>
                <a:spcPts val="359"/>
              </a:spcAft>
              <a:defRPr sz="1200" b="0">
                <a:solidFill>
                  <a:srgbClr val="ECF0F1"/>
                </a:solidFill>
                <a:latin typeface="Calibri"/>
              </a:defRPr>
            </a:pPr>
            <a:r>
              <a:t>Section 46-47: Response Funds</a:t>
            </a:r>
          </a:p>
          <a:p>
            <a:pPr>
              <a:spcAft>
                <a:spcPts val="359"/>
              </a:spcAft>
              <a:defRPr sz="1200" b="0">
                <a:solidFill>
                  <a:srgbClr val="ECF0F1"/>
                </a:solidFill>
                <a:latin typeface="Calibri"/>
              </a:defRPr>
            </a:pPr>
            <a:r>
              <a:t>Section 51-60: Offences &amp; Penalties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INSTITUTIONAL FRAMEWORK - NDMA STRUCTURE</a:t>
            </a:r>
          </a:p>
        </p:txBody>
      </p:sp>
      <p:sp>
        <p:nvSpPr>
          <p:cNvPr id="4" name="Rounded Rectangle 3"/>
          <p:cNvSpPr/>
          <p:nvPr/>
        </p:nvSpPr>
        <p:spPr>
          <a:xfrm>
            <a:off x="4114800" y="1371600"/>
            <a:ext cx="3931920" cy="1097280"/>
          </a:xfrm>
          <a:prstGeom prst="round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0" y="1463040"/>
            <a:ext cx="3931920" cy="365760"/>
          </a:xfrm>
          <a:prstGeom prst="rect">
            <a:avLst/>
          </a:prstGeom>
          <a:noFill/>
        </p:spPr>
        <p:txBody>
          <a:bodyPr wrap="square">
            <a:spAutoFit/>
          </a:bodyPr>
          <a:lstStyle/>
          <a:p>
            <a:pPr algn="ctr">
              <a:defRPr sz="1600" b="1">
                <a:solidFill>
                  <a:srgbClr val="FFFFFF"/>
                </a:solidFill>
                <a:latin typeface="Calibri"/>
              </a:defRPr>
            </a:pPr>
            <a:r>
              <a:t>National Disaster Management</a:t>
            </a:r>
          </a:p>
        </p:txBody>
      </p:sp>
      <p:sp>
        <p:nvSpPr>
          <p:cNvPr id="6" name="TextBox 5"/>
          <p:cNvSpPr txBox="1"/>
          <p:nvPr/>
        </p:nvSpPr>
        <p:spPr>
          <a:xfrm>
            <a:off x="4114800" y="1828800"/>
            <a:ext cx="3931920" cy="457200"/>
          </a:xfrm>
          <a:prstGeom prst="rect">
            <a:avLst/>
          </a:prstGeom>
          <a:noFill/>
        </p:spPr>
        <p:txBody>
          <a:bodyPr wrap="square">
            <a:spAutoFit/>
          </a:bodyPr>
          <a:lstStyle/>
          <a:p>
            <a:pPr algn="ctr">
              <a:defRPr sz="1200" b="0">
                <a:solidFill>
                  <a:srgbClr val="ECF0F1"/>
                </a:solidFill>
                <a:latin typeface="Calibri"/>
              </a:defRPr>
            </a:pPr>
            <a:r>
              <a:t>Authority (NDMA)</a:t>
            </a:r>
            <a:br/>
            <a:r>
              <a:t>Chairperson: Prime Minister</a:t>
            </a:r>
          </a:p>
        </p:txBody>
      </p:sp>
      <p:sp>
        <p:nvSpPr>
          <p:cNvPr id="7" name="Rounded Rectangle 6"/>
          <p:cNvSpPr/>
          <p:nvPr/>
        </p:nvSpPr>
        <p:spPr>
          <a:xfrm>
            <a:off x="731520" y="2926080"/>
            <a:ext cx="3657600" cy="109728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17520"/>
            <a:ext cx="3657600" cy="914400"/>
          </a:xfrm>
          <a:prstGeom prst="rect">
            <a:avLst/>
          </a:prstGeom>
          <a:noFill/>
        </p:spPr>
        <p:txBody>
          <a:bodyPr wrap="square">
            <a:spAutoFit/>
          </a:bodyPr>
          <a:lstStyle/>
          <a:p>
            <a:pPr algn="ctr">
              <a:defRPr sz="1300" b="1">
                <a:solidFill>
                  <a:srgbClr val="FFFFFF"/>
                </a:solidFill>
                <a:latin typeface="Calibri"/>
              </a:defRPr>
            </a:pPr>
            <a:r>
              <a:t>NDRF</a:t>
            </a:r>
            <a:br/>
            <a:r>
              <a:t>National Disaster Response Force</a:t>
            </a:r>
          </a:p>
        </p:txBody>
      </p:sp>
      <p:sp>
        <p:nvSpPr>
          <p:cNvPr id="9" name="Rounded Rectangle 8"/>
          <p:cNvSpPr/>
          <p:nvPr/>
        </p:nvSpPr>
        <p:spPr>
          <a:xfrm>
            <a:off x="4663440" y="2926080"/>
            <a:ext cx="3657600" cy="109728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3017520"/>
            <a:ext cx="3657600" cy="914400"/>
          </a:xfrm>
          <a:prstGeom prst="rect">
            <a:avLst/>
          </a:prstGeom>
          <a:noFill/>
        </p:spPr>
        <p:txBody>
          <a:bodyPr wrap="square">
            <a:spAutoFit/>
          </a:bodyPr>
          <a:lstStyle/>
          <a:p>
            <a:pPr algn="ctr">
              <a:defRPr sz="1300" b="1">
                <a:solidFill>
                  <a:srgbClr val="FFFFFF"/>
                </a:solidFill>
                <a:latin typeface="Calibri"/>
              </a:defRPr>
            </a:pPr>
            <a:r>
              <a:t>NIDM</a:t>
            </a:r>
            <a:br/>
            <a:r>
              <a:t>National Institute of Disaster Mgmt</a:t>
            </a:r>
          </a:p>
        </p:txBody>
      </p:sp>
      <p:sp>
        <p:nvSpPr>
          <p:cNvPr id="11" name="Rounded Rectangle 10"/>
          <p:cNvSpPr/>
          <p:nvPr/>
        </p:nvSpPr>
        <p:spPr>
          <a:xfrm>
            <a:off x="8595360" y="2926080"/>
            <a:ext cx="3657600" cy="10972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3017520"/>
            <a:ext cx="3657600" cy="914400"/>
          </a:xfrm>
          <a:prstGeom prst="rect">
            <a:avLst/>
          </a:prstGeom>
          <a:noFill/>
        </p:spPr>
        <p:txBody>
          <a:bodyPr wrap="square">
            <a:spAutoFit/>
          </a:bodyPr>
          <a:lstStyle/>
          <a:p>
            <a:pPr algn="ctr">
              <a:defRPr sz="1300" b="1">
                <a:solidFill>
                  <a:srgbClr val="FFFFFF"/>
                </a:solidFill>
                <a:latin typeface="Calibri"/>
              </a:defRPr>
            </a:pPr>
            <a:r>
              <a:t>SDMA</a:t>
            </a:r>
            <a:br/>
            <a:r>
              <a:t>State Disaster Mgmt Authorities</a:t>
            </a:r>
          </a:p>
        </p:txBody>
      </p:sp>
      <p:sp>
        <p:nvSpPr>
          <p:cNvPr id="13" name="Rounded Rectangle 12"/>
          <p:cNvSpPr/>
          <p:nvPr/>
        </p:nvSpPr>
        <p:spPr>
          <a:xfrm>
            <a:off x="274320" y="4389120"/>
            <a:ext cx="2743200" cy="1097280"/>
          </a:xfrm>
          <a:prstGeom prst="round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480560"/>
            <a:ext cx="2743200" cy="914400"/>
          </a:xfrm>
          <a:prstGeom prst="rect">
            <a:avLst/>
          </a:prstGeom>
          <a:noFill/>
        </p:spPr>
        <p:txBody>
          <a:bodyPr wrap="square">
            <a:spAutoFit/>
          </a:bodyPr>
          <a:lstStyle/>
          <a:p>
            <a:pPr algn="ctr">
              <a:defRPr sz="1200" b="1">
                <a:solidFill>
                  <a:srgbClr val="FFFFFF"/>
                </a:solidFill>
                <a:latin typeface="Calibri"/>
              </a:defRPr>
            </a:pPr>
            <a:r>
              <a:t>DDMA</a:t>
            </a:r>
            <a:br/>
            <a:r>
              <a:t>District Disaster Mgmt Authority</a:t>
            </a:r>
          </a:p>
        </p:txBody>
      </p:sp>
      <p:sp>
        <p:nvSpPr>
          <p:cNvPr id="15" name="Rounded Rectangle 14"/>
          <p:cNvSpPr/>
          <p:nvPr/>
        </p:nvSpPr>
        <p:spPr>
          <a:xfrm>
            <a:off x="3291839" y="4389120"/>
            <a:ext cx="2743200" cy="1097280"/>
          </a:xfrm>
          <a:prstGeom prst="round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291839" y="4480560"/>
            <a:ext cx="2743200" cy="914400"/>
          </a:xfrm>
          <a:prstGeom prst="rect">
            <a:avLst/>
          </a:prstGeom>
          <a:noFill/>
        </p:spPr>
        <p:txBody>
          <a:bodyPr wrap="square">
            <a:spAutoFit/>
          </a:bodyPr>
          <a:lstStyle/>
          <a:p>
            <a:pPr algn="ctr">
              <a:defRPr sz="1200" b="1">
                <a:solidFill>
                  <a:srgbClr val="FFFFFF"/>
                </a:solidFill>
                <a:latin typeface="Calibri"/>
              </a:defRPr>
            </a:pPr>
            <a:r>
              <a:t>NDRF Battalions</a:t>
            </a:r>
            <a:br/>
            <a:r>
              <a:t>16 Battalions across India</a:t>
            </a:r>
          </a:p>
        </p:txBody>
      </p:sp>
      <p:sp>
        <p:nvSpPr>
          <p:cNvPr id="17" name="Rounded Rectangle 16"/>
          <p:cNvSpPr/>
          <p:nvPr/>
        </p:nvSpPr>
        <p:spPr>
          <a:xfrm>
            <a:off x="6309359" y="4389120"/>
            <a:ext cx="2743200" cy="1097280"/>
          </a:xfrm>
          <a:prstGeom prst="round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9359" y="4480560"/>
            <a:ext cx="2743200" cy="914400"/>
          </a:xfrm>
          <a:prstGeom prst="rect">
            <a:avLst/>
          </a:prstGeom>
          <a:noFill/>
        </p:spPr>
        <p:txBody>
          <a:bodyPr wrap="square">
            <a:spAutoFit/>
          </a:bodyPr>
          <a:lstStyle/>
          <a:p>
            <a:pPr algn="ctr">
              <a:defRPr sz="1200" b="1">
                <a:solidFill>
                  <a:srgbClr val="FFFFFF"/>
                </a:solidFill>
                <a:latin typeface="Calibri"/>
              </a:defRPr>
            </a:pPr>
            <a:r>
              <a:t>SDRF</a:t>
            </a:r>
            <a:br/>
            <a:r>
              <a:t>State Disaster Response Fund</a:t>
            </a:r>
          </a:p>
        </p:txBody>
      </p:sp>
      <p:sp>
        <p:nvSpPr>
          <p:cNvPr id="19" name="Rounded Rectangle 18"/>
          <p:cNvSpPr/>
          <p:nvPr/>
        </p:nvSpPr>
        <p:spPr>
          <a:xfrm>
            <a:off x="9326880" y="4389120"/>
            <a:ext cx="2743200" cy="1097280"/>
          </a:xfrm>
          <a:prstGeom prst="round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4480560"/>
            <a:ext cx="2743200" cy="914400"/>
          </a:xfrm>
          <a:prstGeom prst="rect">
            <a:avLst/>
          </a:prstGeom>
          <a:noFill/>
        </p:spPr>
        <p:txBody>
          <a:bodyPr wrap="square">
            <a:spAutoFit/>
          </a:bodyPr>
          <a:lstStyle/>
          <a:p>
            <a:pPr algn="ctr">
              <a:defRPr sz="1200" b="1">
                <a:solidFill>
                  <a:srgbClr val="FFFFFF"/>
                </a:solidFill>
                <a:latin typeface="Calibri"/>
              </a:defRPr>
            </a:pPr>
            <a:r>
              <a:t>NDRF</a:t>
            </a:r>
            <a:br/>
            <a:r>
              <a:t>National Disaster Response Fund</a:t>
            </a:r>
          </a:p>
        </p:txBody>
      </p:sp>
      <p:sp>
        <p:nvSpPr>
          <p:cNvPr id="21" name="Rounded Rectangle 20"/>
          <p:cNvSpPr/>
          <p:nvPr/>
        </p:nvSpPr>
        <p:spPr>
          <a:xfrm>
            <a:off x="731520" y="5760720"/>
            <a:ext cx="3657600" cy="822960"/>
          </a:xfrm>
          <a:prstGeom prst="round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5806440"/>
            <a:ext cx="3657600" cy="731520"/>
          </a:xfrm>
          <a:prstGeom prst="rect">
            <a:avLst/>
          </a:prstGeom>
          <a:noFill/>
        </p:spPr>
        <p:txBody>
          <a:bodyPr wrap="square">
            <a:spAutoFit/>
          </a:bodyPr>
          <a:lstStyle/>
          <a:p>
            <a:pPr algn="ctr">
              <a:defRPr sz="1100" b="1">
                <a:solidFill>
                  <a:srgbClr val="FFFFFF"/>
                </a:solidFill>
                <a:latin typeface="Calibri"/>
              </a:defRPr>
            </a:pPr>
            <a:r>
              <a:t>Village Disaster</a:t>
            </a:r>
            <a:br/>
            <a:r>
              <a:t>Management Committees</a:t>
            </a:r>
          </a:p>
        </p:txBody>
      </p:sp>
      <p:sp>
        <p:nvSpPr>
          <p:cNvPr id="23" name="Rounded Rectangle 22"/>
          <p:cNvSpPr/>
          <p:nvPr/>
        </p:nvSpPr>
        <p:spPr>
          <a:xfrm>
            <a:off x="4663440" y="5760720"/>
            <a:ext cx="3657600" cy="822960"/>
          </a:xfrm>
          <a:prstGeom prst="round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5806440"/>
            <a:ext cx="3657600" cy="731520"/>
          </a:xfrm>
          <a:prstGeom prst="rect">
            <a:avLst/>
          </a:prstGeom>
          <a:noFill/>
        </p:spPr>
        <p:txBody>
          <a:bodyPr wrap="square">
            <a:spAutoFit/>
          </a:bodyPr>
          <a:lstStyle/>
          <a:p>
            <a:pPr algn="ctr">
              <a:defRPr sz="1100" b="1">
                <a:solidFill>
                  <a:srgbClr val="FFFFFF"/>
                </a:solidFill>
                <a:latin typeface="Calibri"/>
              </a:defRPr>
            </a:pPr>
            <a:r>
              <a:t>Local Emergency</a:t>
            </a:r>
            <a:br/>
            <a:r>
              <a:t>Operations Centres</a:t>
            </a:r>
          </a:p>
        </p:txBody>
      </p:sp>
      <p:sp>
        <p:nvSpPr>
          <p:cNvPr id="25" name="Rounded Rectangle 24"/>
          <p:cNvSpPr/>
          <p:nvPr/>
        </p:nvSpPr>
        <p:spPr>
          <a:xfrm>
            <a:off x="8595360" y="5760720"/>
            <a:ext cx="3657600" cy="822960"/>
          </a:xfrm>
          <a:prstGeom prst="round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95360" y="5806440"/>
            <a:ext cx="3657600" cy="731520"/>
          </a:xfrm>
          <a:prstGeom prst="rect">
            <a:avLst/>
          </a:prstGeom>
          <a:noFill/>
        </p:spPr>
        <p:txBody>
          <a:bodyPr wrap="square">
            <a:spAutoFit/>
          </a:bodyPr>
          <a:lstStyle/>
          <a:p>
            <a:pPr algn="ctr">
              <a:defRPr sz="1100" b="1">
                <a:solidFill>
                  <a:srgbClr val="FFFFFF"/>
                </a:solidFill>
                <a:latin typeface="Calibri"/>
              </a:defRPr>
            </a:pPr>
            <a:r>
              <a:t>Community-Based</a:t>
            </a:r>
            <a:br/>
            <a:r>
              <a:t>Disaster Management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FOUR PILLARS OF DISASTER MANAGEMENT</a:t>
            </a:r>
          </a:p>
        </p:txBody>
      </p:sp>
      <p:sp>
        <p:nvSpPr>
          <p:cNvPr id="4" name="Rounded Rectangle 3"/>
          <p:cNvSpPr/>
          <p:nvPr/>
        </p:nvSpPr>
        <p:spPr>
          <a:xfrm>
            <a:off x="274320" y="1371600"/>
            <a:ext cx="2743200" cy="50292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371600"/>
            <a:ext cx="2743200" cy="109728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463040"/>
            <a:ext cx="2560320" cy="914400"/>
          </a:xfrm>
          <a:prstGeom prst="rect">
            <a:avLst/>
          </a:prstGeom>
          <a:noFill/>
        </p:spPr>
        <p:txBody>
          <a:bodyPr wrap="square">
            <a:spAutoFit/>
          </a:bodyPr>
          <a:lstStyle/>
          <a:p>
            <a:pPr algn="ctr">
              <a:defRPr sz="1500" b="1">
                <a:solidFill>
                  <a:srgbClr val="FFFFFF"/>
                </a:solidFill>
                <a:latin typeface="Calibri"/>
              </a:defRPr>
            </a:pPr>
            <a:r>
              <a:t>PREVENTION</a:t>
            </a:r>
            <a:br/>
            <a:r>
              <a:t>&amp; MITIGATION</a:t>
            </a:r>
          </a:p>
        </p:txBody>
      </p:sp>
      <p:sp>
        <p:nvSpPr>
          <p:cNvPr id="7" name="TextBox 6"/>
          <p:cNvSpPr txBox="1"/>
          <p:nvPr/>
        </p:nvSpPr>
        <p:spPr>
          <a:xfrm>
            <a:off x="411480" y="2560320"/>
            <a:ext cx="2468880" cy="731520"/>
          </a:xfrm>
          <a:prstGeom prst="rect">
            <a:avLst/>
          </a:prstGeom>
          <a:noFill/>
        </p:spPr>
        <p:txBody>
          <a:bodyPr wrap="square">
            <a:spAutoFit/>
          </a:bodyPr>
          <a:lstStyle/>
          <a:p>
            <a:pPr algn="l">
              <a:defRPr sz="1000" b="0">
                <a:solidFill>
                  <a:srgbClr val="ECF0F1"/>
                </a:solidFill>
                <a:latin typeface="Calibri"/>
              </a:defRPr>
            </a:pPr>
            <a:r>
              <a:t>Actions to avoid or reduce adverse effects of hazards.</a:t>
            </a:r>
          </a:p>
        </p:txBody>
      </p:sp>
      <p:sp>
        <p:nvSpPr>
          <p:cNvPr id="8" name="TextBox 7"/>
          <p:cNvSpPr txBox="1"/>
          <p:nvPr/>
        </p:nvSpPr>
        <p:spPr>
          <a:xfrm>
            <a:off x="411480" y="3383280"/>
            <a:ext cx="2468880" cy="274320"/>
          </a:xfrm>
          <a:prstGeom prst="rect">
            <a:avLst/>
          </a:prstGeom>
          <a:noFill/>
        </p:spPr>
        <p:txBody>
          <a:bodyPr wrap="square">
            <a:spAutoFit/>
          </a:bodyPr>
          <a:lstStyle/>
          <a:p>
            <a:pPr algn="l">
              <a:defRPr sz="1100" b="1">
                <a:solidFill>
                  <a:srgbClr val="E83E3E"/>
                </a:solidFill>
                <a:latin typeface="Calibri"/>
              </a:defRPr>
            </a:pPr>
            <a:r>
              <a:t>Key Activities:</a:t>
            </a:r>
          </a:p>
        </p:txBody>
      </p:sp>
      <p:sp>
        <p:nvSpPr>
          <p:cNvPr id="9" name="TextBox 8"/>
          <p:cNvSpPr txBox="1"/>
          <p:nvPr/>
        </p:nvSpPr>
        <p:spPr>
          <a:xfrm>
            <a:off x="411480" y="3657600"/>
            <a:ext cx="2468880" cy="2560320"/>
          </a:xfrm>
          <a:prstGeom prst="rect">
            <a:avLst/>
          </a:prstGeom>
          <a:noFill/>
        </p:spPr>
        <p:txBody>
          <a:bodyPr wrap="square">
            <a:spAutoFit/>
          </a:bodyPr>
          <a:lstStyle/>
          <a:p>
            <a:pPr>
              <a:spcAft>
                <a:spcPts val="600"/>
              </a:spcAft>
              <a:defRPr sz="1000">
                <a:solidFill>
                  <a:srgbClr val="ECF0F1"/>
                </a:solidFill>
                <a:latin typeface="Calibri"/>
              </a:defRPr>
              <a:buChar char="●"/>
              <a:buClr>
                <a:srgbClr val="E83E3E"/>
              </a:buClr>
            </a:pPr>
            <a:r>
              <a:t>  Building code enforcement</a:t>
            </a:r>
          </a:p>
          <a:p>
            <a:pPr>
              <a:spcAft>
                <a:spcPts val="600"/>
              </a:spcAft>
              <a:defRPr sz="1000">
                <a:solidFill>
                  <a:srgbClr val="ECF0F1"/>
                </a:solidFill>
                <a:latin typeface="Calibri"/>
              </a:defRPr>
              <a:buChar char="●"/>
              <a:buClr>
                <a:srgbClr val="E83E3E"/>
              </a:buClr>
            </a:pPr>
            <a:r>
              <a:t>  Land-use planning</a:t>
            </a:r>
          </a:p>
          <a:p>
            <a:pPr>
              <a:spcAft>
                <a:spcPts val="600"/>
              </a:spcAft>
              <a:defRPr sz="1000">
                <a:solidFill>
                  <a:srgbClr val="ECF0F1"/>
                </a:solidFill>
                <a:latin typeface="Calibri"/>
              </a:defRPr>
              <a:buChar char="●"/>
              <a:buClr>
                <a:srgbClr val="E83E3E"/>
              </a:buClr>
            </a:pPr>
            <a:r>
              <a:t>  Environmental protection</a:t>
            </a:r>
          </a:p>
          <a:p>
            <a:pPr>
              <a:spcAft>
                <a:spcPts val="600"/>
              </a:spcAft>
              <a:defRPr sz="1000">
                <a:solidFill>
                  <a:srgbClr val="ECF0F1"/>
                </a:solidFill>
                <a:latin typeface="Calibri"/>
              </a:defRPr>
              <a:buChar char="●"/>
              <a:buClr>
                <a:srgbClr val="E83E3E"/>
              </a:buClr>
            </a:pPr>
            <a:r>
              <a:t>  Infrastructure retrofitting</a:t>
            </a:r>
          </a:p>
        </p:txBody>
      </p:sp>
      <p:sp>
        <p:nvSpPr>
          <p:cNvPr id="10" name="Rounded Rectangle 9"/>
          <p:cNvSpPr/>
          <p:nvPr/>
        </p:nvSpPr>
        <p:spPr>
          <a:xfrm>
            <a:off x="3291839" y="1371600"/>
            <a:ext cx="2743200" cy="50292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1839" y="1371600"/>
            <a:ext cx="2743200" cy="109728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83279" y="1463040"/>
            <a:ext cx="2560320" cy="914400"/>
          </a:xfrm>
          <a:prstGeom prst="rect">
            <a:avLst/>
          </a:prstGeom>
          <a:noFill/>
        </p:spPr>
        <p:txBody>
          <a:bodyPr wrap="square">
            <a:spAutoFit/>
          </a:bodyPr>
          <a:lstStyle/>
          <a:p>
            <a:pPr algn="ctr">
              <a:defRPr sz="1500" b="1">
                <a:solidFill>
                  <a:srgbClr val="FFFFFF"/>
                </a:solidFill>
                <a:latin typeface="Calibri"/>
              </a:defRPr>
            </a:pPr>
            <a:r>
              <a:t>PREPAREDNESS</a:t>
            </a:r>
          </a:p>
        </p:txBody>
      </p:sp>
      <p:sp>
        <p:nvSpPr>
          <p:cNvPr id="13" name="TextBox 12"/>
          <p:cNvSpPr txBox="1"/>
          <p:nvPr/>
        </p:nvSpPr>
        <p:spPr>
          <a:xfrm>
            <a:off x="3428999" y="2560320"/>
            <a:ext cx="2468880" cy="731520"/>
          </a:xfrm>
          <a:prstGeom prst="rect">
            <a:avLst/>
          </a:prstGeom>
          <a:noFill/>
        </p:spPr>
        <p:txBody>
          <a:bodyPr wrap="square">
            <a:spAutoFit/>
          </a:bodyPr>
          <a:lstStyle/>
          <a:p>
            <a:pPr algn="l">
              <a:defRPr sz="1000" b="0">
                <a:solidFill>
                  <a:srgbClr val="ECF0F1"/>
                </a:solidFill>
                <a:latin typeface="Calibri"/>
              </a:defRPr>
            </a:pPr>
            <a:r>
              <a:t>Measures taken in advance to ensure effective response.</a:t>
            </a:r>
          </a:p>
        </p:txBody>
      </p:sp>
      <p:sp>
        <p:nvSpPr>
          <p:cNvPr id="14" name="TextBox 13"/>
          <p:cNvSpPr txBox="1"/>
          <p:nvPr/>
        </p:nvSpPr>
        <p:spPr>
          <a:xfrm>
            <a:off x="3428999" y="3383280"/>
            <a:ext cx="2468880" cy="274320"/>
          </a:xfrm>
          <a:prstGeom prst="rect">
            <a:avLst/>
          </a:prstGeom>
          <a:noFill/>
        </p:spPr>
        <p:txBody>
          <a:bodyPr wrap="square">
            <a:spAutoFit/>
          </a:bodyPr>
          <a:lstStyle/>
          <a:p>
            <a:pPr algn="l">
              <a:defRPr sz="1100" b="1">
                <a:solidFill>
                  <a:srgbClr val="2E86AB"/>
                </a:solidFill>
                <a:latin typeface="Calibri"/>
              </a:defRPr>
            </a:pPr>
            <a:r>
              <a:t>Key Activities:</a:t>
            </a:r>
          </a:p>
        </p:txBody>
      </p:sp>
      <p:sp>
        <p:nvSpPr>
          <p:cNvPr id="15" name="TextBox 14"/>
          <p:cNvSpPr txBox="1"/>
          <p:nvPr/>
        </p:nvSpPr>
        <p:spPr>
          <a:xfrm>
            <a:off x="3428999" y="3657600"/>
            <a:ext cx="2468880" cy="2560320"/>
          </a:xfrm>
          <a:prstGeom prst="rect">
            <a:avLst/>
          </a:prstGeom>
          <a:noFill/>
        </p:spPr>
        <p:txBody>
          <a:bodyPr wrap="square">
            <a:spAutoFit/>
          </a:bodyPr>
          <a:lstStyle/>
          <a:p>
            <a:pPr>
              <a:spcAft>
                <a:spcPts val="600"/>
              </a:spcAft>
              <a:defRPr sz="1000">
                <a:solidFill>
                  <a:srgbClr val="ECF0F1"/>
                </a:solidFill>
                <a:latin typeface="Calibri"/>
              </a:defRPr>
              <a:buChar char="●"/>
              <a:buClr>
                <a:srgbClr val="2E86AB"/>
              </a:buClr>
            </a:pPr>
            <a:r>
              <a:t>  Early warning systems</a:t>
            </a:r>
          </a:p>
          <a:p>
            <a:pPr>
              <a:spcAft>
                <a:spcPts val="600"/>
              </a:spcAft>
              <a:defRPr sz="1000">
                <a:solidFill>
                  <a:srgbClr val="ECF0F1"/>
                </a:solidFill>
                <a:latin typeface="Calibri"/>
              </a:defRPr>
              <a:buChar char="●"/>
              <a:buClr>
                <a:srgbClr val="2E86AB"/>
              </a:buClr>
            </a:pPr>
            <a:r>
              <a:t>  Emergency planning</a:t>
            </a:r>
          </a:p>
          <a:p>
            <a:pPr>
              <a:spcAft>
                <a:spcPts val="600"/>
              </a:spcAft>
              <a:defRPr sz="1000">
                <a:solidFill>
                  <a:srgbClr val="ECF0F1"/>
                </a:solidFill>
                <a:latin typeface="Calibri"/>
              </a:defRPr>
              <a:buChar char="●"/>
              <a:buClr>
                <a:srgbClr val="2E86AB"/>
              </a:buClr>
            </a:pPr>
            <a:r>
              <a:t>  Public awareness</a:t>
            </a:r>
          </a:p>
          <a:p>
            <a:pPr>
              <a:spcAft>
                <a:spcPts val="600"/>
              </a:spcAft>
              <a:defRPr sz="1000">
                <a:solidFill>
                  <a:srgbClr val="ECF0F1"/>
                </a:solidFill>
                <a:latin typeface="Calibri"/>
              </a:defRPr>
              <a:buChar char="●"/>
              <a:buClr>
                <a:srgbClr val="2E86AB"/>
              </a:buClr>
            </a:pPr>
            <a:r>
              <a:t>  Stockpiling supplies</a:t>
            </a:r>
          </a:p>
        </p:txBody>
      </p:sp>
      <p:sp>
        <p:nvSpPr>
          <p:cNvPr id="16" name="Rounded Rectangle 15"/>
          <p:cNvSpPr/>
          <p:nvPr/>
        </p:nvSpPr>
        <p:spPr>
          <a:xfrm>
            <a:off x="6309359" y="1371600"/>
            <a:ext cx="2743200" cy="50292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309359" y="1371600"/>
            <a:ext cx="2743200" cy="109728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799" y="1463040"/>
            <a:ext cx="2560320" cy="914400"/>
          </a:xfrm>
          <a:prstGeom prst="rect">
            <a:avLst/>
          </a:prstGeom>
          <a:noFill/>
        </p:spPr>
        <p:txBody>
          <a:bodyPr wrap="square">
            <a:spAutoFit/>
          </a:bodyPr>
          <a:lstStyle/>
          <a:p>
            <a:pPr algn="ctr">
              <a:defRPr sz="1500" b="1">
                <a:solidFill>
                  <a:srgbClr val="FFFFFF"/>
                </a:solidFill>
                <a:latin typeface="Calibri"/>
              </a:defRPr>
            </a:pPr>
            <a:r>
              <a:t>RESPONSE</a:t>
            </a:r>
          </a:p>
        </p:txBody>
      </p:sp>
      <p:sp>
        <p:nvSpPr>
          <p:cNvPr id="19" name="TextBox 18"/>
          <p:cNvSpPr txBox="1"/>
          <p:nvPr/>
        </p:nvSpPr>
        <p:spPr>
          <a:xfrm>
            <a:off x="6446519" y="2560320"/>
            <a:ext cx="2468880" cy="731520"/>
          </a:xfrm>
          <a:prstGeom prst="rect">
            <a:avLst/>
          </a:prstGeom>
          <a:noFill/>
        </p:spPr>
        <p:txBody>
          <a:bodyPr wrap="square">
            <a:spAutoFit/>
          </a:bodyPr>
          <a:lstStyle/>
          <a:p>
            <a:pPr algn="l">
              <a:defRPr sz="1000" b="0">
                <a:solidFill>
                  <a:srgbClr val="ECF0F1"/>
                </a:solidFill>
                <a:latin typeface="Calibri"/>
              </a:defRPr>
            </a:pPr>
            <a:r>
              <a:t>Actions taken immediately before, during, and after disaster.</a:t>
            </a:r>
          </a:p>
        </p:txBody>
      </p:sp>
      <p:sp>
        <p:nvSpPr>
          <p:cNvPr id="20" name="TextBox 19"/>
          <p:cNvSpPr txBox="1"/>
          <p:nvPr/>
        </p:nvSpPr>
        <p:spPr>
          <a:xfrm>
            <a:off x="6446519" y="3383280"/>
            <a:ext cx="2468880" cy="274320"/>
          </a:xfrm>
          <a:prstGeom prst="rect">
            <a:avLst/>
          </a:prstGeom>
          <a:noFill/>
        </p:spPr>
        <p:txBody>
          <a:bodyPr wrap="square">
            <a:spAutoFit/>
          </a:bodyPr>
          <a:lstStyle/>
          <a:p>
            <a:pPr algn="l">
              <a:defRPr sz="1100" b="1">
                <a:solidFill>
                  <a:srgbClr val="27AE60"/>
                </a:solidFill>
                <a:latin typeface="Calibri"/>
              </a:defRPr>
            </a:pPr>
            <a:r>
              <a:t>Key Activities:</a:t>
            </a:r>
          </a:p>
        </p:txBody>
      </p:sp>
      <p:sp>
        <p:nvSpPr>
          <p:cNvPr id="21" name="TextBox 20"/>
          <p:cNvSpPr txBox="1"/>
          <p:nvPr/>
        </p:nvSpPr>
        <p:spPr>
          <a:xfrm>
            <a:off x="6446519" y="3657600"/>
            <a:ext cx="2468880" cy="2560320"/>
          </a:xfrm>
          <a:prstGeom prst="rect">
            <a:avLst/>
          </a:prstGeom>
          <a:noFill/>
        </p:spPr>
        <p:txBody>
          <a:bodyPr wrap="square">
            <a:spAutoFit/>
          </a:bodyPr>
          <a:lstStyle/>
          <a:p>
            <a:pPr>
              <a:spcAft>
                <a:spcPts val="600"/>
              </a:spcAft>
              <a:defRPr sz="1000">
                <a:solidFill>
                  <a:srgbClr val="ECF0F1"/>
                </a:solidFill>
                <a:latin typeface="Calibri"/>
              </a:defRPr>
              <a:buChar char="●"/>
              <a:buClr>
                <a:srgbClr val="27AE60"/>
              </a:buClr>
            </a:pPr>
            <a:r>
              <a:t>  Search and rescue</a:t>
            </a:r>
          </a:p>
          <a:p>
            <a:pPr>
              <a:spcAft>
                <a:spcPts val="600"/>
              </a:spcAft>
              <a:defRPr sz="1000">
                <a:solidFill>
                  <a:srgbClr val="ECF0F1"/>
                </a:solidFill>
                <a:latin typeface="Calibri"/>
              </a:defRPr>
              <a:buChar char="●"/>
              <a:buClr>
                <a:srgbClr val="27AE60"/>
              </a:buClr>
            </a:pPr>
            <a:r>
              <a:t>  Emergency medical services</a:t>
            </a:r>
          </a:p>
          <a:p>
            <a:pPr>
              <a:spcAft>
                <a:spcPts val="600"/>
              </a:spcAft>
              <a:defRPr sz="1000">
                <a:solidFill>
                  <a:srgbClr val="ECF0F1"/>
                </a:solidFill>
                <a:latin typeface="Calibri"/>
              </a:defRPr>
              <a:buChar char="●"/>
              <a:buClr>
                <a:srgbClr val="27AE60"/>
              </a:buClr>
            </a:pPr>
            <a:r>
              <a:t>  Evacuation management</a:t>
            </a:r>
          </a:p>
          <a:p>
            <a:pPr>
              <a:spcAft>
                <a:spcPts val="600"/>
              </a:spcAft>
              <a:defRPr sz="1000">
                <a:solidFill>
                  <a:srgbClr val="ECF0F1"/>
                </a:solidFill>
                <a:latin typeface="Calibri"/>
              </a:defRPr>
              <a:buChar char="●"/>
              <a:buClr>
                <a:srgbClr val="27AE60"/>
              </a:buClr>
            </a:pPr>
            <a:r>
              <a:t>  Relief distribution</a:t>
            </a:r>
          </a:p>
        </p:txBody>
      </p:sp>
      <p:sp>
        <p:nvSpPr>
          <p:cNvPr id="22" name="Rounded Rectangle 21"/>
          <p:cNvSpPr/>
          <p:nvPr/>
        </p:nvSpPr>
        <p:spPr>
          <a:xfrm>
            <a:off x="9326880" y="1371600"/>
            <a:ext cx="2743200" cy="50292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326880" y="1371600"/>
            <a:ext cx="2743200" cy="109728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463040"/>
            <a:ext cx="2560320" cy="914400"/>
          </a:xfrm>
          <a:prstGeom prst="rect">
            <a:avLst/>
          </a:prstGeom>
          <a:noFill/>
        </p:spPr>
        <p:txBody>
          <a:bodyPr wrap="square">
            <a:spAutoFit/>
          </a:bodyPr>
          <a:lstStyle/>
          <a:p>
            <a:pPr algn="ctr">
              <a:defRPr sz="1500" b="1">
                <a:solidFill>
                  <a:srgbClr val="FFFFFF"/>
                </a:solidFill>
                <a:latin typeface="Calibri"/>
              </a:defRPr>
            </a:pPr>
            <a:r>
              <a:t>RECOVERY</a:t>
            </a:r>
          </a:p>
        </p:txBody>
      </p:sp>
      <p:sp>
        <p:nvSpPr>
          <p:cNvPr id="25" name="TextBox 24"/>
          <p:cNvSpPr txBox="1"/>
          <p:nvPr/>
        </p:nvSpPr>
        <p:spPr>
          <a:xfrm>
            <a:off x="9464040" y="2560320"/>
            <a:ext cx="2468880" cy="731520"/>
          </a:xfrm>
          <a:prstGeom prst="rect">
            <a:avLst/>
          </a:prstGeom>
          <a:noFill/>
        </p:spPr>
        <p:txBody>
          <a:bodyPr wrap="square">
            <a:spAutoFit/>
          </a:bodyPr>
          <a:lstStyle/>
          <a:p>
            <a:pPr algn="l">
              <a:defRPr sz="1000" b="0">
                <a:solidFill>
                  <a:srgbClr val="ECF0F1"/>
                </a:solidFill>
                <a:latin typeface="Calibri"/>
              </a:defRPr>
            </a:pPr>
            <a:r>
              <a:t>Measures to restore and improve pre-disaster conditions.</a:t>
            </a:r>
          </a:p>
        </p:txBody>
      </p:sp>
      <p:sp>
        <p:nvSpPr>
          <p:cNvPr id="26" name="TextBox 25"/>
          <p:cNvSpPr txBox="1"/>
          <p:nvPr/>
        </p:nvSpPr>
        <p:spPr>
          <a:xfrm>
            <a:off x="9464040" y="3383280"/>
            <a:ext cx="2468880" cy="274320"/>
          </a:xfrm>
          <a:prstGeom prst="rect">
            <a:avLst/>
          </a:prstGeom>
          <a:noFill/>
        </p:spPr>
        <p:txBody>
          <a:bodyPr wrap="square">
            <a:spAutoFit/>
          </a:bodyPr>
          <a:lstStyle/>
          <a:p>
            <a:pPr algn="l">
              <a:defRPr sz="1100" b="1">
                <a:solidFill>
                  <a:srgbClr val="F39C12"/>
                </a:solidFill>
                <a:latin typeface="Calibri"/>
              </a:defRPr>
            </a:pPr>
            <a:r>
              <a:t>Key Activities:</a:t>
            </a:r>
          </a:p>
        </p:txBody>
      </p:sp>
      <p:sp>
        <p:nvSpPr>
          <p:cNvPr id="27" name="TextBox 26"/>
          <p:cNvSpPr txBox="1"/>
          <p:nvPr/>
        </p:nvSpPr>
        <p:spPr>
          <a:xfrm>
            <a:off x="9464040" y="3657600"/>
            <a:ext cx="2468880" cy="2560320"/>
          </a:xfrm>
          <a:prstGeom prst="rect">
            <a:avLst/>
          </a:prstGeom>
          <a:noFill/>
        </p:spPr>
        <p:txBody>
          <a:bodyPr wrap="square">
            <a:spAutoFit/>
          </a:bodyPr>
          <a:lstStyle/>
          <a:p>
            <a:pPr>
              <a:spcAft>
                <a:spcPts val="600"/>
              </a:spcAft>
              <a:defRPr sz="1000">
                <a:solidFill>
                  <a:srgbClr val="ECF0F1"/>
                </a:solidFill>
                <a:latin typeface="Calibri"/>
              </a:defRPr>
              <a:buChar char="●"/>
              <a:buClr>
                <a:srgbClr val="F39C12"/>
              </a:buClr>
            </a:pPr>
            <a:r>
              <a:t>  Infrastructure reconstruction</a:t>
            </a:r>
          </a:p>
          <a:p>
            <a:pPr>
              <a:spcAft>
                <a:spcPts val="600"/>
              </a:spcAft>
              <a:defRPr sz="1000">
                <a:solidFill>
                  <a:srgbClr val="ECF0F1"/>
                </a:solidFill>
                <a:latin typeface="Calibri"/>
              </a:defRPr>
              <a:buChar char="●"/>
              <a:buClr>
                <a:srgbClr val="F39C12"/>
              </a:buClr>
            </a:pPr>
            <a:r>
              <a:t>  Livelihood restoration</a:t>
            </a:r>
          </a:p>
          <a:p>
            <a:pPr>
              <a:spcAft>
                <a:spcPts val="600"/>
              </a:spcAft>
              <a:defRPr sz="1000">
                <a:solidFill>
                  <a:srgbClr val="ECF0F1"/>
                </a:solidFill>
                <a:latin typeface="Calibri"/>
              </a:defRPr>
              <a:buChar char="●"/>
              <a:buClr>
                <a:srgbClr val="F39C12"/>
              </a:buClr>
            </a:pPr>
            <a:r>
              <a:t>  Psychosocial support</a:t>
            </a:r>
          </a:p>
          <a:p>
            <a:pPr>
              <a:spcAft>
                <a:spcPts val="600"/>
              </a:spcAft>
              <a:defRPr sz="1000">
                <a:solidFill>
                  <a:srgbClr val="ECF0F1"/>
                </a:solidFill>
                <a:latin typeface="Calibri"/>
              </a:defRPr>
              <a:buChar char="●"/>
              <a:buClr>
                <a:srgbClr val="F39C12"/>
              </a:buClr>
            </a:pPr>
            <a:r>
              <a:t>  Build back better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106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106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05</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Prevention &amp;</a:t>
            </a:r>
            <a:br/>
            <a:r>
              <a:t>Mitigation Strategies</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PREVENTION &amp; MITIGATION STRATEGIES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Structural Measures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Physical engineering solutions.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Seismic-resistant design</a:t>
            </a:r>
          </a:p>
          <a:p>
            <a:pPr>
              <a:spcAft>
                <a:spcPts val="600"/>
              </a:spcAft>
              <a:defRPr sz="1100">
                <a:solidFill>
                  <a:srgbClr val="ECF0F1"/>
                </a:solidFill>
                <a:latin typeface="Calibri"/>
              </a:defRPr>
              <a:buChar char="●"/>
              <a:buClr>
                <a:srgbClr val="E83E3E"/>
              </a:buClr>
            </a:pPr>
            <a:r>
              <a:t>  Flood barriers &amp; levees</a:t>
            </a:r>
          </a:p>
          <a:p>
            <a:pPr>
              <a:spcAft>
                <a:spcPts val="600"/>
              </a:spcAft>
              <a:defRPr sz="1100">
                <a:solidFill>
                  <a:srgbClr val="ECF0F1"/>
                </a:solidFill>
                <a:latin typeface="Calibri"/>
              </a:defRPr>
              <a:buChar char="●"/>
              <a:buClr>
                <a:srgbClr val="E83E3E"/>
              </a:buClr>
            </a:pPr>
            <a:r>
              <a:t>  Cyclone shelters</a:t>
            </a:r>
          </a:p>
          <a:p>
            <a:pPr>
              <a:spcAft>
                <a:spcPts val="600"/>
              </a:spcAft>
              <a:defRPr sz="1100">
                <a:solidFill>
                  <a:srgbClr val="ECF0F1"/>
                </a:solidFill>
                <a:latin typeface="Calibri"/>
              </a:defRPr>
              <a:buChar char="●"/>
              <a:buClr>
                <a:srgbClr val="E83E3E"/>
              </a:buClr>
            </a:pPr>
            <a:r>
              <a:t>  Dam safety programs</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Non-Structural Measures</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Policy, planning, institutional approaches.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Building codes &amp; standards</a:t>
            </a:r>
          </a:p>
          <a:p>
            <a:pPr>
              <a:spcAft>
                <a:spcPts val="600"/>
              </a:spcAft>
              <a:defRPr sz="1100">
                <a:solidFill>
                  <a:srgbClr val="ECF0F1"/>
                </a:solidFill>
                <a:latin typeface="Calibri"/>
              </a:defRPr>
              <a:buChar char="●"/>
              <a:buClr>
                <a:srgbClr val="2E86AB"/>
              </a:buClr>
            </a:pPr>
            <a:r>
              <a:t>  Land-use zoning</a:t>
            </a:r>
          </a:p>
          <a:p>
            <a:pPr>
              <a:spcAft>
                <a:spcPts val="600"/>
              </a:spcAft>
              <a:defRPr sz="1100">
                <a:solidFill>
                  <a:srgbClr val="ECF0F1"/>
                </a:solidFill>
                <a:latin typeface="Calibri"/>
              </a:defRPr>
              <a:buChar char="●"/>
              <a:buClr>
                <a:srgbClr val="2E86AB"/>
              </a:buClr>
            </a:pPr>
            <a:r>
              <a:t>  Environmental assessment</a:t>
            </a:r>
          </a:p>
          <a:p>
            <a:pPr>
              <a:spcAft>
                <a:spcPts val="600"/>
              </a:spcAft>
              <a:defRPr sz="1100">
                <a:solidFill>
                  <a:srgbClr val="ECF0F1"/>
                </a:solidFill>
                <a:latin typeface="Calibri"/>
              </a:defRPr>
              <a:buChar char="●"/>
              <a:buClr>
                <a:srgbClr val="2E86AB"/>
              </a:buClr>
            </a:pPr>
            <a:r>
              <a:t>  Community awareness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Nature-Based Solutions</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Using natural systems for DRR.</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Mangrove restoration</a:t>
            </a:r>
          </a:p>
          <a:p>
            <a:pPr>
              <a:spcAft>
                <a:spcPts val="600"/>
              </a:spcAft>
              <a:defRPr sz="1100">
                <a:solidFill>
                  <a:srgbClr val="ECF0F1"/>
                </a:solidFill>
                <a:latin typeface="Calibri"/>
              </a:defRPr>
              <a:buChar char="●"/>
              <a:buClr>
                <a:srgbClr val="27AE60"/>
              </a:buClr>
            </a:pPr>
            <a:r>
              <a:t>  Watershed management</a:t>
            </a:r>
          </a:p>
          <a:p>
            <a:pPr>
              <a:spcAft>
                <a:spcPts val="600"/>
              </a:spcAft>
              <a:defRPr sz="1100">
                <a:solidFill>
                  <a:srgbClr val="ECF0F1"/>
                </a:solidFill>
                <a:latin typeface="Calibri"/>
              </a:defRPr>
              <a:buChar char="●"/>
              <a:buClr>
                <a:srgbClr val="27AE60"/>
              </a:buClr>
            </a:pPr>
            <a:r>
              <a:t>  Afforestation</a:t>
            </a:r>
          </a:p>
          <a:p>
            <a:pPr>
              <a:spcAft>
                <a:spcPts val="600"/>
              </a:spcAft>
              <a:defRPr sz="1100">
                <a:solidFill>
                  <a:srgbClr val="ECF0F1"/>
                </a:solidFill>
                <a:latin typeface="Calibri"/>
              </a:defRPr>
              <a:buChar char="●"/>
              <a:buClr>
                <a:srgbClr val="27AE60"/>
              </a:buClr>
            </a:pPr>
            <a:r>
              <a:t>  Wetland preservation</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Technological Solutions</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Modern technology for prediction.</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Satellite monitoring</a:t>
            </a:r>
          </a:p>
          <a:p>
            <a:pPr>
              <a:spcAft>
                <a:spcPts val="600"/>
              </a:spcAft>
              <a:defRPr sz="1100">
                <a:solidFill>
                  <a:srgbClr val="ECF0F1"/>
                </a:solidFill>
                <a:latin typeface="Calibri"/>
              </a:defRPr>
              <a:buChar char="●"/>
              <a:buClr>
                <a:srgbClr val="F39C12"/>
              </a:buClr>
            </a:pPr>
            <a:r>
              <a:t>  IoT sensor networks</a:t>
            </a:r>
          </a:p>
          <a:p>
            <a:pPr>
              <a:spcAft>
                <a:spcPts val="600"/>
              </a:spcAft>
              <a:defRPr sz="1100">
                <a:solidFill>
                  <a:srgbClr val="ECF0F1"/>
                </a:solidFill>
                <a:latin typeface="Calibri"/>
              </a:defRPr>
              <a:buChar char="●"/>
              <a:buClr>
                <a:srgbClr val="F39C12"/>
              </a:buClr>
            </a:pPr>
            <a:r>
              <a:t>  AI prediction models</a:t>
            </a:r>
          </a:p>
          <a:p>
            <a:pPr>
              <a:spcAft>
                <a:spcPts val="600"/>
              </a:spcAft>
              <a:defRPr sz="1100">
                <a:solidFill>
                  <a:srgbClr val="ECF0F1"/>
                </a:solidFill>
                <a:latin typeface="Calibri"/>
              </a:defRPr>
              <a:buChar char="●"/>
              <a:buClr>
                <a:srgbClr val="F39C12"/>
              </a:buClr>
            </a:pPr>
            <a:r>
              <a:t>  GIS hazard mapping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099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0990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06</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Preparedness &amp;</a:t>
            </a:r>
            <a:br/>
            <a:r>
              <a:t>Early Warning Systems</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EARLY WARNING SYSTEMS IN INDIA</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Cyclone Warning</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IMD provides cyclone warnings through multi-channel communication.</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Cyclone warning centers</a:t>
            </a:r>
          </a:p>
          <a:p>
            <a:pPr>
              <a:spcAft>
                <a:spcPts val="600"/>
              </a:spcAft>
              <a:defRPr sz="1100">
                <a:solidFill>
                  <a:srgbClr val="ECF0F1"/>
                </a:solidFill>
                <a:latin typeface="Calibri"/>
              </a:defRPr>
              <a:buChar char="●"/>
              <a:buClr>
                <a:srgbClr val="E83E3E"/>
              </a:buClr>
            </a:pPr>
            <a:r>
              <a:t>  6-12 hour advance warning</a:t>
            </a:r>
          </a:p>
          <a:p>
            <a:pPr>
              <a:spcAft>
                <a:spcPts val="600"/>
              </a:spcAft>
              <a:defRPr sz="1100">
                <a:solidFill>
                  <a:srgbClr val="ECF0F1"/>
                </a:solidFill>
                <a:latin typeface="Calibri"/>
              </a:defRPr>
              <a:buChar char="●"/>
              <a:buClr>
                <a:srgbClr val="E83E3E"/>
              </a:buClr>
            </a:pPr>
            <a:r>
              <a:t>  Mobile-based alerts</a:t>
            </a:r>
          </a:p>
          <a:p>
            <a:pPr>
              <a:spcAft>
                <a:spcPts val="600"/>
              </a:spcAft>
              <a:defRPr sz="1100">
                <a:solidFill>
                  <a:srgbClr val="ECF0F1"/>
                </a:solidFill>
                <a:latin typeface="Calibri"/>
              </a:defRPr>
              <a:buChar char="●"/>
              <a:buClr>
                <a:srgbClr val="E83E3E"/>
              </a:buClr>
            </a:pPr>
            <a:r>
              <a:t>  Community dissemination</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Flood Forecasting</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CWC monitors river levels and provides flood forecasts.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Upper catchment warning</a:t>
            </a:r>
          </a:p>
          <a:p>
            <a:pPr>
              <a:spcAft>
                <a:spcPts val="600"/>
              </a:spcAft>
              <a:defRPr sz="1100">
                <a:solidFill>
                  <a:srgbClr val="ECF0F1"/>
                </a:solidFill>
                <a:latin typeface="Calibri"/>
              </a:defRPr>
              <a:buChar char="●"/>
              <a:buClr>
                <a:srgbClr val="2E86AB"/>
              </a:buClr>
            </a:pPr>
            <a:r>
              <a:t>  River flow monitoring</a:t>
            </a:r>
          </a:p>
          <a:p>
            <a:pPr>
              <a:spcAft>
                <a:spcPts val="600"/>
              </a:spcAft>
              <a:defRPr sz="1100">
                <a:solidFill>
                  <a:srgbClr val="ECF0F1"/>
                </a:solidFill>
                <a:latin typeface="Calibri"/>
              </a:defRPr>
              <a:buChar char="●"/>
              <a:buClr>
                <a:srgbClr val="2E86AB"/>
              </a:buClr>
            </a:pPr>
            <a:r>
              <a:t>  Reservoir inflow forecasting</a:t>
            </a:r>
          </a:p>
          <a:p>
            <a:pPr>
              <a:spcAft>
                <a:spcPts val="600"/>
              </a:spcAft>
              <a:defRPr sz="1100">
                <a:solidFill>
                  <a:srgbClr val="ECF0F1"/>
                </a:solidFill>
                <a:latin typeface="Calibri"/>
              </a:defRPr>
              <a:buChar char="●"/>
              <a:buClr>
                <a:srgbClr val="2E86AB"/>
              </a:buClr>
            </a:pPr>
            <a:r>
              <a:t>  Flood inundation mapping</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Earthquake Early Warning</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Developing EWS for Himalayan region with seismic monitoring.</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Seismic gap analysis</a:t>
            </a:r>
          </a:p>
          <a:p>
            <a:pPr>
              <a:spcAft>
                <a:spcPts val="600"/>
              </a:spcAft>
              <a:defRPr sz="1100">
                <a:solidFill>
                  <a:srgbClr val="ECF0F1"/>
                </a:solidFill>
                <a:latin typeface="Calibri"/>
              </a:defRPr>
              <a:buChar char="●"/>
              <a:buClr>
                <a:srgbClr val="27AE60"/>
              </a:buClr>
            </a:pPr>
            <a:r>
              <a:t>  Strong motion network</a:t>
            </a:r>
          </a:p>
          <a:p>
            <a:pPr>
              <a:spcAft>
                <a:spcPts val="600"/>
              </a:spcAft>
              <a:defRPr sz="1100">
                <a:solidFill>
                  <a:srgbClr val="ECF0F1"/>
                </a:solidFill>
                <a:latin typeface="Calibri"/>
              </a:defRPr>
              <a:buChar char="●"/>
              <a:buClr>
                <a:srgbClr val="27AE60"/>
              </a:buClr>
            </a:pPr>
            <a:r>
              <a:t>  Real-time monitoring</a:t>
            </a:r>
          </a:p>
          <a:p>
            <a:pPr>
              <a:spcAft>
                <a:spcPts val="600"/>
              </a:spcAft>
              <a:defRPr sz="1100">
                <a:solidFill>
                  <a:srgbClr val="ECF0F1"/>
                </a:solidFill>
                <a:latin typeface="Calibri"/>
              </a:defRPr>
              <a:buChar char="●"/>
              <a:buClr>
                <a:srgbClr val="27AE60"/>
              </a:buClr>
            </a:pPr>
            <a:r>
              <a:t>  P-wave based warning</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Tsunami Warning</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ITEWC at INCOIS provides tsunami warnings post-2004.</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Deep ocean buoys</a:t>
            </a:r>
          </a:p>
          <a:p>
            <a:pPr>
              <a:spcAft>
                <a:spcPts val="600"/>
              </a:spcAft>
              <a:defRPr sz="1100">
                <a:solidFill>
                  <a:srgbClr val="ECF0F1"/>
                </a:solidFill>
                <a:latin typeface="Calibri"/>
              </a:defRPr>
              <a:buChar char="●"/>
              <a:buClr>
                <a:srgbClr val="F39C12"/>
              </a:buClr>
            </a:pPr>
            <a:r>
              <a:t>  Seismic monitoring</a:t>
            </a:r>
          </a:p>
          <a:p>
            <a:pPr>
              <a:spcAft>
                <a:spcPts val="600"/>
              </a:spcAft>
              <a:defRPr sz="1100">
                <a:solidFill>
                  <a:srgbClr val="ECF0F1"/>
                </a:solidFill>
                <a:latin typeface="Calibri"/>
              </a:defRPr>
              <a:buChar char="●"/>
              <a:buClr>
                <a:srgbClr val="F39C12"/>
              </a:buClr>
            </a:pPr>
            <a:r>
              <a:t>  Tide gauge stations</a:t>
            </a:r>
          </a:p>
          <a:p>
            <a:pPr>
              <a:spcAft>
                <a:spcPts val="600"/>
              </a:spcAft>
              <a:defRPr sz="1100">
                <a:solidFill>
                  <a:srgbClr val="ECF0F1"/>
                </a:solidFill>
                <a:latin typeface="Calibri"/>
              </a:defRPr>
              <a:buChar char="●"/>
              <a:buClr>
                <a:srgbClr val="F39C12"/>
              </a:buClr>
            </a:pPr>
            <a:r>
              <a:t>  National warning centre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DISASTER PREPAREDNESS MEASURES</a:t>
            </a:r>
          </a:p>
        </p:txBody>
      </p:sp>
      <p:sp>
        <p:nvSpPr>
          <p:cNvPr id="4" name="Rounded Rectangle 3"/>
          <p:cNvSpPr/>
          <p:nvPr/>
        </p:nvSpPr>
        <p:spPr>
          <a:xfrm>
            <a:off x="36576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365760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3291840" cy="365760"/>
          </a:xfrm>
          <a:prstGeom prst="rect">
            <a:avLst/>
          </a:prstGeom>
          <a:noFill/>
        </p:spPr>
        <p:txBody>
          <a:bodyPr wrap="square">
            <a:spAutoFit/>
          </a:bodyPr>
          <a:lstStyle/>
          <a:p>
            <a:pPr algn="ctr">
              <a:defRPr sz="1600" b="1">
                <a:solidFill>
                  <a:srgbClr val="FFFFFF"/>
                </a:solidFill>
                <a:latin typeface="Calibri"/>
              </a:defRPr>
            </a:pPr>
            <a:r>
              <a:t>Emergency Planning</a:t>
            </a:r>
          </a:p>
        </p:txBody>
      </p:sp>
      <p:sp>
        <p:nvSpPr>
          <p:cNvPr id="7" name="TextBox 6"/>
          <p:cNvSpPr txBox="1"/>
          <p:nvPr/>
        </p:nvSpPr>
        <p:spPr>
          <a:xfrm>
            <a:off x="548640" y="1920240"/>
            <a:ext cx="3291840" cy="914400"/>
          </a:xfrm>
          <a:prstGeom prst="rect">
            <a:avLst/>
          </a:prstGeom>
          <a:noFill/>
        </p:spPr>
        <p:txBody>
          <a:bodyPr wrap="square">
            <a:spAutoFit/>
          </a:bodyPr>
          <a:lstStyle/>
          <a:p>
            <a:pPr algn="l">
              <a:defRPr sz="1100" b="0">
                <a:solidFill>
                  <a:srgbClr val="ECF0F1"/>
                </a:solidFill>
                <a:latin typeface="Calibri"/>
              </a:defRPr>
            </a:pPr>
            <a:r>
              <a:t>DM plans at national, state, district, and local levels.</a:t>
            </a:r>
          </a:p>
        </p:txBody>
      </p:sp>
      <p:sp>
        <p:nvSpPr>
          <p:cNvPr id="8" name="TextBox 7"/>
          <p:cNvSpPr txBox="1"/>
          <p:nvPr/>
        </p:nvSpPr>
        <p:spPr>
          <a:xfrm>
            <a:off x="548640" y="256032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E83E3E"/>
              </a:buClr>
            </a:pPr>
            <a:r>
              <a:t>  Evacuation plans</a:t>
            </a:r>
          </a:p>
          <a:p>
            <a:pPr>
              <a:spcAft>
                <a:spcPts val="600"/>
              </a:spcAft>
              <a:defRPr sz="1000">
                <a:solidFill>
                  <a:srgbClr val="ECF0F1"/>
                </a:solidFill>
                <a:latin typeface="Calibri"/>
              </a:defRPr>
              <a:buChar char="●"/>
              <a:buClr>
                <a:srgbClr val="E83E3E"/>
              </a:buClr>
            </a:pPr>
            <a:r>
              <a:t>  Resource allocation</a:t>
            </a:r>
          </a:p>
          <a:p>
            <a:pPr>
              <a:spcAft>
                <a:spcPts val="600"/>
              </a:spcAft>
              <a:defRPr sz="1000">
                <a:solidFill>
                  <a:srgbClr val="ECF0F1"/>
                </a:solidFill>
                <a:latin typeface="Calibri"/>
              </a:defRPr>
              <a:buChar char="●"/>
              <a:buClr>
                <a:srgbClr val="E83E3E"/>
              </a:buClr>
            </a:pPr>
            <a:r>
              <a:t>  Communication protocols</a:t>
            </a:r>
          </a:p>
          <a:p>
            <a:pPr>
              <a:spcAft>
                <a:spcPts val="600"/>
              </a:spcAft>
              <a:defRPr sz="1000">
                <a:solidFill>
                  <a:srgbClr val="ECF0F1"/>
                </a:solidFill>
                <a:latin typeface="Calibri"/>
              </a:defRPr>
              <a:buChar char="●"/>
              <a:buClr>
                <a:srgbClr val="E83E3E"/>
              </a:buClr>
            </a:pPr>
            <a:r>
              <a:t>  Inter-agency coordination</a:t>
            </a:r>
          </a:p>
        </p:txBody>
      </p:sp>
      <p:sp>
        <p:nvSpPr>
          <p:cNvPr id="9" name="Rounded Rectangle 8"/>
          <p:cNvSpPr/>
          <p:nvPr/>
        </p:nvSpPr>
        <p:spPr>
          <a:xfrm>
            <a:off x="429768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371600"/>
            <a:ext cx="36576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444752"/>
            <a:ext cx="3291840" cy="365760"/>
          </a:xfrm>
          <a:prstGeom prst="rect">
            <a:avLst/>
          </a:prstGeom>
          <a:noFill/>
        </p:spPr>
        <p:txBody>
          <a:bodyPr wrap="square">
            <a:spAutoFit/>
          </a:bodyPr>
          <a:lstStyle/>
          <a:p>
            <a:pPr algn="ctr">
              <a:defRPr sz="1600" b="1">
                <a:solidFill>
                  <a:srgbClr val="FFFFFF"/>
                </a:solidFill>
                <a:latin typeface="Calibri"/>
              </a:defRPr>
            </a:pPr>
            <a:r>
              <a:t>Capacity Building</a:t>
            </a:r>
          </a:p>
        </p:txBody>
      </p:sp>
      <p:sp>
        <p:nvSpPr>
          <p:cNvPr id="12" name="TextBox 11"/>
          <p:cNvSpPr txBox="1"/>
          <p:nvPr/>
        </p:nvSpPr>
        <p:spPr>
          <a:xfrm>
            <a:off x="4480560" y="1920240"/>
            <a:ext cx="3291840" cy="914400"/>
          </a:xfrm>
          <a:prstGeom prst="rect">
            <a:avLst/>
          </a:prstGeom>
          <a:noFill/>
        </p:spPr>
        <p:txBody>
          <a:bodyPr wrap="square">
            <a:spAutoFit/>
          </a:bodyPr>
          <a:lstStyle/>
          <a:p>
            <a:pPr algn="l">
              <a:defRPr sz="1100" b="0">
                <a:solidFill>
                  <a:srgbClr val="ECF0F1"/>
                </a:solidFill>
                <a:latin typeface="Calibri"/>
              </a:defRPr>
            </a:pPr>
            <a:r>
              <a:t>Training of officials, community volunteers, first responders.</a:t>
            </a:r>
          </a:p>
        </p:txBody>
      </p:sp>
      <p:sp>
        <p:nvSpPr>
          <p:cNvPr id="13" name="TextBox 12"/>
          <p:cNvSpPr txBox="1"/>
          <p:nvPr/>
        </p:nvSpPr>
        <p:spPr>
          <a:xfrm>
            <a:off x="4480560" y="256032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2E86AB"/>
              </a:buClr>
            </a:pPr>
            <a:r>
              <a:t>  Officials training</a:t>
            </a:r>
          </a:p>
          <a:p>
            <a:pPr>
              <a:spcAft>
                <a:spcPts val="600"/>
              </a:spcAft>
              <a:defRPr sz="1000">
                <a:solidFill>
                  <a:srgbClr val="ECF0F1"/>
                </a:solidFill>
                <a:latin typeface="Calibri"/>
              </a:defRPr>
              <a:buChar char="●"/>
              <a:buClr>
                <a:srgbClr val="2E86AB"/>
              </a:buClr>
            </a:pPr>
            <a:r>
              <a:t>  Volunteer programs</a:t>
            </a:r>
          </a:p>
          <a:p>
            <a:pPr>
              <a:spcAft>
                <a:spcPts val="600"/>
              </a:spcAft>
              <a:defRPr sz="1000">
                <a:solidFill>
                  <a:srgbClr val="ECF0F1"/>
                </a:solidFill>
                <a:latin typeface="Calibri"/>
              </a:defRPr>
              <a:buChar char="●"/>
              <a:buClr>
                <a:srgbClr val="2E86AB"/>
              </a:buClr>
            </a:pPr>
            <a:r>
              <a:t>  Mock drills</a:t>
            </a:r>
          </a:p>
          <a:p>
            <a:pPr>
              <a:spcAft>
                <a:spcPts val="600"/>
              </a:spcAft>
              <a:defRPr sz="1000">
                <a:solidFill>
                  <a:srgbClr val="ECF0F1"/>
                </a:solidFill>
                <a:latin typeface="Calibri"/>
              </a:defRPr>
              <a:buChar char="●"/>
              <a:buClr>
                <a:srgbClr val="2E86AB"/>
              </a:buClr>
            </a:pPr>
            <a:r>
              <a:t>  Simulation exercises</a:t>
            </a:r>
          </a:p>
        </p:txBody>
      </p:sp>
      <p:sp>
        <p:nvSpPr>
          <p:cNvPr id="14" name="Rounded Rectangle 13"/>
          <p:cNvSpPr/>
          <p:nvPr/>
        </p:nvSpPr>
        <p:spPr>
          <a:xfrm>
            <a:off x="822960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371600"/>
            <a:ext cx="365760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44752"/>
            <a:ext cx="3291840" cy="365760"/>
          </a:xfrm>
          <a:prstGeom prst="rect">
            <a:avLst/>
          </a:prstGeom>
          <a:noFill/>
        </p:spPr>
        <p:txBody>
          <a:bodyPr wrap="square">
            <a:spAutoFit/>
          </a:bodyPr>
          <a:lstStyle/>
          <a:p>
            <a:pPr algn="ctr">
              <a:defRPr sz="1600" b="1">
                <a:solidFill>
                  <a:srgbClr val="FFFFFF"/>
                </a:solidFill>
                <a:latin typeface="Calibri"/>
              </a:defRPr>
            </a:pPr>
            <a:r>
              <a:t>Resource Stockpiling</a:t>
            </a:r>
          </a:p>
        </p:txBody>
      </p:sp>
      <p:sp>
        <p:nvSpPr>
          <p:cNvPr id="17" name="TextBox 16"/>
          <p:cNvSpPr txBox="1"/>
          <p:nvPr/>
        </p:nvSpPr>
        <p:spPr>
          <a:xfrm>
            <a:off x="8412480" y="1920240"/>
            <a:ext cx="3291840" cy="914400"/>
          </a:xfrm>
          <a:prstGeom prst="rect">
            <a:avLst/>
          </a:prstGeom>
          <a:noFill/>
        </p:spPr>
        <p:txBody>
          <a:bodyPr wrap="square">
            <a:spAutoFit/>
          </a:bodyPr>
          <a:lstStyle/>
          <a:p>
            <a:pPr algn="l">
              <a:defRPr sz="1100" b="0">
                <a:solidFill>
                  <a:srgbClr val="ECF0F1"/>
                </a:solidFill>
                <a:latin typeface="Calibri"/>
              </a:defRPr>
            </a:pPr>
            <a:r>
              <a:t>Pre-positioning emergency supplies at strategic locations.</a:t>
            </a:r>
          </a:p>
        </p:txBody>
      </p:sp>
      <p:sp>
        <p:nvSpPr>
          <p:cNvPr id="18" name="TextBox 17"/>
          <p:cNvSpPr txBox="1"/>
          <p:nvPr/>
        </p:nvSpPr>
        <p:spPr>
          <a:xfrm>
            <a:off x="8412480" y="256032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27AE60"/>
              </a:buClr>
            </a:pPr>
            <a:r>
              <a:t>  Food and water reserves</a:t>
            </a:r>
          </a:p>
          <a:p>
            <a:pPr>
              <a:spcAft>
                <a:spcPts val="600"/>
              </a:spcAft>
              <a:defRPr sz="1000">
                <a:solidFill>
                  <a:srgbClr val="ECF0F1"/>
                </a:solidFill>
                <a:latin typeface="Calibri"/>
              </a:defRPr>
              <a:buChar char="●"/>
              <a:buClr>
                <a:srgbClr val="27AE60"/>
              </a:buClr>
            </a:pPr>
            <a:r>
              <a:t>  Medical supplies</a:t>
            </a:r>
          </a:p>
          <a:p>
            <a:pPr>
              <a:spcAft>
                <a:spcPts val="600"/>
              </a:spcAft>
              <a:defRPr sz="1000">
                <a:solidFill>
                  <a:srgbClr val="ECF0F1"/>
                </a:solidFill>
                <a:latin typeface="Calibri"/>
              </a:defRPr>
              <a:buChar char="●"/>
              <a:buClr>
                <a:srgbClr val="27AE60"/>
              </a:buClr>
            </a:pPr>
            <a:r>
              <a:t>  Tents and shelters</a:t>
            </a:r>
          </a:p>
          <a:p>
            <a:pPr>
              <a:spcAft>
                <a:spcPts val="600"/>
              </a:spcAft>
              <a:defRPr sz="1000">
                <a:solidFill>
                  <a:srgbClr val="ECF0F1"/>
                </a:solidFill>
                <a:latin typeface="Calibri"/>
              </a:defRPr>
              <a:buChar char="●"/>
              <a:buClr>
                <a:srgbClr val="27AE60"/>
              </a:buClr>
            </a:pPr>
            <a:r>
              <a:t>  Rescue equipment</a:t>
            </a:r>
          </a:p>
        </p:txBody>
      </p:sp>
      <p:sp>
        <p:nvSpPr>
          <p:cNvPr id="19" name="Rounded Rectangle 18"/>
          <p:cNvSpPr/>
          <p:nvPr/>
        </p:nvSpPr>
        <p:spPr>
          <a:xfrm>
            <a:off x="36576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023360"/>
            <a:ext cx="365760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096512"/>
            <a:ext cx="3291840" cy="365760"/>
          </a:xfrm>
          <a:prstGeom prst="rect">
            <a:avLst/>
          </a:prstGeom>
          <a:noFill/>
        </p:spPr>
        <p:txBody>
          <a:bodyPr wrap="square">
            <a:spAutoFit/>
          </a:bodyPr>
          <a:lstStyle/>
          <a:p>
            <a:pPr algn="ctr">
              <a:defRPr sz="1600" b="1">
                <a:solidFill>
                  <a:srgbClr val="FFFFFF"/>
                </a:solidFill>
                <a:latin typeface="Calibri"/>
              </a:defRPr>
            </a:pPr>
            <a:r>
              <a:t>Public Awareness</a:t>
            </a:r>
          </a:p>
        </p:txBody>
      </p:sp>
      <p:sp>
        <p:nvSpPr>
          <p:cNvPr id="22" name="TextBox 21"/>
          <p:cNvSpPr txBox="1"/>
          <p:nvPr/>
        </p:nvSpPr>
        <p:spPr>
          <a:xfrm>
            <a:off x="548640" y="4572000"/>
            <a:ext cx="3291840" cy="914400"/>
          </a:xfrm>
          <a:prstGeom prst="rect">
            <a:avLst/>
          </a:prstGeom>
          <a:noFill/>
        </p:spPr>
        <p:txBody>
          <a:bodyPr wrap="square">
            <a:spAutoFit/>
          </a:bodyPr>
          <a:lstStyle/>
          <a:p>
            <a:pPr algn="l">
              <a:defRPr sz="1100" b="0">
                <a:solidFill>
                  <a:srgbClr val="ECF0F1"/>
                </a:solidFill>
                <a:latin typeface="Calibri"/>
              </a:defRPr>
            </a:pPr>
            <a:r>
              <a:t>Community education, school curricula, media campaigns.</a:t>
            </a:r>
          </a:p>
        </p:txBody>
      </p:sp>
      <p:sp>
        <p:nvSpPr>
          <p:cNvPr id="23" name="TextBox 22"/>
          <p:cNvSpPr txBox="1"/>
          <p:nvPr/>
        </p:nvSpPr>
        <p:spPr>
          <a:xfrm>
            <a:off x="548640" y="521208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F39C12"/>
              </a:buClr>
            </a:pPr>
            <a:r>
              <a:t>  School programs</a:t>
            </a:r>
          </a:p>
          <a:p>
            <a:pPr>
              <a:spcAft>
                <a:spcPts val="600"/>
              </a:spcAft>
              <a:defRPr sz="1000">
                <a:solidFill>
                  <a:srgbClr val="ECF0F1"/>
                </a:solidFill>
                <a:latin typeface="Calibri"/>
              </a:defRPr>
              <a:buChar char="●"/>
              <a:buClr>
                <a:srgbClr val="F39C12"/>
              </a:buClr>
            </a:pPr>
            <a:r>
              <a:t>  Media campaigns</a:t>
            </a:r>
          </a:p>
          <a:p>
            <a:pPr>
              <a:spcAft>
                <a:spcPts val="600"/>
              </a:spcAft>
              <a:defRPr sz="1000">
                <a:solidFill>
                  <a:srgbClr val="ECF0F1"/>
                </a:solidFill>
                <a:latin typeface="Calibri"/>
              </a:defRPr>
              <a:buChar char="●"/>
              <a:buClr>
                <a:srgbClr val="F39C12"/>
              </a:buClr>
            </a:pPr>
            <a:r>
              <a:t>  Community drills</a:t>
            </a:r>
          </a:p>
          <a:p>
            <a:pPr>
              <a:spcAft>
                <a:spcPts val="600"/>
              </a:spcAft>
              <a:defRPr sz="1000">
                <a:solidFill>
                  <a:srgbClr val="ECF0F1"/>
                </a:solidFill>
                <a:latin typeface="Calibri"/>
              </a:defRPr>
              <a:buChar char="●"/>
              <a:buClr>
                <a:srgbClr val="F39C12"/>
              </a:buClr>
            </a:pPr>
            <a:r>
              <a:t>  Digital awareness</a:t>
            </a:r>
          </a:p>
        </p:txBody>
      </p:sp>
      <p:sp>
        <p:nvSpPr>
          <p:cNvPr id="24" name="Rounded Rectangle 23"/>
          <p:cNvSpPr/>
          <p:nvPr/>
        </p:nvSpPr>
        <p:spPr>
          <a:xfrm>
            <a:off x="429768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023360"/>
            <a:ext cx="365760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4096512"/>
            <a:ext cx="3291840" cy="365760"/>
          </a:xfrm>
          <a:prstGeom prst="rect">
            <a:avLst/>
          </a:prstGeom>
          <a:noFill/>
        </p:spPr>
        <p:txBody>
          <a:bodyPr wrap="square">
            <a:spAutoFit/>
          </a:bodyPr>
          <a:lstStyle/>
          <a:p>
            <a:pPr algn="ctr">
              <a:defRPr sz="1600" b="1">
                <a:solidFill>
                  <a:srgbClr val="FFFFFF"/>
                </a:solidFill>
                <a:latin typeface="Calibri"/>
              </a:defRPr>
            </a:pPr>
            <a:r>
              <a:t>Communication Systems</a:t>
            </a:r>
          </a:p>
        </p:txBody>
      </p:sp>
      <p:sp>
        <p:nvSpPr>
          <p:cNvPr id="27" name="TextBox 26"/>
          <p:cNvSpPr txBox="1"/>
          <p:nvPr/>
        </p:nvSpPr>
        <p:spPr>
          <a:xfrm>
            <a:off x="4480560" y="4572000"/>
            <a:ext cx="3291840" cy="914400"/>
          </a:xfrm>
          <a:prstGeom prst="rect">
            <a:avLst/>
          </a:prstGeom>
          <a:noFill/>
        </p:spPr>
        <p:txBody>
          <a:bodyPr wrap="square">
            <a:spAutoFit/>
          </a:bodyPr>
          <a:lstStyle/>
          <a:p>
            <a:pPr algn="l">
              <a:defRPr sz="1100" b="0">
                <a:solidFill>
                  <a:srgbClr val="ECF0F1"/>
                </a:solidFill>
                <a:latin typeface="Calibri"/>
              </a:defRPr>
            </a:pPr>
            <a:r>
              <a:t>Multi-modal networks: satellite, radio, mobile, internet.</a:t>
            </a:r>
          </a:p>
        </p:txBody>
      </p:sp>
      <p:sp>
        <p:nvSpPr>
          <p:cNvPr id="28" name="TextBox 27"/>
          <p:cNvSpPr txBox="1"/>
          <p:nvPr/>
        </p:nvSpPr>
        <p:spPr>
          <a:xfrm>
            <a:off x="4480560" y="521208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9B59B6"/>
              </a:buClr>
            </a:pPr>
            <a:r>
              <a:t>  Satellite phones</a:t>
            </a:r>
          </a:p>
          <a:p>
            <a:pPr>
              <a:spcAft>
                <a:spcPts val="600"/>
              </a:spcAft>
              <a:defRPr sz="1000">
                <a:solidFill>
                  <a:srgbClr val="ECF0F1"/>
                </a:solidFill>
                <a:latin typeface="Calibri"/>
              </a:defRPr>
              <a:buChar char="●"/>
              <a:buClr>
                <a:srgbClr val="9B59B6"/>
              </a:buClr>
            </a:pPr>
            <a:r>
              <a:t>  Emergency radio</a:t>
            </a:r>
          </a:p>
          <a:p>
            <a:pPr>
              <a:spcAft>
                <a:spcPts val="600"/>
              </a:spcAft>
              <a:defRPr sz="1000">
                <a:solidFill>
                  <a:srgbClr val="ECF0F1"/>
                </a:solidFill>
                <a:latin typeface="Calibri"/>
              </a:defRPr>
              <a:buChar char="●"/>
              <a:buClr>
                <a:srgbClr val="9B59B6"/>
              </a:buClr>
            </a:pPr>
            <a:r>
              <a:t>  Mobile alerts</a:t>
            </a:r>
          </a:p>
          <a:p>
            <a:pPr>
              <a:spcAft>
                <a:spcPts val="600"/>
              </a:spcAft>
              <a:defRPr sz="1000">
                <a:solidFill>
                  <a:srgbClr val="ECF0F1"/>
                </a:solidFill>
                <a:latin typeface="Calibri"/>
              </a:defRPr>
              <a:buChar char="●"/>
              <a:buClr>
                <a:srgbClr val="9B59B6"/>
              </a:buClr>
            </a:pPr>
            <a:r>
              <a:t>  Internet systems</a:t>
            </a:r>
          </a:p>
        </p:txBody>
      </p:sp>
      <p:sp>
        <p:nvSpPr>
          <p:cNvPr id="29" name="Rounded Rectangle 28"/>
          <p:cNvSpPr/>
          <p:nvPr/>
        </p:nvSpPr>
        <p:spPr>
          <a:xfrm>
            <a:off x="822960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0" y="4023360"/>
            <a:ext cx="365760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4096512"/>
            <a:ext cx="3291840" cy="365760"/>
          </a:xfrm>
          <a:prstGeom prst="rect">
            <a:avLst/>
          </a:prstGeom>
          <a:noFill/>
        </p:spPr>
        <p:txBody>
          <a:bodyPr wrap="square">
            <a:spAutoFit/>
          </a:bodyPr>
          <a:lstStyle/>
          <a:p>
            <a:pPr algn="ctr">
              <a:defRPr sz="1600" b="1">
                <a:solidFill>
                  <a:srgbClr val="FFFFFF"/>
                </a:solidFill>
                <a:latin typeface="Calibri"/>
              </a:defRPr>
            </a:pPr>
            <a:r>
              <a:t>Financial Preparedness</a:t>
            </a:r>
          </a:p>
        </p:txBody>
      </p:sp>
      <p:sp>
        <p:nvSpPr>
          <p:cNvPr id="32" name="TextBox 31"/>
          <p:cNvSpPr txBox="1"/>
          <p:nvPr/>
        </p:nvSpPr>
        <p:spPr>
          <a:xfrm>
            <a:off x="8412480" y="4572000"/>
            <a:ext cx="3291840" cy="914400"/>
          </a:xfrm>
          <a:prstGeom prst="rect">
            <a:avLst/>
          </a:prstGeom>
          <a:noFill/>
        </p:spPr>
        <p:txBody>
          <a:bodyPr wrap="square">
            <a:spAutoFit/>
          </a:bodyPr>
          <a:lstStyle/>
          <a:p>
            <a:pPr algn="l">
              <a:defRPr sz="1100" b="0">
                <a:solidFill>
                  <a:srgbClr val="ECF0F1"/>
                </a:solidFill>
                <a:latin typeface="Calibri"/>
              </a:defRPr>
            </a:pPr>
            <a:r>
              <a:t>Pre-arranged emergency funds, insurance mechanisms.</a:t>
            </a:r>
          </a:p>
        </p:txBody>
      </p:sp>
      <p:sp>
        <p:nvSpPr>
          <p:cNvPr id="33" name="TextBox 32"/>
          <p:cNvSpPr txBox="1"/>
          <p:nvPr/>
        </p:nvSpPr>
        <p:spPr>
          <a:xfrm>
            <a:off x="8412480" y="521208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E74C3C"/>
              </a:buClr>
            </a:pPr>
            <a:r>
              <a:t>  Emergency funds</a:t>
            </a:r>
          </a:p>
          <a:p>
            <a:pPr>
              <a:spcAft>
                <a:spcPts val="600"/>
              </a:spcAft>
              <a:defRPr sz="1000">
                <a:solidFill>
                  <a:srgbClr val="ECF0F1"/>
                </a:solidFill>
                <a:latin typeface="Calibri"/>
              </a:defRPr>
              <a:buChar char="●"/>
              <a:buClr>
                <a:srgbClr val="E74C3C"/>
              </a:buClr>
            </a:pPr>
            <a:r>
              <a:t>  Insurance schemes</a:t>
            </a:r>
          </a:p>
          <a:p>
            <a:pPr>
              <a:spcAft>
                <a:spcPts val="600"/>
              </a:spcAft>
              <a:defRPr sz="1000">
                <a:solidFill>
                  <a:srgbClr val="ECF0F1"/>
                </a:solidFill>
                <a:latin typeface="Calibri"/>
              </a:defRPr>
              <a:buChar char="●"/>
              <a:buClr>
                <a:srgbClr val="E74C3C"/>
              </a:buClr>
            </a:pPr>
            <a:r>
              <a:t>  Contingency budgets</a:t>
            </a:r>
          </a:p>
          <a:p>
            <a:pPr>
              <a:spcAft>
                <a:spcPts val="600"/>
              </a:spcAft>
              <a:defRPr sz="1000">
                <a:solidFill>
                  <a:srgbClr val="ECF0F1"/>
                </a:solidFill>
                <a:latin typeface="Calibri"/>
              </a:defRPr>
              <a:buChar char="●"/>
              <a:buClr>
                <a:srgbClr val="E74C3C"/>
              </a:buClr>
            </a:pPr>
            <a:r>
              <a:t>  Rapid release mechanisms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7D3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7D3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07</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Response &amp;</a:t>
            </a:r>
            <a:br/>
            <a:r>
              <a:t>Rescue Operations</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DISASTER RESPONSE &amp; RESCUE OPERATIONS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NDRF</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Specialized force with 16 battalions. Trained in search, rescue, and medical ops.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6,000+ trained personnel</a:t>
            </a:r>
          </a:p>
          <a:p>
            <a:pPr>
              <a:spcAft>
                <a:spcPts val="600"/>
              </a:spcAft>
              <a:defRPr sz="1100">
                <a:solidFill>
                  <a:srgbClr val="ECF0F1"/>
                </a:solidFill>
                <a:latin typeface="Calibri"/>
              </a:defRPr>
              <a:buChar char="●"/>
              <a:buClr>
                <a:srgbClr val="E83E3E"/>
              </a:buClr>
            </a:pPr>
            <a:r>
              <a:t>  Life detectors &amp; cutting tools</a:t>
            </a:r>
          </a:p>
          <a:p>
            <a:pPr>
              <a:spcAft>
                <a:spcPts val="600"/>
              </a:spcAft>
              <a:defRPr sz="1100">
                <a:solidFill>
                  <a:srgbClr val="ECF0F1"/>
                </a:solidFill>
                <a:latin typeface="Calibri"/>
              </a:defRPr>
              <a:buChar char="●"/>
              <a:buClr>
                <a:srgbClr val="E83E3E"/>
              </a:buClr>
            </a:pPr>
            <a:r>
              <a:t>  Community awareness programs</a:t>
            </a:r>
          </a:p>
          <a:p>
            <a:pPr>
              <a:spcAft>
                <a:spcPts val="600"/>
              </a:spcAft>
              <a:defRPr sz="1100">
                <a:solidFill>
                  <a:srgbClr val="ECF0F1"/>
                </a:solidFill>
                <a:latin typeface="Calibri"/>
              </a:defRPr>
              <a:buChar char="●"/>
              <a:buClr>
                <a:srgbClr val="E83E3E"/>
              </a:buClr>
            </a:pPr>
            <a:r>
              <a:t>  International response</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Indian Armed Forces</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Military provides critical support. Often first responders in remote areas.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Rapid troop deployment</a:t>
            </a:r>
          </a:p>
          <a:p>
            <a:pPr>
              <a:spcAft>
                <a:spcPts val="600"/>
              </a:spcAft>
              <a:defRPr sz="1100">
                <a:solidFill>
                  <a:srgbClr val="ECF0F1"/>
                </a:solidFill>
                <a:latin typeface="Calibri"/>
              </a:defRPr>
              <a:buChar char="●"/>
              <a:buClr>
                <a:srgbClr val="2E86AB"/>
              </a:buClr>
            </a:pPr>
            <a:r>
              <a:t>  Air rescue operations</a:t>
            </a:r>
          </a:p>
          <a:p>
            <a:pPr>
              <a:spcAft>
                <a:spcPts val="600"/>
              </a:spcAft>
              <a:defRPr sz="1100">
                <a:solidFill>
                  <a:srgbClr val="ECF0F1"/>
                </a:solidFill>
                <a:latin typeface="Calibri"/>
              </a:defRPr>
              <a:buChar char="●"/>
              <a:buClr>
                <a:srgbClr val="2E86AB"/>
              </a:buClr>
            </a:pPr>
            <a:r>
              <a:t>  Engineering support</a:t>
            </a:r>
          </a:p>
          <a:p>
            <a:pPr>
              <a:spcAft>
                <a:spcPts val="600"/>
              </a:spcAft>
              <a:defRPr sz="1100">
                <a:solidFill>
                  <a:srgbClr val="ECF0F1"/>
                </a:solidFill>
                <a:latin typeface="Calibri"/>
              </a:defRPr>
              <a:buChar char="●"/>
              <a:buClr>
                <a:srgbClr val="2E86AB"/>
              </a:buClr>
            </a:pPr>
            <a:r>
              <a:t>  Field hospitals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Medical Response</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National/state medical teams for trauma care, disease surveillance.</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Emergency medical teams</a:t>
            </a:r>
          </a:p>
          <a:p>
            <a:pPr>
              <a:spcAft>
                <a:spcPts val="600"/>
              </a:spcAft>
              <a:defRPr sz="1100">
                <a:solidFill>
                  <a:srgbClr val="ECF0F1"/>
                </a:solidFill>
                <a:latin typeface="Calibri"/>
              </a:defRPr>
              <a:buChar char="●"/>
              <a:buClr>
                <a:srgbClr val="27AE60"/>
              </a:buClr>
            </a:pPr>
            <a:r>
              <a:t>  Mobile medical units</a:t>
            </a:r>
          </a:p>
          <a:p>
            <a:pPr>
              <a:spcAft>
                <a:spcPts val="600"/>
              </a:spcAft>
              <a:defRPr sz="1100">
                <a:solidFill>
                  <a:srgbClr val="ECF0F1"/>
                </a:solidFill>
                <a:latin typeface="Calibri"/>
              </a:defRPr>
              <a:buChar char="●"/>
              <a:buClr>
                <a:srgbClr val="27AE60"/>
              </a:buClr>
            </a:pPr>
            <a:r>
              <a:t>  Disease outbreak prevention</a:t>
            </a:r>
          </a:p>
          <a:p>
            <a:pPr>
              <a:spcAft>
                <a:spcPts val="600"/>
              </a:spcAft>
              <a:defRPr sz="1100">
                <a:solidFill>
                  <a:srgbClr val="ECF0F1"/>
                </a:solidFill>
                <a:latin typeface="Calibri"/>
              </a:defRPr>
              <a:buChar char="●"/>
              <a:buClr>
                <a:srgbClr val="27AE60"/>
              </a:buClr>
            </a:pPr>
            <a:r>
              <a:t>  Psychosocial support</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Evacuation Management</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Systematic evacuation to safe locations with pre-identified shelters.</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Pre-mapped evacuation routes</a:t>
            </a:r>
          </a:p>
          <a:p>
            <a:pPr>
              <a:spcAft>
                <a:spcPts val="600"/>
              </a:spcAft>
              <a:defRPr sz="1100">
                <a:solidFill>
                  <a:srgbClr val="ECF0F1"/>
                </a:solidFill>
                <a:latin typeface="Calibri"/>
              </a:defRPr>
              <a:buChar char="●"/>
              <a:buClr>
                <a:srgbClr val="F39C12"/>
              </a:buClr>
            </a:pPr>
            <a:r>
              <a:t>  Temporary relief camps</a:t>
            </a:r>
          </a:p>
          <a:p>
            <a:pPr>
              <a:spcAft>
                <a:spcPts val="600"/>
              </a:spcAft>
              <a:defRPr sz="1100">
                <a:solidFill>
                  <a:srgbClr val="ECF0F1"/>
                </a:solidFill>
                <a:latin typeface="Calibri"/>
              </a:defRPr>
              <a:buChar char="●"/>
              <a:buClr>
                <a:srgbClr val="F39C12"/>
              </a:buClr>
            </a:pPr>
            <a:r>
              <a:t>  Transport coordination</a:t>
            </a:r>
          </a:p>
          <a:p>
            <a:pPr>
              <a:spcAft>
                <a:spcPts val="600"/>
              </a:spcAft>
              <a:defRPr sz="1100">
                <a:solidFill>
                  <a:srgbClr val="ECF0F1"/>
                </a:solidFill>
                <a:latin typeface="Calibri"/>
              </a:defRPr>
              <a:buChar char="●"/>
              <a:buClr>
                <a:srgbClr val="F39C12"/>
              </a:buClr>
            </a:pPr>
            <a:r>
              <a:t>  Vulnerable group provisions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C9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C9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08</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Rehabilitation &amp;</a:t>
            </a:r>
            <a:br/>
            <a:r>
              <a:t>Reconstruction</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REHABILITATION &amp; RECONSTRUCTION</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Short-term Rehabilitation</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Immediate restoration of basic services and living conditions.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Temporary shelter</a:t>
            </a:r>
          </a:p>
          <a:p>
            <a:pPr>
              <a:spcAft>
                <a:spcPts val="600"/>
              </a:spcAft>
              <a:defRPr sz="1100">
                <a:solidFill>
                  <a:srgbClr val="ECF0F1"/>
                </a:solidFill>
                <a:latin typeface="Calibri"/>
              </a:defRPr>
              <a:buChar char="●"/>
              <a:buClr>
                <a:srgbClr val="E83E3E"/>
              </a:buClr>
            </a:pPr>
            <a:r>
              <a:t>  Water supply restoration</a:t>
            </a:r>
          </a:p>
          <a:p>
            <a:pPr>
              <a:spcAft>
                <a:spcPts val="600"/>
              </a:spcAft>
              <a:defRPr sz="1100">
                <a:solidFill>
                  <a:srgbClr val="ECF0F1"/>
                </a:solidFill>
                <a:latin typeface="Calibri"/>
              </a:defRPr>
              <a:buChar char="●"/>
              <a:buClr>
                <a:srgbClr val="E83E3E"/>
              </a:buClr>
            </a:pPr>
            <a:r>
              <a:t>  Emergency healthcare</a:t>
            </a:r>
          </a:p>
          <a:p>
            <a:pPr>
              <a:spcAft>
                <a:spcPts val="600"/>
              </a:spcAft>
              <a:defRPr sz="1100">
                <a:solidFill>
                  <a:srgbClr val="ECF0F1"/>
                </a:solidFill>
                <a:latin typeface="Calibri"/>
              </a:defRPr>
              <a:buChar char="●"/>
              <a:buClr>
                <a:srgbClr val="E83E3E"/>
              </a:buClr>
            </a:pPr>
            <a:r>
              <a:t>  Cash transfer programs</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Long-term Reconstruction</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Permanent rebuilding of infrastructure and communities.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Housing reconstruction</a:t>
            </a:r>
          </a:p>
          <a:p>
            <a:pPr>
              <a:spcAft>
                <a:spcPts val="600"/>
              </a:spcAft>
              <a:defRPr sz="1100">
                <a:solidFill>
                  <a:srgbClr val="ECF0F1"/>
                </a:solidFill>
                <a:latin typeface="Calibri"/>
              </a:defRPr>
              <a:buChar char="●"/>
              <a:buClr>
                <a:srgbClr val="2E86AB"/>
              </a:buClr>
            </a:pPr>
            <a:r>
              <a:t>  Infrastructure rebuilding</a:t>
            </a:r>
          </a:p>
          <a:p>
            <a:pPr>
              <a:spcAft>
                <a:spcPts val="600"/>
              </a:spcAft>
              <a:defRPr sz="1100">
                <a:solidFill>
                  <a:srgbClr val="ECF0F1"/>
                </a:solidFill>
                <a:latin typeface="Calibri"/>
              </a:defRPr>
              <a:buChar char="●"/>
              <a:buClr>
                <a:srgbClr val="2E86AB"/>
              </a:buClr>
            </a:pPr>
            <a:r>
              <a:t>  Economic rehabilitation</a:t>
            </a:r>
          </a:p>
          <a:p>
            <a:pPr>
              <a:spcAft>
                <a:spcPts val="600"/>
              </a:spcAft>
              <a:defRPr sz="1100">
                <a:solidFill>
                  <a:srgbClr val="ECF0F1"/>
                </a:solidFill>
                <a:latin typeface="Calibri"/>
              </a:defRPr>
              <a:buChar char="●"/>
              <a:buClr>
                <a:srgbClr val="2E86AB"/>
              </a:buClr>
            </a:pPr>
            <a:r>
              <a:t>  Social infrastructure</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Livelihood Restoration</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Restoring income sources and economic activities.</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Agricultural recovery</a:t>
            </a:r>
          </a:p>
          <a:p>
            <a:pPr>
              <a:spcAft>
                <a:spcPts val="600"/>
              </a:spcAft>
              <a:defRPr sz="1100">
                <a:solidFill>
                  <a:srgbClr val="ECF0F1"/>
                </a:solidFill>
                <a:latin typeface="Calibri"/>
              </a:defRPr>
              <a:buChar char="●"/>
              <a:buClr>
                <a:srgbClr val="27AE60"/>
              </a:buClr>
            </a:pPr>
            <a:r>
              <a:t>  Small business support</a:t>
            </a:r>
          </a:p>
          <a:p>
            <a:pPr>
              <a:spcAft>
                <a:spcPts val="600"/>
              </a:spcAft>
              <a:defRPr sz="1100">
                <a:solidFill>
                  <a:srgbClr val="ECF0F1"/>
                </a:solidFill>
                <a:latin typeface="Calibri"/>
              </a:defRPr>
              <a:buChar char="●"/>
              <a:buClr>
                <a:srgbClr val="27AE60"/>
              </a:buClr>
            </a:pPr>
            <a:r>
              <a:t>  Skill development</a:t>
            </a:r>
          </a:p>
          <a:p>
            <a:pPr>
              <a:spcAft>
                <a:spcPts val="600"/>
              </a:spcAft>
              <a:defRPr sz="1100">
                <a:solidFill>
                  <a:srgbClr val="ECF0F1"/>
                </a:solidFill>
                <a:latin typeface="Calibri"/>
              </a:defRPr>
              <a:buChar char="●"/>
              <a:buClr>
                <a:srgbClr val="27AE60"/>
              </a:buClr>
            </a:pPr>
            <a:r>
              <a:t>  Credit/financial support</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Psychosocial Recovery</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Addressing mental health and social well-being.</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Trauma counseling</a:t>
            </a:r>
          </a:p>
          <a:p>
            <a:pPr>
              <a:spcAft>
                <a:spcPts val="600"/>
              </a:spcAft>
              <a:defRPr sz="1100">
                <a:solidFill>
                  <a:srgbClr val="ECF0F1"/>
                </a:solidFill>
                <a:latin typeface="Calibri"/>
              </a:defRPr>
              <a:buChar char="●"/>
              <a:buClr>
                <a:srgbClr val="F39C12"/>
              </a:buClr>
            </a:pPr>
            <a:r>
              <a:t>  Community support groups</a:t>
            </a:r>
          </a:p>
          <a:p>
            <a:pPr>
              <a:spcAft>
                <a:spcPts val="600"/>
              </a:spcAft>
              <a:defRPr sz="1100">
                <a:solidFill>
                  <a:srgbClr val="ECF0F1"/>
                </a:solidFill>
                <a:latin typeface="Calibri"/>
              </a:defRPr>
              <a:buChar char="●"/>
              <a:buClr>
                <a:srgbClr val="F39C12"/>
              </a:buClr>
            </a:pPr>
            <a:r>
              <a:t>  School rehabilitation</a:t>
            </a:r>
          </a:p>
          <a:p>
            <a:pPr>
              <a:spcAft>
                <a:spcPts val="600"/>
              </a:spcAft>
              <a:defRPr sz="1100">
                <a:solidFill>
                  <a:srgbClr val="ECF0F1"/>
                </a:solidFill>
                <a:latin typeface="Calibri"/>
              </a:defRPr>
              <a:buChar char="●"/>
              <a:buClr>
                <a:srgbClr val="F39C12"/>
              </a:buClr>
            </a:pPr>
            <a:r>
              <a:t>  Cultural heritage restoration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009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009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09</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Role of Architecture</a:t>
            </a:r>
            <a:br/>
            <a:r>
              <a:t>in Disaster Management</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ARCHITECTURE &amp; DISASTER MANAGEMENT</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Disaster-Resistant Design</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Designing structures that withstand disasters.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Seismic-resistant systems</a:t>
            </a:r>
          </a:p>
          <a:p>
            <a:pPr>
              <a:spcAft>
                <a:spcPts val="600"/>
              </a:spcAft>
              <a:defRPr sz="1100">
                <a:solidFill>
                  <a:srgbClr val="ECF0F1"/>
                </a:solidFill>
                <a:latin typeface="Calibri"/>
              </a:defRPr>
              <a:buChar char="●"/>
              <a:buClr>
                <a:srgbClr val="E83E3E"/>
              </a:buClr>
            </a:pPr>
            <a:r>
              <a:t>  Flood-proof construction</a:t>
            </a:r>
          </a:p>
          <a:p>
            <a:pPr>
              <a:spcAft>
                <a:spcPts val="600"/>
              </a:spcAft>
              <a:defRPr sz="1100">
                <a:solidFill>
                  <a:srgbClr val="ECF0F1"/>
                </a:solidFill>
                <a:latin typeface="Calibri"/>
              </a:defRPr>
              <a:buChar char="●"/>
              <a:buClr>
                <a:srgbClr val="E83E3E"/>
              </a:buClr>
            </a:pPr>
            <a:r>
              <a:t>  Wind-resistant forms</a:t>
            </a:r>
          </a:p>
          <a:p>
            <a:pPr>
              <a:spcAft>
                <a:spcPts val="600"/>
              </a:spcAft>
              <a:defRPr sz="1100">
                <a:solidFill>
                  <a:srgbClr val="ECF0F1"/>
                </a:solidFill>
                <a:latin typeface="Calibri"/>
              </a:defRPr>
              <a:buChar char="●"/>
              <a:buClr>
                <a:srgbClr val="E83E3E"/>
              </a:buClr>
            </a:pPr>
            <a:r>
              <a:t>  Fire-safe design</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Urban Planning &amp; Zoning</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Strategic planning reduces vulnerability.</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Hazard mapping integration</a:t>
            </a:r>
          </a:p>
          <a:p>
            <a:pPr>
              <a:spcAft>
                <a:spcPts val="600"/>
              </a:spcAft>
              <a:defRPr sz="1100">
                <a:solidFill>
                  <a:srgbClr val="ECF0F1"/>
                </a:solidFill>
                <a:latin typeface="Calibri"/>
              </a:defRPr>
              <a:buChar char="●"/>
              <a:buClr>
                <a:srgbClr val="2E86AB"/>
              </a:buClr>
            </a:pPr>
            <a:r>
              <a:t>  Setback regulations</a:t>
            </a:r>
          </a:p>
          <a:p>
            <a:pPr>
              <a:spcAft>
                <a:spcPts val="600"/>
              </a:spcAft>
              <a:defRPr sz="1100">
                <a:solidFill>
                  <a:srgbClr val="ECF0F1"/>
                </a:solidFill>
                <a:latin typeface="Calibri"/>
              </a:defRPr>
              <a:buChar char="●"/>
              <a:buClr>
                <a:srgbClr val="2E86AB"/>
              </a:buClr>
            </a:pPr>
            <a:r>
              <a:t>  Open space preservation</a:t>
            </a:r>
          </a:p>
          <a:p>
            <a:pPr>
              <a:spcAft>
                <a:spcPts val="600"/>
              </a:spcAft>
              <a:defRPr sz="1100">
                <a:solidFill>
                  <a:srgbClr val="ECF0F1"/>
                </a:solidFill>
                <a:latin typeface="Calibri"/>
              </a:defRPr>
              <a:buChar char="●"/>
              <a:buClr>
                <a:srgbClr val="2E86AB"/>
              </a:buClr>
            </a:pPr>
            <a:r>
              <a:t>  Green infrastructure</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Post-Disaster Reconstruction</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Leading design of reconstruction efforts.</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Participatory design</a:t>
            </a:r>
          </a:p>
          <a:p>
            <a:pPr>
              <a:spcAft>
                <a:spcPts val="600"/>
              </a:spcAft>
              <a:defRPr sz="1100">
                <a:solidFill>
                  <a:srgbClr val="ECF0F1"/>
                </a:solidFill>
                <a:latin typeface="Calibri"/>
              </a:defRPr>
              <a:buChar char="●"/>
              <a:buClr>
                <a:srgbClr val="27AE60"/>
              </a:buClr>
            </a:pPr>
            <a:r>
              <a:t>  Cultural sensitivity</a:t>
            </a:r>
          </a:p>
          <a:p>
            <a:pPr>
              <a:spcAft>
                <a:spcPts val="600"/>
              </a:spcAft>
              <a:defRPr sz="1100">
                <a:solidFill>
                  <a:srgbClr val="ECF0F1"/>
                </a:solidFill>
                <a:latin typeface="Calibri"/>
              </a:defRPr>
              <a:buChar char="●"/>
              <a:buClr>
                <a:srgbClr val="27AE60"/>
              </a:buClr>
            </a:pPr>
            <a:r>
              <a:t>  Sustainable materials</a:t>
            </a:r>
          </a:p>
          <a:p>
            <a:pPr>
              <a:spcAft>
                <a:spcPts val="600"/>
              </a:spcAft>
              <a:defRPr sz="1100">
                <a:solidFill>
                  <a:srgbClr val="ECF0F1"/>
                </a:solidFill>
                <a:latin typeface="Calibri"/>
              </a:defRPr>
              <a:buChar char="●"/>
              <a:buClr>
                <a:srgbClr val="27AE60"/>
              </a:buClr>
            </a:pPr>
            <a:r>
              <a:t>  Community-centered design</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Resilient Infrastructure</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Designing infrastructure that resists and recovers.</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Critical facility protection</a:t>
            </a:r>
          </a:p>
          <a:p>
            <a:pPr>
              <a:spcAft>
                <a:spcPts val="600"/>
              </a:spcAft>
              <a:defRPr sz="1100">
                <a:solidFill>
                  <a:srgbClr val="ECF0F1"/>
                </a:solidFill>
                <a:latin typeface="Calibri"/>
              </a:defRPr>
              <a:buChar char="●"/>
              <a:buClr>
                <a:srgbClr val="F39C12"/>
              </a:buClr>
            </a:pPr>
            <a:r>
              <a:t>  Lifeline infrastructure</a:t>
            </a:r>
          </a:p>
          <a:p>
            <a:pPr>
              <a:spcAft>
                <a:spcPts val="600"/>
              </a:spcAft>
              <a:defRPr sz="1100">
                <a:solidFill>
                  <a:srgbClr val="ECF0F1"/>
                </a:solidFill>
                <a:latin typeface="Calibri"/>
              </a:defRPr>
              <a:buChar char="●"/>
              <a:buClr>
                <a:srgbClr val="F39C12"/>
              </a:buClr>
            </a:pPr>
            <a:r>
              <a:t>  Modular adaptable systems</a:t>
            </a:r>
          </a:p>
          <a:p>
            <a:pPr>
              <a:spcAft>
                <a:spcPts val="600"/>
              </a:spcAft>
              <a:defRPr sz="1100">
                <a:solidFill>
                  <a:srgbClr val="ECF0F1"/>
                </a:solidFill>
                <a:latin typeface="Calibri"/>
              </a:defRPr>
              <a:buChar char="●"/>
              <a:buClr>
                <a:srgbClr val="F39C12"/>
              </a:buClr>
            </a:pPr>
            <a:r>
              <a:t>  Climate-responsive design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SEISMIC DESIGN PRINCIPLES FOR ARCHITECTS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IS 1893:2016</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Indian Standard for earthquake-resistant design. 4 seismic zones.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Response spectrum method</a:t>
            </a:r>
          </a:p>
          <a:p>
            <a:pPr>
              <a:spcAft>
                <a:spcPts val="600"/>
              </a:spcAft>
              <a:defRPr sz="1100">
                <a:solidFill>
                  <a:srgbClr val="ECF0F1"/>
                </a:solidFill>
                <a:latin typeface="Calibri"/>
              </a:defRPr>
              <a:buChar char="●"/>
              <a:buClr>
                <a:srgbClr val="E83E3E"/>
              </a:buClr>
            </a:pPr>
            <a:r>
              <a:t>  Equivalent static method</a:t>
            </a:r>
          </a:p>
          <a:p>
            <a:pPr>
              <a:spcAft>
                <a:spcPts val="600"/>
              </a:spcAft>
              <a:defRPr sz="1100">
                <a:solidFill>
                  <a:srgbClr val="ECF0F1"/>
                </a:solidFill>
                <a:latin typeface="Calibri"/>
              </a:defRPr>
              <a:buChar char="●"/>
              <a:buClr>
                <a:srgbClr val="E83E3E"/>
              </a:buClr>
            </a:pPr>
            <a:r>
              <a:t>  Performance-based design</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Structural Systems</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Moment frames, shear walls, braced frames, base isolation.</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Moment-resisting frames</a:t>
            </a:r>
          </a:p>
          <a:p>
            <a:pPr>
              <a:spcAft>
                <a:spcPts val="600"/>
              </a:spcAft>
              <a:defRPr sz="1100">
                <a:solidFill>
                  <a:srgbClr val="ECF0F1"/>
                </a:solidFill>
                <a:latin typeface="Calibri"/>
              </a:defRPr>
              <a:buChar char="●"/>
              <a:buClr>
                <a:srgbClr val="2E86AB"/>
              </a:buClr>
            </a:pPr>
            <a:r>
              <a:t>  Shear wall systems</a:t>
            </a:r>
          </a:p>
          <a:p>
            <a:pPr>
              <a:spcAft>
                <a:spcPts val="600"/>
              </a:spcAft>
              <a:defRPr sz="1100">
                <a:solidFill>
                  <a:srgbClr val="ECF0F1"/>
                </a:solidFill>
                <a:latin typeface="Calibri"/>
              </a:defRPr>
              <a:buChar char="●"/>
              <a:buClr>
                <a:srgbClr val="2E86AB"/>
              </a:buClr>
            </a:pPr>
            <a:r>
              <a:t>  Base isolation technology</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Plan Configuration</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Symmetric plans reduce torsional effects.</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Symmetric floor plans</a:t>
            </a:r>
          </a:p>
          <a:p>
            <a:pPr>
              <a:spcAft>
                <a:spcPts val="600"/>
              </a:spcAft>
              <a:defRPr sz="1100">
                <a:solidFill>
                  <a:srgbClr val="ECF0F1"/>
                </a:solidFill>
                <a:latin typeface="Calibri"/>
              </a:defRPr>
              <a:buChar char="●"/>
              <a:buClr>
                <a:srgbClr val="27AE60"/>
              </a:buClr>
            </a:pPr>
            <a:r>
              <a:t>  Avoid L, T, U shapes</a:t>
            </a:r>
          </a:p>
          <a:p>
            <a:pPr>
              <a:spcAft>
                <a:spcPts val="600"/>
              </a:spcAft>
              <a:defRPr sz="1100">
                <a:solidFill>
                  <a:srgbClr val="ECF0F1"/>
                </a:solidFill>
                <a:latin typeface="Calibri"/>
              </a:defRPr>
              <a:buChar char="●"/>
              <a:buClr>
                <a:srgbClr val="27AE60"/>
              </a:buClr>
            </a:pPr>
            <a:r>
              <a:t>  Regular configurations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Material Selection</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Ductile materials for seismic energy absorption.</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Ductile steel and concrete</a:t>
            </a:r>
          </a:p>
          <a:p>
            <a:pPr>
              <a:spcAft>
                <a:spcPts val="600"/>
              </a:spcAft>
              <a:defRPr sz="1100">
                <a:solidFill>
                  <a:srgbClr val="ECF0F1"/>
                </a:solidFill>
                <a:latin typeface="Calibri"/>
              </a:defRPr>
              <a:buChar char="●"/>
              <a:buClr>
                <a:srgbClr val="F39C12"/>
              </a:buClr>
            </a:pPr>
            <a:r>
              <a:t>  Proper detailing requirements</a:t>
            </a:r>
          </a:p>
          <a:p>
            <a:pPr>
              <a:spcAft>
                <a:spcPts val="600"/>
              </a:spcAft>
              <a:defRPr sz="1100">
                <a:solidFill>
                  <a:srgbClr val="ECF0F1"/>
                </a:solidFill>
                <a:latin typeface="Calibri"/>
              </a:defRPr>
              <a:buChar char="●"/>
              <a:buClr>
                <a:srgbClr val="F39C12"/>
              </a:buClr>
            </a:pPr>
            <a:r>
              <a:t>  Quality material selection</a:t>
            </a:r>
          </a:p>
        </p:txBody>
      </p:sp>
      <p:sp>
        <p:nvSpPr>
          <p:cNvPr id="24" name="Rounded Rectangle 23"/>
          <p:cNvSpPr/>
          <p:nvPr/>
        </p:nvSpPr>
        <p:spPr>
          <a:xfrm>
            <a:off x="365760" y="667512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6675120"/>
            <a:ext cx="566928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748272"/>
            <a:ext cx="5303520" cy="365760"/>
          </a:xfrm>
          <a:prstGeom prst="rect">
            <a:avLst/>
          </a:prstGeom>
          <a:noFill/>
        </p:spPr>
        <p:txBody>
          <a:bodyPr wrap="square">
            <a:spAutoFit/>
          </a:bodyPr>
          <a:lstStyle/>
          <a:p>
            <a:pPr algn="l">
              <a:defRPr sz="1600" b="1">
                <a:solidFill>
                  <a:srgbClr val="FFFFFF"/>
                </a:solidFill>
                <a:latin typeface="Calibri"/>
              </a:defRPr>
            </a:pPr>
            <a:r>
              <a:t>Non-Structural Elements</a:t>
            </a:r>
          </a:p>
        </p:txBody>
      </p:sp>
      <p:sp>
        <p:nvSpPr>
          <p:cNvPr id="27" name="TextBox 26"/>
          <p:cNvSpPr txBox="1"/>
          <p:nvPr/>
        </p:nvSpPr>
        <p:spPr>
          <a:xfrm>
            <a:off x="548640" y="7178040"/>
            <a:ext cx="5303520" cy="548640"/>
          </a:xfrm>
          <a:prstGeom prst="rect">
            <a:avLst/>
          </a:prstGeom>
          <a:noFill/>
        </p:spPr>
        <p:txBody>
          <a:bodyPr wrap="square">
            <a:spAutoFit/>
          </a:bodyPr>
          <a:lstStyle/>
          <a:p>
            <a:pPr algn="l">
              <a:defRPr sz="1100" b="0">
                <a:solidFill>
                  <a:srgbClr val="ECF0F1"/>
                </a:solidFill>
                <a:latin typeface="Calibri"/>
              </a:defRPr>
            </a:pPr>
            <a:r>
              <a:t>Proper anchorage of partitions, ceilings, equipment.</a:t>
            </a:r>
          </a:p>
        </p:txBody>
      </p:sp>
      <p:sp>
        <p:nvSpPr>
          <p:cNvPr id="28" name="TextBox 27"/>
          <p:cNvSpPr txBox="1"/>
          <p:nvPr/>
        </p:nvSpPr>
        <p:spPr>
          <a:xfrm>
            <a:off x="548640" y="777240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9B59B6"/>
              </a:buClr>
            </a:pPr>
            <a:r>
              <a:t>  Partition wall anchorage</a:t>
            </a:r>
          </a:p>
          <a:p>
            <a:pPr>
              <a:spcAft>
                <a:spcPts val="600"/>
              </a:spcAft>
              <a:defRPr sz="1100">
                <a:solidFill>
                  <a:srgbClr val="ECF0F1"/>
                </a:solidFill>
                <a:latin typeface="Calibri"/>
              </a:defRPr>
              <a:buChar char="●"/>
              <a:buClr>
                <a:srgbClr val="9B59B6"/>
              </a:buClr>
            </a:pPr>
            <a:r>
              <a:t>  Ceiling suspension systems</a:t>
            </a:r>
          </a:p>
          <a:p>
            <a:pPr>
              <a:spcAft>
                <a:spcPts val="600"/>
              </a:spcAft>
              <a:defRPr sz="1100">
                <a:solidFill>
                  <a:srgbClr val="ECF0F1"/>
                </a:solidFill>
                <a:latin typeface="Calibri"/>
              </a:defRPr>
              <a:buChar char="●"/>
              <a:buClr>
                <a:srgbClr val="9B59B6"/>
              </a:buClr>
            </a:pPr>
            <a:r>
              <a:t>  Equipment bracing</a:t>
            </a:r>
          </a:p>
        </p:txBody>
      </p:sp>
      <p:sp>
        <p:nvSpPr>
          <p:cNvPr id="29" name="Rounded Rectangle 28"/>
          <p:cNvSpPr/>
          <p:nvPr/>
        </p:nvSpPr>
        <p:spPr>
          <a:xfrm>
            <a:off x="6309360" y="667512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6675120"/>
            <a:ext cx="566928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6748272"/>
            <a:ext cx="5303520" cy="365760"/>
          </a:xfrm>
          <a:prstGeom prst="rect">
            <a:avLst/>
          </a:prstGeom>
          <a:noFill/>
        </p:spPr>
        <p:txBody>
          <a:bodyPr wrap="square">
            <a:spAutoFit/>
          </a:bodyPr>
          <a:lstStyle/>
          <a:p>
            <a:pPr algn="l">
              <a:defRPr sz="1600" b="1">
                <a:solidFill>
                  <a:srgbClr val="FFFFFF"/>
                </a:solidFill>
                <a:latin typeface="Calibri"/>
              </a:defRPr>
            </a:pPr>
            <a:r>
              <a:t>Foundation Design</a:t>
            </a:r>
          </a:p>
        </p:txBody>
      </p:sp>
      <p:sp>
        <p:nvSpPr>
          <p:cNvPr id="32" name="TextBox 31"/>
          <p:cNvSpPr txBox="1"/>
          <p:nvPr/>
        </p:nvSpPr>
        <p:spPr>
          <a:xfrm>
            <a:off x="6492240" y="7178040"/>
            <a:ext cx="5303520" cy="548640"/>
          </a:xfrm>
          <a:prstGeom prst="rect">
            <a:avLst/>
          </a:prstGeom>
          <a:noFill/>
        </p:spPr>
        <p:txBody>
          <a:bodyPr wrap="square">
            <a:spAutoFit/>
          </a:bodyPr>
          <a:lstStyle/>
          <a:p>
            <a:pPr algn="l">
              <a:defRPr sz="1100" b="0">
                <a:solidFill>
                  <a:srgbClr val="ECF0F1"/>
                </a:solidFill>
                <a:latin typeface="Calibri"/>
              </a:defRPr>
            </a:pPr>
            <a:r>
              <a:t>Systems considering soil, liquefaction, seismic forces.</a:t>
            </a:r>
          </a:p>
        </p:txBody>
      </p:sp>
      <p:sp>
        <p:nvSpPr>
          <p:cNvPr id="33" name="TextBox 32"/>
          <p:cNvSpPr txBox="1"/>
          <p:nvPr/>
        </p:nvSpPr>
        <p:spPr>
          <a:xfrm>
            <a:off x="6492240" y="777240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74C3C"/>
              </a:buClr>
            </a:pPr>
            <a:r>
              <a:t>  Soil-structure interaction</a:t>
            </a:r>
          </a:p>
          <a:p>
            <a:pPr>
              <a:spcAft>
                <a:spcPts val="600"/>
              </a:spcAft>
              <a:defRPr sz="1100">
                <a:solidFill>
                  <a:srgbClr val="ECF0F1"/>
                </a:solidFill>
                <a:latin typeface="Calibri"/>
              </a:defRPr>
              <a:buChar char="●"/>
              <a:buClr>
                <a:srgbClr val="E74C3C"/>
              </a:buClr>
            </a:pPr>
            <a:r>
              <a:t>  Liquefaction assessment</a:t>
            </a:r>
          </a:p>
          <a:p>
            <a:pPr>
              <a:spcAft>
                <a:spcPts val="600"/>
              </a:spcAft>
              <a:defRPr sz="1100">
                <a:solidFill>
                  <a:srgbClr val="ECF0F1"/>
                </a:solidFill>
                <a:latin typeface="Calibri"/>
              </a:defRPr>
              <a:buChar char="●"/>
              <a:buClr>
                <a:srgbClr val="E74C3C"/>
              </a:buClr>
            </a:pPr>
            <a:r>
              <a:t>  Deep foundation options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167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167A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10</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Building Codes &amp;</a:t>
            </a:r>
            <a:br/>
            <a:r>
              <a:t>Standards</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3498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200" b="1">
                <a:solidFill>
                  <a:srgbClr val="FFFFFF"/>
                </a:solidFill>
                <a:latin typeface="Calibri"/>
              </a:defRPr>
            </a:pPr>
            <a:r>
              <a:t>INDIAN BUILDING CODES FOR DISASTER RESISTANCE</a:t>
            </a:r>
          </a:p>
        </p:txBody>
      </p:sp>
      <p:sp>
        <p:nvSpPr>
          <p:cNvPr id="4" name="Rounded Rectangle 3"/>
          <p:cNvSpPr/>
          <p:nvPr/>
        </p:nvSpPr>
        <p:spPr>
          <a:xfrm>
            <a:off x="36576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365760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3291840" cy="365760"/>
          </a:xfrm>
          <a:prstGeom prst="rect">
            <a:avLst/>
          </a:prstGeom>
          <a:noFill/>
        </p:spPr>
        <p:txBody>
          <a:bodyPr wrap="square">
            <a:spAutoFit/>
          </a:bodyPr>
          <a:lstStyle/>
          <a:p>
            <a:pPr algn="ctr">
              <a:defRPr sz="1600" b="1">
                <a:solidFill>
                  <a:srgbClr val="FFFFFF"/>
                </a:solidFill>
                <a:latin typeface="Calibri"/>
              </a:defRPr>
            </a:pPr>
            <a:r>
              <a:t>IS 1893:2016</a:t>
            </a:r>
          </a:p>
        </p:txBody>
      </p:sp>
      <p:sp>
        <p:nvSpPr>
          <p:cNvPr id="7" name="TextBox 6"/>
          <p:cNvSpPr txBox="1"/>
          <p:nvPr/>
        </p:nvSpPr>
        <p:spPr>
          <a:xfrm>
            <a:off x="548640" y="1874520"/>
            <a:ext cx="3291840" cy="731520"/>
          </a:xfrm>
          <a:prstGeom prst="rect">
            <a:avLst/>
          </a:prstGeom>
          <a:noFill/>
        </p:spPr>
        <p:txBody>
          <a:bodyPr wrap="square">
            <a:spAutoFit/>
          </a:bodyPr>
          <a:lstStyle/>
          <a:p>
            <a:pPr algn="l">
              <a:defRPr sz="1000" b="0">
                <a:solidFill>
                  <a:srgbClr val="ECF0F1"/>
                </a:solidFill>
                <a:latin typeface="Calibri"/>
              </a:defRPr>
            </a:pPr>
            <a:r>
              <a:t>Earthquake Resistant Design. 4 seismic zones (II-V).</a:t>
            </a:r>
          </a:p>
        </p:txBody>
      </p:sp>
      <p:sp>
        <p:nvSpPr>
          <p:cNvPr id="8" name="TextBox 7"/>
          <p:cNvSpPr txBox="1"/>
          <p:nvPr/>
        </p:nvSpPr>
        <p:spPr>
          <a:xfrm>
            <a:off x="548640" y="265176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E83E3E"/>
              </a:buClr>
            </a:pPr>
            <a:r>
              <a:t>  Response spectrum method</a:t>
            </a:r>
          </a:p>
          <a:p>
            <a:pPr>
              <a:spcAft>
                <a:spcPts val="600"/>
              </a:spcAft>
              <a:defRPr sz="1000">
                <a:solidFill>
                  <a:srgbClr val="ECF0F1"/>
                </a:solidFill>
                <a:latin typeface="Calibri"/>
              </a:defRPr>
              <a:buChar char="●"/>
              <a:buClr>
                <a:srgbClr val="E83E3E"/>
              </a:buClr>
            </a:pPr>
            <a:r>
              <a:t>  Equivalent static method</a:t>
            </a:r>
          </a:p>
          <a:p>
            <a:pPr>
              <a:spcAft>
                <a:spcPts val="600"/>
              </a:spcAft>
              <a:defRPr sz="1000">
                <a:solidFill>
                  <a:srgbClr val="ECF0F1"/>
                </a:solidFill>
                <a:latin typeface="Calibri"/>
              </a:defRPr>
              <a:buChar char="●"/>
              <a:buClr>
                <a:srgbClr val="E83E3E"/>
              </a:buClr>
            </a:pPr>
            <a:r>
              <a:t>  Performance-based design</a:t>
            </a:r>
          </a:p>
        </p:txBody>
      </p:sp>
      <p:sp>
        <p:nvSpPr>
          <p:cNvPr id="9" name="Rounded Rectangle 8"/>
          <p:cNvSpPr/>
          <p:nvPr/>
        </p:nvSpPr>
        <p:spPr>
          <a:xfrm>
            <a:off x="429768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297680" y="1371600"/>
            <a:ext cx="36576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80560" y="1444752"/>
            <a:ext cx="3291840" cy="365760"/>
          </a:xfrm>
          <a:prstGeom prst="rect">
            <a:avLst/>
          </a:prstGeom>
          <a:noFill/>
        </p:spPr>
        <p:txBody>
          <a:bodyPr wrap="square">
            <a:spAutoFit/>
          </a:bodyPr>
          <a:lstStyle/>
          <a:p>
            <a:pPr algn="ctr">
              <a:defRPr sz="1600" b="1">
                <a:solidFill>
                  <a:srgbClr val="FFFFFF"/>
                </a:solidFill>
                <a:latin typeface="Calibri"/>
              </a:defRPr>
            </a:pPr>
            <a:r>
              <a:t>IS 4326:2013</a:t>
            </a:r>
          </a:p>
        </p:txBody>
      </p:sp>
      <p:sp>
        <p:nvSpPr>
          <p:cNvPr id="12" name="TextBox 11"/>
          <p:cNvSpPr txBox="1"/>
          <p:nvPr/>
        </p:nvSpPr>
        <p:spPr>
          <a:xfrm>
            <a:off x="4480560" y="1874520"/>
            <a:ext cx="3291840" cy="731520"/>
          </a:xfrm>
          <a:prstGeom prst="rect">
            <a:avLst/>
          </a:prstGeom>
          <a:noFill/>
        </p:spPr>
        <p:txBody>
          <a:bodyPr wrap="square">
            <a:spAutoFit/>
          </a:bodyPr>
          <a:lstStyle/>
          <a:p>
            <a:pPr algn="l">
              <a:defRPr sz="1000" b="0">
                <a:solidFill>
                  <a:srgbClr val="ECF0F1"/>
                </a:solidFill>
                <a:latin typeface="Calibri"/>
              </a:defRPr>
            </a:pPr>
            <a:r>
              <a:t>Earthquake Resistant Construction of Buildings.</a:t>
            </a:r>
          </a:p>
        </p:txBody>
      </p:sp>
      <p:sp>
        <p:nvSpPr>
          <p:cNvPr id="13" name="TextBox 12"/>
          <p:cNvSpPr txBox="1"/>
          <p:nvPr/>
        </p:nvSpPr>
        <p:spPr>
          <a:xfrm>
            <a:off x="4480560" y="265176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2E86AB"/>
              </a:buClr>
            </a:pPr>
            <a:r>
              <a:t>  Masonry guidelines</a:t>
            </a:r>
          </a:p>
          <a:p>
            <a:pPr>
              <a:spcAft>
                <a:spcPts val="600"/>
              </a:spcAft>
              <a:defRPr sz="1000">
                <a:solidFill>
                  <a:srgbClr val="ECF0F1"/>
                </a:solidFill>
                <a:latin typeface="Calibri"/>
              </a:defRPr>
              <a:buChar char="●"/>
              <a:buClr>
                <a:srgbClr val="2E86AB"/>
              </a:buClr>
            </a:pPr>
            <a:r>
              <a:t>  RC detailing</a:t>
            </a:r>
          </a:p>
          <a:p>
            <a:pPr>
              <a:spcAft>
                <a:spcPts val="600"/>
              </a:spcAft>
              <a:defRPr sz="1000">
                <a:solidFill>
                  <a:srgbClr val="ECF0F1"/>
                </a:solidFill>
                <a:latin typeface="Calibri"/>
              </a:defRPr>
              <a:buChar char="●"/>
              <a:buClr>
                <a:srgbClr val="2E86AB"/>
              </a:buClr>
            </a:pPr>
            <a:r>
              <a:t>  Construction quality control</a:t>
            </a:r>
          </a:p>
        </p:txBody>
      </p:sp>
      <p:sp>
        <p:nvSpPr>
          <p:cNvPr id="14" name="Rounded Rectangle 13"/>
          <p:cNvSpPr/>
          <p:nvPr/>
        </p:nvSpPr>
        <p:spPr>
          <a:xfrm>
            <a:off x="822960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1371600"/>
            <a:ext cx="365760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444752"/>
            <a:ext cx="3291840" cy="365760"/>
          </a:xfrm>
          <a:prstGeom prst="rect">
            <a:avLst/>
          </a:prstGeom>
          <a:noFill/>
        </p:spPr>
        <p:txBody>
          <a:bodyPr wrap="square">
            <a:spAutoFit/>
          </a:bodyPr>
          <a:lstStyle/>
          <a:p>
            <a:pPr algn="ctr">
              <a:defRPr sz="1600" b="1">
                <a:solidFill>
                  <a:srgbClr val="FFFFFF"/>
                </a:solidFill>
                <a:latin typeface="Calibri"/>
              </a:defRPr>
            </a:pPr>
            <a:r>
              <a:t>IS 13920:2016</a:t>
            </a:r>
          </a:p>
        </p:txBody>
      </p:sp>
      <p:sp>
        <p:nvSpPr>
          <p:cNvPr id="17" name="TextBox 16"/>
          <p:cNvSpPr txBox="1"/>
          <p:nvPr/>
        </p:nvSpPr>
        <p:spPr>
          <a:xfrm>
            <a:off x="8412480" y="1874520"/>
            <a:ext cx="3291840" cy="731520"/>
          </a:xfrm>
          <a:prstGeom prst="rect">
            <a:avLst/>
          </a:prstGeom>
          <a:noFill/>
        </p:spPr>
        <p:txBody>
          <a:bodyPr wrap="square">
            <a:spAutoFit/>
          </a:bodyPr>
          <a:lstStyle/>
          <a:p>
            <a:pPr algn="l">
              <a:defRPr sz="1000" b="0">
                <a:solidFill>
                  <a:srgbClr val="ECF0F1"/>
                </a:solidFill>
                <a:latin typeface="Calibri"/>
              </a:defRPr>
            </a:pPr>
            <a:r>
              <a:t>Ductile Detailing of RC Structures.</a:t>
            </a:r>
          </a:p>
        </p:txBody>
      </p:sp>
      <p:sp>
        <p:nvSpPr>
          <p:cNvPr id="18" name="TextBox 17"/>
          <p:cNvSpPr txBox="1"/>
          <p:nvPr/>
        </p:nvSpPr>
        <p:spPr>
          <a:xfrm>
            <a:off x="8412480" y="265176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27AE60"/>
              </a:buClr>
            </a:pPr>
            <a:r>
              <a:t>  Confinement reinforcement</a:t>
            </a:r>
          </a:p>
          <a:p>
            <a:pPr>
              <a:spcAft>
                <a:spcPts val="600"/>
              </a:spcAft>
              <a:defRPr sz="1000">
                <a:solidFill>
                  <a:srgbClr val="ECF0F1"/>
                </a:solidFill>
                <a:latin typeface="Calibri"/>
              </a:defRPr>
              <a:buChar char="●"/>
              <a:buClr>
                <a:srgbClr val="27AE60"/>
              </a:buClr>
            </a:pPr>
            <a:r>
              <a:t>  Strong column-weak beam</a:t>
            </a:r>
          </a:p>
          <a:p>
            <a:pPr>
              <a:spcAft>
                <a:spcPts val="600"/>
              </a:spcAft>
              <a:defRPr sz="1000">
                <a:solidFill>
                  <a:srgbClr val="ECF0F1"/>
                </a:solidFill>
                <a:latin typeface="Calibri"/>
              </a:defRPr>
              <a:buChar char="●"/>
              <a:buClr>
                <a:srgbClr val="27AE60"/>
              </a:buClr>
            </a:pPr>
            <a:r>
              <a:t>  Joint detailing</a:t>
            </a:r>
          </a:p>
        </p:txBody>
      </p:sp>
      <p:sp>
        <p:nvSpPr>
          <p:cNvPr id="19" name="Rounded Rectangle 18"/>
          <p:cNvSpPr/>
          <p:nvPr/>
        </p:nvSpPr>
        <p:spPr>
          <a:xfrm>
            <a:off x="36576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4023360"/>
            <a:ext cx="365760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4096512"/>
            <a:ext cx="3291840" cy="365760"/>
          </a:xfrm>
          <a:prstGeom prst="rect">
            <a:avLst/>
          </a:prstGeom>
          <a:noFill/>
        </p:spPr>
        <p:txBody>
          <a:bodyPr wrap="square">
            <a:spAutoFit/>
          </a:bodyPr>
          <a:lstStyle/>
          <a:p>
            <a:pPr algn="ctr">
              <a:defRPr sz="1600" b="1">
                <a:solidFill>
                  <a:srgbClr val="FFFFFF"/>
                </a:solidFill>
                <a:latin typeface="Calibri"/>
              </a:defRPr>
            </a:pPr>
            <a:r>
              <a:t>IS 875:2015</a:t>
            </a:r>
          </a:p>
        </p:txBody>
      </p:sp>
      <p:sp>
        <p:nvSpPr>
          <p:cNvPr id="22" name="TextBox 21"/>
          <p:cNvSpPr txBox="1"/>
          <p:nvPr/>
        </p:nvSpPr>
        <p:spPr>
          <a:xfrm>
            <a:off x="548640" y="4526280"/>
            <a:ext cx="3291840" cy="731520"/>
          </a:xfrm>
          <a:prstGeom prst="rect">
            <a:avLst/>
          </a:prstGeom>
          <a:noFill/>
        </p:spPr>
        <p:txBody>
          <a:bodyPr wrap="square">
            <a:spAutoFit/>
          </a:bodyPr>
          <a:lstStyle/>
          <a:p>
            <a:pPr algn="l">
              <a:defRPr sz="1000" b="0">
                <a:solidFill>
                  <a:srgbClr val="ECF0F1"/>
                </a:solidFill>
                <a:latin typeface="Calibri"/>
              </a:defRPr>
            </a:pPr>
            <a:r>
              <a:t>Design Loads - wind, flood, environmental.</a:t>
            </a:r>
          </a:p>
        </p:txBody>
      </p:sp>
      <p:sp>
        <p:nvSpPr>
          <p:cNvPr id="23" name="TextBox 22"/>
          <p:cNvSpPr txBox="1"/>
          <p:nvPr/>
        </p:nvSpPr>
        <p:spPr>
          <a:xfrm>
            <a:off x="548640" y="530352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F39C12"/>
              </a:buClr>
            </a:pPr>
            <a:r>
              <a:t>  Wind load calculations</a:t>
            </a:r>
          </a:p>
          <a:p>
            <a:pPr>
              <a:spcAft>
                <a:spcPts val="600"/>
              </a:spcAft>
              <a:defRPr sz="1000">
                <a:solidFill>
                  <a:srgbClr val="ECF0F1"/>
                </a:solidFill>
                <a:latin typeface="Calibri"/>
              </a:defRPr>
              <a:buChar char="●"/>
              <a:buClr>
                <a:srgbClr val="F39C12"/>
              </a:buClr>
            </a:pPr>
            <a:r>
              <a:t>  Snow load requirements</a:t>
            </a:r>
          </a:p>
          <a:p>
            <a:pPr>
              <a:spcAft>
                <a:spcPts val="600"/>
              </a:spcAft>
              <a:defRPr sz="1000">
                <a:solidFill>
                  <a:srgbClr val="ECF0F1"/>
                </a:solidFill>
                <a:latin typeface="Calibri"/>
              </a:defRPr>
              <a:buChar char="●"/>
              <a:buClr>
                <a:srgbClr val="F39C12"/>
              </a:buClr>
            </a:pPr>
            <a:r>
              <a:t>  Load combinations</a:t>
            </a:r>
          </a:p>
        </p:txBody>
      </p:sp>
      <p:sp>
        <p:nvSpPr>
          <p:cNvPr id="24" name="Rounded Rectangle 23"/>
          <p:cNvSpPr/>
          <p:nvPr/>
        </p:nvSpPr>
        <p:spPr>
          <a:xfrm>
            <a:off x="429768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97680" y="4023360"/>
            <a:ext cx="365760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80560" y="4096512"/>
            <a:ext cx="3291840" cy="365760"/>
          </a:xfrm>
          <a:prstGeom prst="rect">
            <a:avLst/>
          </a:prstGeom>
          <a:noFill/>
        </p:spPr>
        <p:txBody>
          <a:bodyPr wrap="square">
            <a:spAutoFit/>
          </a:bodyPr>
          <a:lstStyle/>
          <a:p>
            <a:pPr algn="ctr">
              <a:defRPr sz="1600" b="1">
                <a:solidFill>
                  <a:srgbClr val="FFFFFF"/>
                </a:solidFill>
                <a:latin typeface="Calibri"/>
              </a:defRPr>
            </a:pPr>
            <a:r>
              <a:t>IS 15988:2012</a:t>
            </a:r>
          </a:p>
        </p:txBody>
      </p:sp>
      <p:sp>
        <p:nvSpPr>
          <p:cNvPr id="27" name="TextBox 26"/>
          <p:cNvSpPr txBox="1"/>
          <p:nvPr/>
        </p:nvSpPr>
        <p:spPr>
          <a:xfrm>
            <a:off x="4480560" y="4526280"/>
            <a:ext cx="3291840" cy="731520"/>
          </a:xfrm>
          <a:prstGeom prst="rect">
            <a:avLst/>
          </a:prstGeom>
          <a:noFill/>
        </p:spPr>
        <p:txBody>
          <a:bodyPr wrap="square">
            <a:spAutoFit/>
          </a:bodyPr>
          <a:lstStyle/>
          <a:p>
            <a:pPr algn="l">
              <a:defRPr sz="1000" b="0">
                <a:solidFill>
                  <a:srgbClr val="ECF0F1"/>
                </a:solidFill>
                <a:latin typeface="Calibri"/>
              </a:defRPr>
            </a:pPr>
            <a:r>
              <a:t>Seismic Assessment &amp; Retrofitting.</a:t>
            </a:r>
          </a:p>
        </p:txBody>
      </p:sp>
      <p:sp>
        <p:nvSpPr>
          <p:cNvPr id="28" name="TextBox 27"/>
          <p:cNvSpPr txBox="1"/>
          <p:nvPr/>
        </p:nvSpPr>
        <p:spPr>
          <a:xfrm>
            <a:off x="4480560" y="530352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9B59B6"/>
              </a:buClr>
            </a:pPr>
            <a:r>
              <a:t>  Damage assessment</a:t>
            </a:r>
          </a:p>
          <a:p>
            <a:pPr>
              <a:spcAft>
                <a:spcPts val="600"/>
              </a:spcAft>
              <a:defRPr sz="1000">
                <a:solidFill>
                  <a:srgbClr val="ECF0F1"/>
                </a:solidFill>
                <a:latin typeface="Calibri"/>
              </a:defRPr>
              <a:buChar char="●"/>
              <a:buClr>
                <a:srgbClr val="9B59B6"/>
              </a:buClr>
            </a:pPr>
            <a:r>
              <a:t>  Retrofitting techniques</a:t>
            </a:r>
          </a:p>
          <a:p>
            <a:pPr>
              <a:spcAft>
                <a:spcPts val="600"/>
              </a:spcAft>
              <a:defRPr sz="1000">
                <a:solidFill>
                  <a:srgbClr val="ECF0F1"/>
                </a:solidFill>
                <a:latin typeface="Calibri"/>
              </a:defRPr>
              <a:buChar char="●"/>
              <a:buClr>
                <a:srgbClr val="9B59B6"/>
              </a:buClr>
            </a:pPr>
            <a:r>
              <a:t>  Priority-based approach</a:t>
            </a:r>
          </a:p>
        </p:txBody>
      </p:sp>
      <p:sp>
        <p:nvSpPr>
          <p:cNvPr id="29" name="Rounded Rectangle 28"/>
          <p:cNvSpPr/>
          <p:nvPr/>
        </p:nvSpPr>
        <p:spPr>
          <a:xfrm>
            <a:off x="822960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229600" y="4023360"/>
            <a:ext cx="3657600" cy="4572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4096512"/>
            <a:ext cx="3291840" cy="365760"/>
          </a:xfrm>
          <a:prstGeom prst="rect">
            <a:avLst/>
          </a:prstGeom>
          <a:noFill/>
        </p:spPr>
        <p:txBody>
          <a:bodyPr wrap="square">
            <a:spAutoFit/>
          </a:bodyPr>
          <a:lstStyle/>
          <a:p>
            <a:pPr algn="ctr">
              <a:defRPr sz="1600" b="1">
                <a:solidFill>
                  <a:srgbClr val="FFFFFF"/>
                </a:solidFill>
                <a:latin typeface="Calibri"/>
              </a:defRPr>
            </a:pPr>
            <a:r>
              <a:t>NBC 2016</a:t>
            </a:r>
          </a:p>
        </p:txBody>
      </p:sp>
      <p:sp>
        <p:nvSpPr>
          <p:cNvPr id="32" name="TextBox 31"/>
          <p:cNvSpPr txBox="1"/>
          <p:nvPr/>
        </p:nvSpPr>
        <p:spPr>
          <a:xfrm>
            <a:off x="8412480" y="4526280"/>
            <a:ext cx="3291840" cy="731520"/>
          </a:xfrm>
          <a:prstGeom prst="rect">
            <a:avLst/>
          </a:prstGeom>
          <a:noFill/>
        </p:spPr>
        <p:txBody>
          <a:bodyPr wrap="square">
            <a:spAutoFit/>
          </a:bodyPr>
          <a:lstStyle/>
          <a:p>
            <a:pPr algn="l">
              <a:defRPr sz="1000" b="0">
                <a:solidFill>
                  <a:srgbClr val="ECF0F1"/>
                </a:solidFill>
                <a:latin typeface="Calibri"/>
              </a:defRPr>
            </a:pPr>
            <a:r>
              <a:t>National Building Code - comprehensive.</a:t>
            </a:r>
          </a:p>
        </p:txBody>
      </p:sp>
      <p:sp>
        <p:nvSpPr>
          <p:cNvPr id="33" name="TextBox 32"/>
          <p:cNvSpPr txBox="1"/>
          <p:nvPr/>
        </p:nvSpPr>
        <p:spPr>
          <a:xfrm>
            <a:off x="8412480" y="5303520"/>
            <a:ext cx="3291840" cy="1097280"/>
          </a:xfrm>
          <a:prstGeom prst="rect">
            <a:avLst/>
          </a:prstGeom>
          <a:noFill/>
        </p:spPr>
        <p:txBody>
          <a:bodyPr wrap="square">
            <a:spAutoFit/>
          </a:bodyPr>
          <a:lstStyle/>
          <a:p>
            <a:pPr>
              <a:spcAft>
                <a:spcPts val="600"/>
              </a:spcAft>
              <a:defRPr sz="1000">
                <a:solidFill>
                  <a:srgbClr val="ECF0F1"/>
                </a:solidFill>
                <a:latin typeface="Calibri"/>
              </a:defRPr>
              <a:buChar char="●"/>
              <a:buClr>
                <a:srgbClr val="1ABC9C"/>
              </a:buClr>
            </a:pPr>
            <a:r>
              <a:t>  Fire safety provisions</a:t>
            </a:r>
          </a:p>
          <a:p>
            <a:pPr>
              <a:spcAft>
                <a:spcPts val="600"/>
              </a:spcAft>
              <a:defRPr sz="1000">
                <a:solidFill>
                  <a:srgbClr val="ECF0F1"/>
                </a:solidFill>
                <a:latin typeface="Calibri"/>
              </a:defRPr>
              <a:buChar char="●"/>
              <a:buClr>
                <a:srgbClr val="1ABC9C"/>
              </a:buClr>
            </a:pPr>
            <a:r>
              <a:t>  Structural safety</a:t>
            </a:r>
          </a:p>
          <a:p>
            <a:pPr>
              <a:spcAft>
                <a:spcPts val="600"/>
              </a:spcAft>
              <a:defRPr sz="1000">
                <a:solidFill>
                  <a:srgbClr val="ECF0F1"/>
                </a:solidFill>
                <a:latin typeface="Calibri"/>
              </a:defRPr>
              <a:buChar char="●"/>
              <a:buClr>
                <a:srgbClr val="1ABC9C"/>
              </a:buClr>
            </a:pPr>
            <a:r>
              <a:t>  Accessibility standards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SEISMIC ZONE MAP OF INDIA (IS 1893)</a:t>
            </a:r>
          </a:p>
        </p:txBody>
      </p:sp>
      <p:sp>
        <p:nvSpPr>
          <p:cNvPr id="4" name="Rounded Rectangle 3"/>
          <p:cNvSpPr/>
          <p:nvPr/>
        </p:nvSpPr>
        <p:spPr>
          <a:xfrm>
            <a:off x="365760" y="1371600"/>
            <a:ext cx="27432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2743200" cy="54864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2560320" cy="457200"/>
          </a:xfrm>
          <a:prstGeom prst="rect">
            <a:avLst/>
          </a:prstGeom>
          <a:noFill/>
        </p:spPr>
        <p:txBody>
          <a:bodyPr wrap="square">
            <a:spAutoFit/>
          </a:bodyPr>
          <a:lstStyle/>
          <a:p>
            <a:pPr algn="ctr">
              <a:defRPr sz="2000" b="1">
                <a:solidFill>
                  <a:srgbClr val="FFFFFF"/>
                </a:solidFill>
                <a:latin typeface="Calibri"/>
              </a:defRPr>
            </a:pPr>
            <a:r>
              <a:t>Zone II</a:t>
            </a:r>
          </a:p>
        </p:txBody>
      </p:sp>
      <p:sp>
        <p:nvSpPr>
          <p:cNvPr id="7" name="TextBox 6"/>
          <p:cNvSpPr txBox="1"/>
          <p:nvPr/>
        </p:nvSpPr>
        <p:spPr>
          <a:xfrm>
            <a:off x="457200" y="2011680"/>
            <a:ext cx="2560320" cy="365760"/>
          </a:xfrm>
          <a:prstGeom prst="rect">
            <a:avLst/>
          </a:prstGeom>
          <a:noFill/>
        </p:spPr>
        <p:txBody>
          <a:bodyPr wrap="square">
            <a:spAutoFit/>
          </a:bodyPr>
          <a:lstStyle/>
          <a:p>
            <a:pPr algn="ctr">
              <a:defRPr sz="1300" b="1">
                <a:solidFill>
                  <a:srgbClr val="27AE60"/>
                </a:solidFill>
                <a:latin typeface="Calibri"/>
              </a:defRPr>
            </a:pPr>
            <a:r>
              <a:t>Low Damage Risk</a:t>
            </a:r>
          </a:p>
        </p:txBody>
      </p:sp>
      <p:sp>
        <p:nvSpPr>
          <p:cNvPr id="8" name="TextBox 7"/>
          <p:cNvSpPr txBox="1"/>
          <p:nvPr/>
        </p:nvSpPr>
        <p:spPr>
          <a:xfrm>
            <a:off x="457200" y="2468880"/>
            <a:ext cx="2560320" cy="1097280"/>
          </a:xfrm>
          <a:prstGeom prst="rect">
            <a:avLst/>
          </a:prstGeom>
          <a:noFill/>
        </p:spPr>
        <p:txBody>
          <a:bodyPr wrap="square">
            <a:spAutoFit/>
          </a:bodyPr>
          <a:lstStyle/>
          <a:p>
            <a:pPr algn="ctr">
              <a:defRPr sz="1200" b="0">
                <a:solidFill>
                  <a:srgbClr val="ECF0F1"/>
                </a:solidFill>
                <a:latin typeface="Calibri"/>
              </a:defRPr>
            </a:pPr>
            <a:r>
              <a:t>PGA: 0.10g</a:t>
            </a:r>
          </a:p>
        </p:txBody>
      </p:sp>
      <p:sp>
        <p:nvSpPr>
          <p:cNvPr id="9" name="Rounded Rectangle 8"/>
          <p:cNvSpPr/>
          <p:nvPr/>
        </p:nvSpPr>
        <p:spPr>
          <a:xfrm>
            <a:off x="3291840" y="1371600"/>
            <a:ext cx="27432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91840" y="1371600"/>
            <a:ext cx="2743200" cy="54864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83280" y="1463040"/>
            <a:ext cx="2560320" cy="457200"/>
          </a:xfrm>
          <a:prstGeom prst="rect">
            <a:avLst/>
          </a:prstGeom>
          <a:noFill/>
        </p:spPr>
        <p:txBody>
          <a:bodyPr wrap="square">
            <a:spAutoFit/>
          </a:bodyPr>
          <a:lstStyle/>
          <a:p>
            <a:pPr algn="ctr">
              <a:defRPr sz="2000" b="1">
                <a:solidFill>
                  <a:srgbClr val="FFFFFF"/>
                </a:solidFill>
                <a:latin typeface="Calibri"/>
              </a:defRPr>
            </a:pPr>
            <a:r>
              <a:t>Zone III</a:t>
            </a:r>
          </a:p>
        </p:txBody>
      </p:sp>
      <p:sp>
        <p:nvSpPr>
          <p:cNvPr id="12" name="TextBox 11"/>
          <p:cNvSpPr txBox="1"/>
          <p:nvPr/>
        </p:nvSpPr>
        <p:spPr>
          <a:xfrm>
            <a:off x="3383280" y="2011680"/>
            <a:ext cx="2560320" cy="365760"/>
          </a:xfrm>
          <a:prstGeom prst="rect">
            <a:avLst/>
          </a:prstGeom>
          <a:noFill/>
        </p:spPr>
        <p:txBody>
          <a:bodyPr wrap="square">
            <a:spAutoFit/>
          </a:bodyPr>
          <a:lstStyle/>
          <a:p>
            <a:pPr algn="ctr">
              <a:defRPr sz="1300" b="1">
                <a:solidFill>
                  <a:srgbClr val="F39C12"/>
                </a:solidFill>
                <a:latin typeface="Calibri"/>
              </a:defRPr>
            </a:pPr>
            <a:r>
              <a:t>Moderate Damage Risk</a:t>
            </a:r>
          </a:p>
        </p:txBody>
      </p:sp>
      <p:sp>
        <p:nvSpPr>
          <p:cNvPr id="13" name="TextBox 12"/>
          <p:cNvSpPr txBox="1"/>
          <p:nvPr/>
        </p:nvSpPr>
        <p:spPr>
          <a:xfrm>
            <a:off x="3383280" y="2468880"/>
            <a:ext cx="2560320" cy="1097280"/>
          </a:xfrm>
          <a:prstGeom prst="rect">
            <a:avLst/>
          </a:prstGeom>
          <a:noFill/>
        </p:spPr>
        <p:txBody>
          <a:bodyPr wrap="square">
            <a:spAutoFit/>
          </a:bodyPr>
          <a:lstStyle/>
          <a:p>
            <a:pPr algn="ctr">
              <a:defRPr sz="1200" b="0">
                <a:solidFill>
                  <a:srgbClr val="ECF0F1"/>
                </a:solidFill>
                <a:latin typeface="Calibri"/>
              </a:defRPr>
            </a:pPr>
            <a:r>
              <a:t>PGA: 0.16g</a:t>
            </a:r>
          </a:p>
        </p:txBody>
      </p:sp>
      <p:sp>
        <p:nvSpPr>
          <p:cNvPr id="14" name="Rounded Rectangle 13"/>
          <p:cNvSpPr/>
          <p:nvPr/>
        </p:nvSpPr>
        <p:spPr>
          <a:xfrm>
            <a:off x="6217920" y="1371600"/>
            <a:ext cx="27432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371600"/>
            <a:ext cx="2743200" cy="54864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09360" y="1463040"/>
            <a:ext cx="2560320" cy="457200"/>
          </a:xfrm>
          <a:prstGeom prst="rect">
            <a:avLst/>
          </a:prstGeom>
          <a:noFill/>
        </p:spPr>
        <p:txBody>
          <a:bodyPr wrap="square">
            <a:spAutoFit/>
          </a:bodyPr>
          <a:lstStyle/>
          <a:p>
            <a:pPr algn="ctr">
              <a:defRPr sz="2000" b="1">
                <a:solidFill>
                  <a:srgbClr val="FFFFFF"/>
                </a:solidFill>
                <a:latin typeface="Calibri"/>
              </a:defRPr>
            </a:pPr>
            <a:r>
              <a:t>Zone IV</a:t>
            </a:r>
          </a:p>
        </p:txBody>
      </p:sp>
      <p:sp>
        <p:nvSpPr>
          <p:cNvPr id="17" name="TextBox 16"/>
          <p:cNvSpPr txBox="1"/>
          <p:nvPr/>
        </p:nvSpPr>
        <p:spPr>
          <a:xfrm>
            <a:off x="6309360" y="2011680"/>
            <a:ext cx="2560320" cy="365760"/>
          </a:xfrm>
          <a:prstGeom prst="rect">
            <a:avLst/>
          </a:prstGeom>
          <a:noFill/>
        </p:spPr>
        <p:txBody>
          <a:bodyPr wrap="square">
            <a:spAutoFit/>
          </a:bodyPr>
          <a:lstStyle/>
          <a:p>
            <a:pPr algn="ctr">
              <a:defRPr sz="1300" b="1">
                <a:solidFill>
                  <a:srgbClr val="E74C3C"/>
                </a:solidFill>
                <a:latin typeface="Calibri"/>
              </a:defRPr>
            </a:pPr>
            <a:r>
              <a:t>High Damage Risk</a:t>
            </a:r>
          </a:p>
        </p:txBody>
      </p:sp>
      <p:sp>
        <p:nvSpPr>
          <p:cNvPr id="18" name="TextBox 17"/>
          <p:cNvSpPr txBox="1"/>
          <p:nvPr/>
        </p:nvSpPr>
        <p:spPr>
          <a:xfrm>
            <a:off x="6309360" y="2468880"/>
            <a:ext cx="2560320" cy="1097280"/>
          </a:xfrm>
          <a:prstGeom prst="rect">
            <a:avLst/>
          </a:prstGeom>
          <a:noFill/>
        </p:spPr>
        <p:txBody>
          <a:bodyPr wrap="square">
            <a:spAutoFit/>
          </a:bodyPr>
          <a:lstStyle/>
          <a:p>
            <a:pPr algn="ctr">
              <a:defRPr sz="1200" b="0">
                <a:solidFill>
                  <a:srgbClr val="ECF0F1"/>
                </a:solidFill>
                <a:latin typeface="Calibri"/>
              </a:defRPr>
            </a:pPr>
            <a:r>
              <a:t>PGA: 0.24g</a:t>
            </a:r>
          </a:p>
        </p:txBody>
      </p:sp>
      <p:sp>
        <p:nvSpPr>
          <p:cNvPr id="19" name="Rounded Rectangle 18"/>
          <p:cNvSpPr/>
          <p:nvPr/>
        </p:nvSpPr>
        <p:spPr>
          <a:xfrm>
            <a:off x="9144000" y="1371600"/>
            <a:ext cx="2743200" cy="228600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44000" y="1371600"/>
            <a:ext cx="2743200" cy="548640"/>
          </a:xfrm>
          <a:prstGeom prst="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463040"/>
            <a:ext cx="2560320" cy="457200"/>
          </a:xfrm>
          <a:prstGeom prst="rect">
            <a:avLst/>
          </a:prstGeom>
          <a:noFill/>
        </p:spPr>
        <p:txBody>
          <a:bodyPr wrap="square">
            <a:spAutoFit/>
          </a:bodyPr>
          <a:lstStyle/>
          <a:p>
            <a:pPr algn="ctr">
              <a:defRPr sz="2000" b="1">
                <a:solidFill>
                  <a:srgbClr val="FFFFFF"/>
                </a:solidFill>
                <a:latin typeface="Calibri"/>
              </a:defRPr>
            </a:pPr>
            <a:r>
              <a:t>Zone V</a:t>
            </a:r>
          </a:p>
        </p:txBody>
      </p:sp>
      <p:sp>
        <p:nvSpPr>
          <p:cNvPr id="22" name="TextBox 21"/>
          <p:cNvSpPr txBox="1"/>
          <p:nvPr/>
        </p:nvSpPr>
        <p:spPr>
          <a:xfrm>
            <a:off x="9235440" y="2011680"/>
            <a:ext cx="2560320" cy="365760"/>
          </a:xfrm>
          <a:prstGeom prst="rect">
            <a:avLst/>
          </a:prstGeom>
          <a:noFill/>
        </p:spPr>
        <p:txBody>
          <a:bodyPr wrap="square">
            <a:spAutoFit/>
          </a:bodyPr>
          <a:lstStyle/>
          <a:p>
            <a:pPr algn="ctr">
              <a:defRPr sz="1300" b="1">
                <a:solidFill>
                  <a:srgbClr val="C0392B"/>
                </a:solidFill>
                <a:latin typeface="Calibri"/>
              </a:defRPr>
            </a:pPr>
            <a:r>
              <a:t>Very High Damage Risk</a:t>
            </a:r>
          </a:p>
        </p:txBody>
      </p:sp>
      <p:sp>
        <p:nvSpPr>
          <p:cNvPr id="23" name="TextBox 22"/>
          <p:cNvSpPr txBox="1"/>
          <p:nvPr/>
        </p:nvSpPr>
        <p:spPr>
          <a:xfrm>
            <a:off x="9235440" y="2468880"/>
            <a:ext cx="2560320" cy="1097280"/>
          </a:xfrm>
          <a:prstGeom prst="rect">
            <a:avLst/>
          </a:prstGeom>
          <a:noFill/>
        </p:spPr>
        <p:txBody>
          <a:bodyPr wrap="square">
            <a:spAutoFit/>
          </a:bodyPr>
          <a:lstStyle/>
          <a:p>
            <a:pPr algn="ctr">
              <a:defRPr sz="1200" b="0">
                <a:solidFill>
                  <a:srgbClr val="ECF0F1"/>
                </a:solidFill>
                <a:latin typeface="Calibri"/>
              </a:defRPr>
            </a:pPr>
            <a:r>
              <a:t>PGA: 0.36g</a:t>
            </a:r>
          </a:p>
        </p:txBody>
      </p:sp>
      <p:sp>
        <p:nvSpPr>
          <p:cNvPr id="24" name="TextBox 23"/>
          <p:cNvSpPr txBox="1"/>
          <p:nvPr/>
        </p:nvSpPr>
        <p:spPr>
          <a:xfrm>
            <a:off x="731520" y="3931920"/>
            <a:ext cx="10972800" cy="2743200"/>
          </a:xfrm>
          <a:prstGeom prst="rect">
            <a:avLst/>
          </a:prstGeom>
          <a:noFill/>
        </p:spPr>
        <p:txBody>
          <a:bodyPr wrap="square">
            <a:spAutoFit/>
          </a:bodyPr>
          <a:lstStyle/>
          <a:p>
            <a:pPr>
              <a:spcAft>
                <a:spcPts val="600"/>
              </a:spcAft>
              <a:defRPr sz="2000" b="1">
                <a:solidFill>
                  <a:srgbClr val="2E86AB"/>
                </a:solidFill>
                <a:latin typeface="Calibri"/>
              </a:defRPr>
            </a:pPr>
            <a:r>
              <a:t>Zone Classification Criteria</a:t>
            </a:r>
          </a:p>
          <a:p>
            <a:pPr>
              <a:spcAft>
                <a:spcPts val="179"/>
              </a:spcAft>
              <a:defRPr sz="600" b="0">
                <a:solidFill>
                  <a:srgbClr val="FFFFFF"/>
                </a:solidFill>
                <a:latin typeface="Calibri"/>
              </a:defRPr>
            </a:pPr>
          </a:p>
          <a:p>
            <a:pPr>
              <a:spcAft>
                <a:spcPts val="390"/>
              </a:spcAft>
              <a:defRPr sz="1300" b="0">
                <a:solidFill>
                  <a:srgbClr val="ECF0F1"/>
                </a:solidFill>
                <a:latin typeface="Calibri"/>
              </a:defRPr>
            </a:pPr>
            <a:r>
              <a:t>Based on Maximum Considered Earthquake (MCE) and Peak Ground Acceleration (PGA)</a:t>
            </a:r>
          </a:p>
          <a:p>
            <a:pPr>
              <a:spcAft>
                <a:spcPts val="390"/>
              </a:spcAft>
              <a:defRPr sz="1300" b="0">
                <a:solidFill>
                  <a:srgbClr val="ECF0F1"/>
                </a:solidFill>
                <a:latin typeface="Calibri"/>
              </a:defRPr>
            </a:pPr>
            <a:r>
              <a:t>Zone V is most seismically active; requires strictest design provisions</a:t>
            </a:r>
          </a:p>
          <a:p>
            <a:pPr>
              <a:spcAft>
                <a:spcPts val="390"/>
              </a:spcAft>
              <a:defRPr sz="1300" b="0">
                <a:solidFill>
                  <a:srgbClr val="ECF0F1"/>
                </a:solidFill>
                <a:latin typeface="Calibri"/>
              </a:defRPr>
            </a:pPr>
            <a:r>
              <a:t>80% of India is prone to earthquakes - only 12% in Zone IV and V</a:t>
            </a:r>
          </a:p>
          <a:p>
            <a:pPr>
              <a:spcAft>
                <a:spcPts val="390"/>
              </a:spcAft>
              <a:defRPr sz="1300" b="0">
                <a:solidFill>
                  <a:srgbClr val="ECF0F1"/>
                </a:solidFill>
                <a:latin typeface="Calibri"/>
              </a:defRPr>
            </a:pPr>
            <a:r>
              <a:t>Architects must ensure compliance with seismic zone of location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106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1068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11</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Flood Management &amp;</a:t>
            </a:r>
            <a:br/>
            <a:r>
              <a:t>Coastal Protection</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FLOOD MANAGEMENT IN INDIA</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Flood-Prone Areas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40M hectares flood-prone, 30M people affected annually.</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Brahmaputra: most flood-prone</a:t>
            </a:r>
          </a:p>
          <a:p>
            <a:pPr>
              <a:spcAft>
                <a:spcPts val="600"/>
              </a:spcAft>
              <a:defRPr sz="1100">
                <a:solidFill>
                  <a:srgbClr val="ECF0F1"/>
                </a:solidFill>
                <a:latin typeface="Calibri"/>
              </a:defRPr>
              <a:buChar char="●"/>
              <a:buClr>
                <a:srgbClr val="E83E3E"/>
              </a:buClr>
            </a:pPr>
            <a:r>
              <a:t>  Rs 1,800+ crore annual damage</a:t>
            </a:r>
          </a:p>
          <a:p>
            <a:pPr>
              <a:spcAft>
                <a:spcPts val="600"/>
              </a:spcAft>
              <a:defRPr sz="1100">
                <a:solidFill>
                  <a:srgbClr val="ECF0F1"/>
                </a:solidFill>
                <a:latin typeface="Calibri"/>
              </a:defRPr>
              <a:buChar char="●"/>
              <a:buClr>
                <a:srgbClr val="E83E3E"/>
              </a:buClr>
            </a:pPr>
            <a:r>
              <a:t>  Assam, Bihar, UP most affected</a:t>
            </a:r>
          </a:p>
          <a:p>
            <a:pPr>
              <a:spcAft>
                <a:spcPts val="600"/>
              </a:spcAft>
              <a:defRPr sz="1100">
                <a:solidFill>
                  <a:srgbClr val="ECF0F1"/>
                </a:solidFill>
                <a:latin typeface="Calibri"/>
              </a:defRPr>
              <a:buChar char="●"/>
              <a:buClr>
                <a:srgbClr val="E83E3E"/>
              </a:buClr>
            </a:pPr>
            <a:r>
              <a:t>  Urban flooding increasing</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Flood Control Measures</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Structural and non-structural measures.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Embankments (3,500+ km)</a:t>
            </a:r>
          </a:p>
          <a:p>
            <a:pPr>
              <a:spcAft>
                <a:spcPts val="600"/>
              </a:spcAft>
              <a:defRPr sz="1100">
                <a:solidFill>
                  <a:srgbClr val="ECF0F1"/>
                </a:solidFill>
                <a:latin typeface="Calibri"/>
              </a:defRPr>
              <a:buChar char="●"/>
              <a:buClr>
                <a:srgbClr val="2E86AB"/>
              </a:buClr>
            </a:pPr>
            <a:r>
              <a:t>  Flood shelters</a:t>
            </a:r>
          </a:p>
          <a:p>
            <a:pPr>
              <a:spcAft>
                <a:spcPts val="600"/>
              </a:spcAft>
              <a:defRPr sz="1100">
                <a:solidFill>
                  <a:srgbClr val="ECF0F1"/>
                </a:solidFill>
                <a:latin typeface="Calibri"/>
              </a:defRPr>
              <a:buChar char="●"/>
              <a:buClr>
                <a:srgbClr val="2E86AB"/>
              </a:buClr>
            </a:pPr>
            <a:r>
              <a:t>  River training works</a:t>
            </a:r>
          </a:p>
          <a:p>
            <a:pPr>
              <a:spcAft>
                <a:spcPts val="600"/>
              </a:spcAft>
              <a:defRPr sz="1100">
                <a:solidFill>
                  <a:srgbClr val="ECF0F1"/>
                </a:solidFill>
                <a:latin typeface="Calibri"/>
              </a:defRPr>
              <a:buChar char="●"/>
              <a:buClr>
                <a:srgbClr val="2E86AB"/>
              </a:buClr>
            </a:pPr>
            <a:r>
              <a:t>  Dam operations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Drainage Improvement</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Critical for urban flood management.</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Storm water drainage</a:t>
            </a:r>
          </a:p>
          <a:p>
            <a:pPr>
              <a:spcAft>
                <a:spcPts val="600"/>
              </a:spcAft>
              <a:defRPr sz="1100">
                <a:solidFill>
                  <a:srgbClr val="ECF0F1"/>
                </a:solidFill>
                <a:latin typeface="Calibri"/>
              </a:defRPr>
              <a:buChar char="●"/>
              <a:buClr>
                <a:srgbClr val="27AE60"/>
              </a:buClr>
            </a:pPr>
            <a:r>
              <a:t>  Retention basins</a:t>
            </a:r>
          </a:p>
          <a:p>
            <a:pPr>
              <a:spcAft>
                <a:spcPts val="600"/>
              </a:spcAft>
              <a:defRPr sz="1100">
                <a:solidFill>
                  <a:srgbClr val="ECF0F1"/>
                </a:solidFill>
                <a:latin typeface="Calibri"/>
              </a:defRPr>
              <a:buChar char="●"/>
              <a:buClr>
                <a:srgbClr val="27AE60"/>
              </a:buClr>
            </a:pPr>
            <a:r>
              <a:t>  Permeable paving</a:t>
            </a:r>
          </a:p>
          <a:p>
            <a:pPr>
              <a:spcAft>
                <a:spcPts val="600"/>
              </a:spcAft>
              <a:defRPr sz="1100">
                <a:solidFill>
                  <a:srgbClr val="ECF0F1"/>
                </a:solidFill>
                <a:latin typeface="Calibri"/>
              </a:defRPr>
              <a:buChar char="●"/>
              <a:buClr>
                <a:srgbClr val="27AE60"/>
              </a:buClr>
            </a:pPr>
            <a:r>
              <a:t>  Green infrastructure</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River Basin Management</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Comprehensive river basin approach.</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Inter-linking of rivers</a:t>
            </a:r>
          </a:p>
          <a:p>
            <a:pPr>
              <a:spcAft>
                <a:spcPts val="600"/>
              </a:spcAft>
              <a:defRPr sz="1100">
                <a:solidFill>
                  <a:srgbClr val="ECF0F1"/>
                </a:solidFill>
                <a:latin typeface="Calibri"/>
              </a:defRPr>
              <a:buChar char="●"/>
              <a:buClr>
                <a:srgbClr val="F39C12"/>
              </a:buClr>
            </a:pPr>
            <a:r>
              <a:t>  Floodplain zoning</a:t>
            </a:r>
          </a:p>
          <a:p>
            <a:pPr>
              <a:spcAft>
                <a:spcPts val="600"/>
              </a:spcAft>
              <a:defRPr sz="1100">
                <a:solidFill>
                  <a:srgbClr val="ECF0F1"/>
                </a:solidFill>
                <a:latin typeface="Calibri"/>
              </a:defRPr>
              <a:buChar char="●"/>
              <a:buClr>
                <a:srgbClr val="F39C12"/>
              </a:buClr>
            </a:pPr>
            <a:r>
              <a:t>  Watershed management</a:t>
            </a:r>
          </a:p>
          <a:p>
            <a:pPr>
              <a:spcAft>
                <a:spcPts val="600"/>
              </a:spcAft>
              <a:defRPr sz="1100">
                <a:solidFill>
                  <a:srgbClr val="ECF0F1"/>
                </a:solidFill>
                <a:latin typeface="Calibri"/>
              </a:defRPr>
              <a:buChar char="●"/>
              <a:buClr>
                <a:srgbClr val="F39C12"/>
              </a:buClr>
            </a:pPr>
            <a:r>
              <a:t>  Afforestation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COASTAL DISASTER MANAGEMENT</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Cyclone Prone Areas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7,517 km coastline, 5-6 cyclones annually.</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Eastern coast most prone</a:t>
            </a:r>
          </a:p>
          <a:p>
            <a:pPr>
              <a:spcAft>
                <a:spcPts val="600"/>
              </a:spcAft>
              <a:defRPr sz="1100">
                <a:solidFill>
                  <a:srgbClr val="ECF0F1"/>
                </a:solidFill>
                <a:latin typeface="Calibri"/>
              </a:defRPr>
              <a:buChar char="●"/>
              <a:buClr>
                <a:srgbClr val="E83E3E"/>
              </a:buClr>
            </a:pPr>
            <a:r>
              <a:t>  Bay of Bengal 4-5x more active</a:t>
            </a:r>
          </a:p>
          <a:p>
            <a:pPr>
              <a:spcAft>
                <a:spcPts val="600"/>
              </a:spcAft>
              <a:defRPr sz="1100">
                <a:solidFill>
                  <a:srgbClr val="ECF0F1"/>
                </a:solidFill>
                <a:latin typeface="Calibri"/>
              </a:defRPr>
              <a:buChar char="●"/>
              <a:buClr>
                <a:srgbClr val="E83E3E"/>
              </a:buClr>
            </a:pPr>
            <a:r>
              <a:t>  Intensity increasing</a:t>
            </a:r>
          </a:p>
          <a:p>
            <a:pPr>
              <a:spcAft>
                <a:spcPts val="600"/>
              </a:spcAft>
              <a:defRPr sz="1100">
                <a:solidFill>
                  <a:srgbClr val="ECF0F1"/>
                </a:solidFill>
                <a:latin typeface="Calibri"/>
              </a:defRPr>
              <a:buChar char="●"/>
              <a:buClr>
                <a:srgbClr val="E83E3E"/>
              </a:buClr>
            </a:pPr>
            <a:r>
              <a:t>  Storm surge 5-10 meters</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Coastal Protection</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Multi-layered defense systems.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Cyclone shelters (1,000+)</a:t>
            </a:r>
          </a:p>
          <a:p>
            <a:pPr>
              <a:spcAft>
                <a:spcPts val="600"/>
              </a:spcAft>
              <a:defRPr sz="1100">
                <a:solidFill>
                  <a:srgbClr val="ECF0F1"/>
                </a:solidFill>
                <a:latin typeface="Calibri"/>
              </a:defRPr>
              <a:buChar char="●"/>
              <a:buClr>
                <a:srgbClr val="2E86AB"/>
              </a:buClr>
            </a:pPr>
            <a:r>
              <a:t>  Mangrove bio-shields</a:t>
            </a:r>
          </a:p>
          <a:p>
            <a:pPr>
              <a:spcAft>
                <a:spcPts val="600"/>
              </a:spcAft>
              <a:defRPr sz="1100">
                <a:solidFill>
                  <a:srgbClr val="ECF0F1"/>
                </a:solidFill>
                <a:latin typeface="Calibri"/>
              </a:defRPr>
              <a:buChar char="●"/>
              <a:buClr>
                <a:srgbClr val="2E86AB"/>
              </a:buClr>
            </a:pPr>
            <a:r>
              <a:t>  Seawalls &amp; groynes</a:t>
            </a:r>
          </a:p>
          <a:p>
            <a:pPr>
              <a:spcAft>
                <a:spcPts val="600"/>
              </a:spcAft>
              <a:defRPr sz="1100">
                <a:solidFill>
                  <a:srgbClr val="ECF0F1"/>
                </a:solidFill>
                <a:latin typeface="Calibri"/>
              </a:defRPr>
              <a:buChar char="●"/>
              <a:buClr>
                <a:srgbClr val="2E86AB"/>
              </a:buClr>
            </a:pPr>
            <a:r>
              <a:t>  Early warning systems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CRZ Regulations</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Coastal Regulation Zone notifications.</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CRZ-I: Ecologically sensitive</a:t>
            </a:r>
          </a:p>
          <a:p>
            <a:pPr>
              <a:spcAft>
                <a:spcPts val="600"/>
              </a:spcAft>
              <a:defRPr sz="1100">
                <a:solidFill>
                  <a:srgbClr val="ECF0F1"/>
                </a:solidFill>
                <a:latin typeface="Calibri"/>
              </a:defRPr>
              <a:buChar char="●"/>
              <a:buClr>
                <a:srgbClr val="27AE60"/>
              </a:buClr>
            </a:pPr>
            <a:r>
              <a:t>  CRZ-II: Urban areas</a:t>
            </a:r>
          </a:p>
          <a:p>
            <a:pPr>
              <a:spcAft>
                <a:spcPts val="600"/>
              </a:spcAft>
              <a:defRPr sz="1100">
                <a:solidFill>
                  <a:srgbClr val="ECF0F1"/>
                </a:solidFill>
                <a:latin typeface="Calibri"/>
              </a:defRPr>
              <a:buChar char="●"/>
              <a:buClr>
                <a:srgbClr val="27AE60"/>
              </a:buClr>
            </a:pPr>
            <a:r>
              <a:t>  CRZ-III: Rural areas</a:t>
            </a:r>
          </a:p>
          <a:p>
            <a:pPr>
              <a:spcAft>
                <a:spcPts val="600"/>
              </a:spcAft>
              <a:defRPr sz="1100">
                <a:solidFill>
                  <a:srgbClr val="ECF0F1"/>
                </a:solidFill>
                <a:latin typeface="Calibri"/>
              </a:defRPr>
              <a:buChar char="●"/>
              <a:buClr>
                <a:srgbClr val="27AE60"/>
              </a:buClr>
            </a:pPr>
            <a:r>
              <a:t>  CRZ-IV: Water areas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Adaptation Strategies</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Climate-resilient coastal development.</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Elevated construction</a:t>
            </a:r>
          </a:p>
          <a:p>
            <a:pPr>
              <a:spcAft>
                <a:spcPts val="600"/>
              </a:spcAft>
              <a:defRPr sz="1100">
                <a:solidFill>
                  <a:srgbClr val="ECF0F1"/>
                </a:solidFill>
                <a:latin typeface="Calibri"/>
              </a:defRPr>
              <a:buChar char="●"/>
              <a:buClr>
                <a:srgbClr val="F39C12"/>
              </a:buClr>
            </a:pPr>
            <a:r>
              <a:t>  Wind-resistant design</a:t>
            </a:r>
          </a:p>
          <a:p>
            <a:pPr>
              <a:spcAft>
                <a:spcPts val="600"/>
              </a:spcAft>
              <a:defRPr sz="1100">
                <a:solidFill>
                  <a:srgbClr val="ECF0F1"/>
                </a:solidFill>
                <a:latin typeface="Calibri"/>
              </a:defRPr>
              <a:buChar char="●"/>
              <a:buClr>
                <a:srgbClr val="F39C12"/>
              </a:buClr>
            </a:pPr>
            <a:r>
              <a:t>  Saline-resistant agriculture</a:t>
            </a:r>
          </a:p>
          <a:p>
            <a:pPr>
              <a:spcAft>
                <a:spcPts val="600"/>
              </a:spcAft>
              <a:defRPr sz="1100">
                <a:solidFill>
                  <a:srgbClr val="ECF0F1"/>
                </a:solidFill>
                <a:latin typeface="Calibri"/>
              </a:defRPr>
              <a:buChar char="●"/>
              <a:buClr>
                <a:srgbClr val="F39C12"/>
              </a:buClr>
            </a:pPr>
            <a:r>
              <a:t>  Managed retreat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7D3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7D3B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12</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Urban Disaster</a:t>
            </a:r>
            <a:br/>
            <a:r>
              <a:t>Management</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URBAN VULNERABILITY &amp; RISK IN INDIA</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Rapid Urbanization</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Urban pop to reach 600M by 2031. Unplanned growth increases risk.</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40% GDP from urban</a:t>
            </a:r>
          </a:p>
          <a:p>
            <a:pPr>
              <a:spcAft>
                <a:spcPts val="600"/>
              </a:spcAft>
              <a:defRPr sz="1100">
                <a:solidFill>
                  <a:srgbClr val="ECF0F1"/>
                </a:solidFill>
                <a:latin typeface="Calibri"/>
              </a:defRPr>
              <a:buChar char="●"/>
              <a:buClr>
                <a:srgbClr val="E83E3E"/>
              </a:buClr>
            </a:pPr>
            <a:r>
              <a:t>  65% urban housing informal</a:t>
            </a:r>
          </a:p>
          <a:p>
            <a:pPr>
              <a:spcAft>
                <a:spcPts val="600"/>
              </a:spcAft>
              <a:defRPr sz="1100">
                <a:solidFill>
                  <a:srgbClr val="ECF0F1"/>
                </a:solidFill>
                <a:latin typeface="Calibri"/>
              </a:defRPr>
              <a:buChar char="●"/>
              <a:buClr>
                <a:srgbClr val="E83E3E"/>
              </a:buClr>
            </a:pPr>
            <a:r>
              <a:t>  Density exceeds limits</a:t>
            </a:r>
          </a:p>
          <a:p>
            <a:pPr>
              <a:spcAft>
                <a:spcPts val="600"/>
              </a:spcAft>
              <a:defRPr sz="1100">
                <a:solidFill>
                  <a:srgbClr val="ECF0F1"/>
                </a:solidFill>
                <a:latin typeface="Calibri"/>
              </a:defRPr>
              <a:buChar char="●"/>
              <a:buClr>
                <a:srgbClr val="E83E3E"/>
              </a:buClr>
            </a:pPr>
            <a:r>
              <a:t>  Sprawl into hazard zones</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Infrastructure Deficits</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Critical infrastructure lacks disaster resilience.</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60%+ buildings non-compliant</a:t>
            </a:r>
          </a:p>
          <a:p>
            <a:pPr>
              <a:spcAft>
                <a:spcPts val="600"/>
              </a:spcAft>
              <a:defRPr sz="1100">
                <a:solidFill>
                  <a:srgbClr val="ECF0F1"/>
                </a:solidFill>
                <a:latin typeface="Calibri"/>
              </a:defRPr>
              <a:buChar char="●"/>
              <a:buClr>
                <a:srgbClr val="2E86AB"/>
              </a:buClr>
            </a:pPr>
            <a:r>
              <a:t>  Aging water/drainage</a:t>
            </a:r>
          </a:p>
          <a:p>
            <a:pPr>
              <a:spcAft>
                <a:spcPts val="600"/>
              </a:spcAft>
              <a:defRPr sz="1100">
                <a:solidFill>
                  <a:srgbClr val="ECF0F1"/>
                </a:solidFill>
                <a:latin typeface="Calibri"/>
              </a:defRPr>
              <a:buChar char="●"/>
              <a:buClr>
                <a:srgbClr val="2E86AB"/>
              </a:buClr>
            </a:pPr>
            <a:r>
              <a:t>  Inadequate fire safety</a:t>
            </a:r>
          </a:p>
          <a:p>
            <a:pPr>
              <a:spcAft>
                <a:spcPts val="600"/>
              </a:spcAft>
              <a:defRPr sz="1100">
                <a:solidFill>
                  <a:srgbClr val="ECF0F1"/>
                </a:solidFill>
                <a:latin typeface="Calibri"/>
              </a:defRPr>
              <a:buChar char="●"/>
              <a:buClr>
                <a:srgbClr val="2E86AB"/>
              </a:buClr>
            </a:pPr>
            <a:r>
              <a:t>  Weak electrical systems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Slum Vulnerability</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65M+ people in urban slums, highly vulnerable.</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Temporary structures</a:t>
            </a:r>
          </a:p>
          <a:p>
            <a:pPr>
              <a:spcAft>
                <a:spcPts val="600"/>
              </a:spcAft>
              <a:defRPr sz="1100">
                <a:solidFill>
                  <a:srgbClr val="ECF0F1"/>
                </a:solidFill>
                <a:latin typeface="Calibri"/>
              </a:defRPr>
              <a:buChar char="●"/>
              <a:buClr>
                <a:srgbClr val="27AE60"/>
              </a:buClr>
            </a:pPr>
            <a:r>
              <a:t>  No tenure security</a:t>
            </a:r>
          </a:p>
          <a:p>
            <a:pPr>
              <a:spcAft>
                <a:spcPts val="600"/>
              </a:spcAft>
              <a:defRPr sz="1100">
                <a:solidFill>
                  <a:srgbClr val="ECF0F1"/>
                </a:solidFill>
                <a:latin typeface="Calibri"/>
              </a:defRPr>
              <a:buChar char="●"/>
              <a:buClr>
                <a:srgbClr val="27AE60"/>
              </a:buClr>
            </a:pPr>
            <a:r>
              <a:t>  Poor sanitation</a:t>
            </a:r>
          </a:p>
          <a:p>
            <a:pPr>
              <a:spcAft>
                <a:spcPts val="600"/>
              </a:spcAft>
              <a:defRPr sz="1100">
                <a:solidFill>
                  <a:srgbClr val="ECF0F1"/>
                </a:solidFill>
                <a:latin typeface="Calibri"/>
              </a:defRPr>
              <a:buChar char="●"/>
              <a:buClr>
                <a:srgbClr val="27AE60"/>
              </a:buClr>
            </a:pPr>
            <a:r>
              <a:t>  Hazard-prone locations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Urban Heat Island</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Cities 2-8C hotter than rural areas.</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Concrete/asphalt absorption</a:t>
            </a:r>
          </a:p>
          <a:p>
            <a:pPr>
              <a:spcAft>
                <a:spcPts val="600"/>
              </a:spcAft>
              <a:defRPr sz="1100">
                <a:solidFill>
                  <a:srgbClr val="ECF0F1"/>
                </a:solidFill>
                <a:latin typeface="Calibri"/>
              </a:defRPr>
              <a:buChar char="●"/>
              <a:buClr>
                <a:srgbClr val="F39C12"/>
              </a:buClr>
            </a:pPr>
            <a:r>
              <a:t>  Reduced green cover</a:t>
            </a:r>
          </a:p>
          <a:p>
            <a:pPr>
              <a:spcAft>
                <a:spcPts val="600"/>
              </a:spcAft>
              <a:defRPr sz="1100">
                <a:solidFill>
                  <a:srgbClr val="ECF0F1"/>
                </a:solidFill>
                <a:latin typeface="Calibri"/>
              </a:defRPr>
              <a:buChar char="●"/>
              <a:buClr>
                <a:srgbClr val="F39C12"/>
              </a:buClr>
            </a:pPr>
            <a:r>
              <a:t>  Waste heat from vehicles</a:t>
            </a:r>
          </a:p>
          <a:p>
            <a:pPr>
              <a:spcAft>
                <a:spcPts val="600"/>
              </a:spcAft>
              <a:defRPr sz="1100">
                <a:solidFill>
                  <a:srgbClr val="ECF0F1"/>
                </a:solidFill>
                <a:latin typeface="Calibri"/>
              </a:defRPr>
              <a:buChar char="●"/>
              <a:buClr>
                <a:srgbClr val="F39C12"/>
              </a:buClr>
            </a:pPr>
            <a:r>
              <a:t>  Health impacts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URBAN DISASTER RESILIENCE STRATEGIES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Smart City Initiatives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Integration of DM into Smart City Mission.</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Real-time monitoring</a:t>
            </a:r>
          </a:p>
          <a:p>
            <a:pPr>
              <a:spcAft>
                <a:spcPts val="600"/>
              </a:spcAft>
              <a:defRPr sz="1100">
                <a:solidFill>
                  <a:srgbClr val="ECF0F1"/>
                </a:solidFill>
                <a:latin typeface="Calibri"/>
              </a:defRPr>
              <a:buChar char="●"/>
              <a:buClr>
                <a:srgbClr val="E83E3E"/>
              </a:buClr>
            </a:pPr>
            <a:r>
              <a:t>  IoT-based early warning</a:t>
            </a:r>
          </a:p>
          <a:p>
            <a:pPr>
              <a:spcAft>
                <a:spcPts val="600"/>
              </a:spcAft>
              <a:defRPr sz="1100">
                <a:solidFill>
                  <a:srgbClr val="ECF0F1"/>
                </a:solidFill>
                <a:latin typeface="Calibri"/>
              </a:defRPr>
              <a:buChar char="●"/>
              <a:buClr>
                <a:srgbClr val="E83E3E"/>
              </a:buClr>
            </a:pPr>
            <a:r>
              <a:t>  GIS risk mapping</a:t>
            </a:r>
          </a:p>
          <a:p>
            <a:pPr>
              <a:spcAft>
                <a:spcPts val="600"/>
              </a:spcAft>
              <a:defRPr sz="1100">
                <a:solidFill>
                  <a:srgbClr val="ECF0F1"/>
                </a:solidFill>
                <a:latin typeface="Calibri"/>
              </a:defRPr>
              <a:buChar char="●"/>
              <a:buClr>
                <a:srgbClr val="E83E3E"/>
              </a:buClr>
            </a:pPr>
            <a:r>
              <a:t>  Emergency response apps</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Urban Planning Reforms</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Incorporating DRR into planning.</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Hazard-sensitive planning</a:t>
            </a:r>
          </a:p>
          <a:p>
            <a:pPr>
              <a:spcAft>
                <a:spcPts val="600"/>
              </a:spcAft>
              <a:defRPr sz="1100">
                <a:solidFill>
                  <a:srgbClr val="ECF0F1"/>
                </a:solidFill>
                <a:latin typeface="Calibri"/>
              </a:defRPr>
              <a:buChar char="●"/>
              <a:buClr>
                <a:srgbClr val="2E86AB"/>
              </a:buClr>
            </a:pPr>
            <a:r>
              <a:t>  Building code enforcement</a:t>
            </a:r>
          </a:p>
          <a:p>
            <a:pPr>
              <a:spcAft>
                <a:spcPts val="600"/>
              </a:spcAft>
              <a:defRPr sz="1100">
                <a:solidFill>
                  <a:srgbClr val="ECF0F1"/>
                </a:solidFill>
                <a:latin typeface="Calibri"/>
              </a:defRPr>
              <a:buChar char="●"/>
              <a:buClr>
                <a:srgbClr val="2E86AB"/>
              </a:buClr>
            </a:pPr>
            <a:r>
              <a:t>  Open space preservation</a:t>
            </a:r>
          </a:p>
          <a:p>
            <a:pPr>
              <a:spcAft>
                <a:spcPts val="600"/>
              </a:spcAft>
              <a:defRPr sz="1100">
                <a:solidFill>
                  <a:srgbClr val="ECF0F1"/>
                </a:solidFill>
                <a:latin typeface="Calibri"/>
              </a:defRPr>
              <a:buChar char="●"/>
              <a:buClr>
                <a:srgbClr val="2E86AB"/>
              </a:buClr>
            </a:pPr>
            <a:r>
              <a:t>  Green infrastructure</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Infrastructure Upgrades</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Making infrastructure resilient.</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Critical facility strengthening</a:t>
            </a:r>
          </a:p>
          <a:p>
            <a:pPr>
              <a:spcAft>
                <a:spcPts val="600"/>
              </a:spcAft>
              <a:defRPr sz="1100">
                <a:solidFill>
                  <a:srgbClr val="ECF0F1"/>
                </a:solidFill>
                <a:latin typeface="Calibri"/>
              </a:defRPr>
              <a:buChar char="●"/>
              <a:buClr>
                <a:srgbClr val="27AE60"/>
              </a:buClr>
            </a:pPr>
            <a:r>
              <a:t>  Underground utilities</a:t>
            </a:r>
          </a:p>
          <a:p>
            <a:pPr>
              <a:spcAft>
                <a:spcPts val="600"/>
              </a:spcAft>
              <a:defRPr sz="1100">
                <a:solidFill>
                  <a:srgbClr val="ECF0F1"/>
                </a:solidFill>
                <a:latin typeface="Calibri"/>
              </a:defRPr>
              <a:buChar char="●"/>
              <a:buClr>
                <a:srgbClr val="27AE60"/>
              </a:buClr>
            </a:pPr>
            <a:r>
              <a:t>  Flood-resistant roads</a:t>
            </a:r>
          </a:p>
          <a:p>
            <a:pPr>
              <a:spcAft>
                <a:spcPts val="600"/>
              </a:spcAft>
              <a:defRPr sz="1100">
                <a:solidFill>
                  <a:srgbClr val="ECF0F1"/>
                </a:solidFill>
                <a:latin typeface="Calibri"/>
              </a:defRPr>
              <a:buChar char="●"/>
              <a:buClr>
                <a:srgbClr val="27AE60"/>
              </a:buClr>
            </a:pPr>
            <a:r>
              <a:t>  EQ-resistant bridges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Community Engagement</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Building community capacity.</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Ward-level DM plans</a:t>
            </a:r>
          </a:p>
          <a:p>
            <a:pPr>
              <a:spcAft>
                <a:spcPts val="600"/>
              </a:spcAft>
              <a:defRPr sz="1100">
                <a:solidFill>
                  <a:srgbClr val="ECF0F1"/>
                </a:solidFill>
                <a:latin typeface="Calibri"/>
              </a:defRPr>
              <a:buChar char="●"/>
              <a:buClr>
                <a:srgbClr val="F39C12"/>
              </a:buClr>
            </a:pPr>
            <a:r>
              <a:t>  Community response teams</a:t>
            </a:r>
          </a:p>
          <a:p>
            <a:pPr>
              <a:spcAft>
                <a:spcPts val="600"/>
              </a:spcAft>
              <a:defRPr sz="1100">
                <a:solidFill>
                  <a:srgbClr val="ECF0F1"/>
                </a:solidFill>
                <a:latin typeface="Calibri"/>
              </a:defRPr>
              <a:buChar char="●"/>
              <a:buClr>
                <a:srgbClr val="F39C12"/>
              </a:buClr>
            </a:pPr>
            <a:r>
              <a:t>  Resident awareness</a:t>
            </a:r>
          </a:p>
          <a:p>
            <a:pPr>
              <a:spcAft>
                <a:spcPts val="600"/>
              </a:spcAft>
              <a:defRPr sz="1100">
                <a:solidFill>
                  <a:srgbClr val="ECF0F1"/>
                </a:solidFill>
                <a:latin typeface="Calibri"/>
              </a:defRPr>
              <a:buChar char="●"/>
              <a:buClr>
                <a:srgbClr val="F39C12"/>
              </a:buClr>
            </a:pPr>
            <a:r>
              <a:t>  School preparedness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CA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CA2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13</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Fire Safety in</a:t>
            </a:r>
            <a:br/>
            <a:r>
              <a:t>Building Design</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FIRE SAFETY IN BUILDING DESIGN</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Fire Statistics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1.5 lakh+ fire incidents annually causing 2,000+ deaths.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1,50,000+ incidents/year</a:t>
            </a:r>
          </a:p>
          <a:p>
            <a:pPr>
              <a:spcAft>
                <a:spcPts val="600"/>
              </a:spcAft>
              <a:defRPr sz="1100">
                <a:solidFill>
                  <a:srgbClr val="ECF0F1"/>
                </a:solidFill>
                <a:latin typeface="Calibri"/>
              </a:defRPr>
              <a:buChar char="●"/>
              <a:buClr>
                <a:srgbClr val="E83E3E"/>
              </a:buClr>
            </a:pPr>
            <a:r>
              <a:t>  2,000+ deaths/year</a:t>
            </a:r>
          </a:p>
          <a:p>
            <a:pPr>
              <a:spcAft>
                <a:spcPts val="600"/>
              </a:spcAft>
              <a:defRPr sz="1100">
                <a:solidFill>
                  <a:srgbClr val="ECF0F1"/>
                </a:solidFill>
                <a:latin typeface="Calibri"/>
              </a:defRPr>
              <a:buChar char="●"/>
              <a:buClr>
                <a:srgbClr val="E83E3E"/>
              </a:buClr>
            </a:pPr>
            <a:r>
              <a:t>  Rs 1,500+ crore loss</a:t>
            </a:r>
          </a:p>
          <a:p>
            <a:pPr>
              <a:spcAft>
                <a:spcPts val="600"/>
              </a:spcAft>
              <a:defRPr sz="1100">
                <a:solidFill>
                  <a:srgbClr val="ECF0F1"/>
                </a:solidFill>
                <a:latin typeface="Calibri"/>
              </a:defRPr>
              <a:buChar char="●"/>
              <a:buClr>
                <a:srgbClr val="E83E3E"/>
              </a:buClr>
            </a:pPr>
            <a:r>
              <a:t>  Delhi, Mumbai highest risk</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Building Classification</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NBC classifies by height, occupancy, construction.</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Group A: Residential</a:t>
            </a:r>
          </a:p>
          <a:p>
            <a:pPr>
              <a:spcAft>
                <a:spcPts val="600"/>
              </a:spcAft>
              <a:defRPr sz="1100">
                <a:solidFill>
                  <a:srgbClr val="ECF0F1"/>
                </a:solidFill>
                <a:latin typeface="Calibri"/>
              </a:defRPr>
              <a:buChar char="●"/>
              <a:buClr>
                <a:srgbClr val="2E86AB"/>
              </a:buClr>
            </a:pPr>
            <a:r>
              <a:t>  Group B: Educational</a:t>
            </a:r>
          </a:p>
          <a:p>
            <a:pPr>
              <a:spcAft>
                <a:spcPts val="600"/>
              </a:spcAft>
              <a:defRPr sz="1100">
                <a:solidFill>
                  <a:srgbClr val="ECF0F1"/>
                </a:solidFill>
                <a:latin typeface="Calibri"/>
              </a:defRPr>
              <a:buChar char="●"/>
              <a:buClr>
                <a:srgbClr val="2E86AB"/>
              </a:buClr>
            </a:pPr>
            <a:r>
              <a:t>  Group C: Assembly/Business</a:t>
            </a:r>
          </a:p>
          <a:p>
            <a:pPr>
              <a:spcAft>
                <a:spcPts val="600"/>
              </a:spcAft>
              <a:defRPr sz="1100">
                <a:solidFill>
                  <a:srgbClr val="ECF0F1"/>
                </a:solidFill>
                <a:latin typeface="Calibri"/>
              </a:defRPr>
              <a:buChar char="●"/>
              <a:buClr>
                <a:srgbClr val="2E86AB"/>
              </a:buClr>
            </a:pPr>
            <a:r>
              <a:t>  Group H: High-hazard</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Fire Safety Measures</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Essential fire protection systems by occupancy.</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Fire escape staircases</a:t>
            </a:r>
          </a:p>
          <a:p>
            <a:pPr>
              <a:spcAft>
                <a:spcPts val="600"/>
              </a:spcAft>
              <a:defRPr sz="1100">
                <a:solidFill>
                  <a:srgbClr val="ECF0F1"/>
                </a:solidFill>
                <a:latin typeface="Calibri"/>
              </a:defRPr>
              <a:buChar char="●"/>
              <a:buClr>
                <a:srgbClr val="27AE60"/>
              </a:buClr>
            </a:pPr>
            <a:r>
              <a:t>  Sprinkler systems</a:t>
            </a:r>
          </a:p>
          <a:p>
            <a:pPr>
              <a:spcAft>
                <a:spcPts val="600"/>
              </a:spcAft>
              <a:defRPr sz="1100">
                <a:solidFill>
                  <a:srgbClr val="ECF0F1"/>
                </a:solidFill>
                <a:latin typeface="Calibri"/>
              </a:defRPr>
              <a:buChar char="●"/>
              <a:buClr>
                <a:srgbClr val="27AE60"/>
              </a:buClr>
            </a:pPr>
            <a:r>
              <a:t>  Fire alarm systems</a:t>
            </a:r>
          </a:p>
          <a:p>
            <a:pPr>
              <a:spcAft>
                <a:spcPts val="600"/>
              </a:spcAft>
              <a:defRPr sz="1100">
                <a:solidFill>
                  <a:srgbClr val="ECF0F1"/>
                </a:solidFill>
                <a:latin typeface="Calibri"/>
              </a:defRPr>
              <a:buChar char="●"/>
              <a:buClr>
                <a:srgbClr val="27AE60"/>
              </a:buClr>
            </a:pPr>
            <a:r>
              <a:t>  Smoke extraction</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Means of Egress</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Safe evacuation routes for emergency.</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Staircase width reqs</a:t>
            </a:r>
          </a:p>
          <a:p>
            <a:pPr>
              <a:spcAft>
                <a:spcPts val="600"/>
              </a:spcAft>
              <a:defRPr sz="1100">
                <a:solidFill>
                  <a:srgbClr val="ECF0F1"/>
                </a:solidFill>
                <a:latin typeface="Calibri"/>
              </a:defRPr>
              <a:buChar char="●"/>
              <a:buClr>
                <a:srgbClr val="F39C12"/>
              </a:buClr>
            </a:pPr>
            <a:r>
              <a:t>  Max travel distance</a:t>
            </a:r>
          </a:p>
          <a:p>
            <a:pPr>
              <a:spcAft>
                <a:spcPts val="600"/>
              </a:spcAft>
              <a:defRPr sz="1100">
                <a:solidFill>
                  <a:srgbClr val="ECF0F1"/>
                </a:solidFill>
                <a:latin typeface="Calibri"/>
              </a:defRPr>
              <a:buChar char="●"/>
              <a:buClr>
                <a:srgbClr val="F39C12"/>
              </a:buClr>
            </a:pPr>
            <a:r>
              <a:t>  Emergency exit signage</a:t>
            </a:r>
          </a:p>
          <a:p>
            <a:pPr>
              <a:spcAft>
                <a:spcPts val="600"/>
              </a:spcAft>
              <a:defRPr sz="1100">
                <a:solidFill>
                  <a:srgbClr val="ECF0F1"/>
                </a:solidFill>
                <a:latin typeface="Calibri"/>
              </a:defRPr>
              <a:buChar char="●"/>
              <a:buClr>
                <a:srgbClr val="F39C12"/>
              </a:buClr>
            </a:pPr>
            <a:r>
              <a:t>  Illumination requirements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009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009E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14</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Technology in</a:t>
            </a:r>
            <a:br/>
            <a:r>
              <a:t>Disaster Management</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TECHNOLOGY &amp; INNOVATION IN DM</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GIS &amp; Remote Sensing</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Hazard mapping, risk assessment, damage evaluation.</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Hazard zone mapping</a:t>
            </a:r>
          </a:p>
          <a:p>
            <a:pPr>
              <a:spcAft>
                <a:spcPts val="600"/>
              </a:spcAft>
              <a:defRPr sz="1100">
                <a:solidFill>
                  <a:srgbClr val="ECF0F1"/>
                </a:solidFill>
                <a:latin typeface="Calibri"/>
              </a:defRPr>
              <a:buChar char="●"/>
              <a:buClr>
                <a:srgbClr val="E83E3E"/>
              </a:buClr>
            </a:pPr>
            <a:r>
              <a:t>  Real-time flood monitoring</a:t>
            </a:r>
          </a:p>
          <a:p>
            <a:pPr>
              <a:spcAft>
                <a:spcPts val="600"/>
              </a:spcAft>
              <a:defRPr sz="1100">
                <a:solidFill>
                  <a:srgbClr val="ECF0F1"/>
                </a:solidFill>
                <a:latin typeface="Calibri"/>
              </a:defRPr>
              <a:buChar char="●"/>
              <a:buClr>
                <a:srgbClr val="E83E3E"/>
              </a:buClr>
            </a:pPr>
            <a:r>
              <a:t>  Post-disaster assessment</a:t>
            </a:r>
          </a:p>
          <a:p>
            <a:pPr>
              <a:spcAft>
                <a:spcPts val="600"/>
              </a:spcAft>
              <a:defRPr sz="1100">
                <a:solidFill>
                  <a:srgbClr val="ECF0F1"/>
                </a:solidFill>
                <a:latin typeface="Calibri"/>
              </a:defRPr>
              <a:buChar char="●"/>
              <a:buClr>
                <a:srgbClr val="E83E3E"/>
              </a:buClr>
            </a:pPr>
            <a:r>
              <a:t>  Land-use detection</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AI &amp; Machine Learning</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Predictive modeling, pattern recognition, early warning.</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Disaster prediction</a:t>
            </a:r>
          </a:p>
          <a:p>
            <a:pPr>
              <a:spcAft>
                <a:spcPts val="600"/>
              </a:spcAft>
              <a:defRPr sz="1100">
                <a:solidFill>
                  <a:srgbClr val="ECF0F1"/>
                </a:solidFill>
                <a:latin typeface="Calibri"/>
              </a:defRPr>
              <a:buChar char="●"/>
              <a:buClr>
                <a:srgbClr val="2E86AB"/>
              </a:buClr>
            </a:pPr>
            <a:r>
              <a:t>  Image recognition</a:t>
            </a:r>
          </a:p>
          <a:p>
            <a:pPr>
              <a:spcAft>
                <a:spcPts val="600"/>
              </a:spcAft>
              <a:defRPr sz="1100">
                <a:solidFill>
                  <a:srgbClr val="ECF0F1"/>
                </a:solidFill>
                <a:latin typeface="Calibri"/>
              </a:defRPr>
              <a:buChar char="●"/>
              <a:buClr>
                <a:srgbClr val="2E86AB"/>
              </a:buClr>
            </a:pPr>
            <a:r>
              <a:t>  Chatbots for info</a:t>
            </a:r>
          </a:p>
          <a:p>
            <a:pPr>
              <a:spcAft>
                <a:spcPts val="600"/>
              </a:spcAft>
              <a:defRPr sz="1100">
                <a:solidFill>
                  <a:srgbClr val="ECF0F1"/>
                </a:solidFill>
                <a:latin typeface="Calibri"/>
              </a:defRPr>
              <a:buChar char="●"/>
              <a:buClr>
                <a:srgbClr val="2E86AB"/>
              </a:buClr>
            </a:pPr>
            <a:r>
              <a:t>  Resource optimization</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Drone Technology</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Surveillance, damage assessment, supply delivery.</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Aerial damage assessment</a:t>
            </a:r>
          </a:p>
          <a:p>
            <a:pPr>
              <a:spcAft>
                <a:spcPts val="600"/>
              </a:spcAft>
              <a:defRPr sz="1100">
                <a:solidFill>
                  <a:srgbClr val="ECF0F1"/>
                </a:solidFill>
                <a:latin typeface="Calibri"/>
              </a:defRPr>
              <a:buChar char="●"/>
              <a:buClr>
                <a:srgbClr val="27AE60"/>
              </a:buClr>
            </a:pPr>
            <a:r>
              <a:t>  Search &amp; rescue support</a:t>
            </a:r>
          </a:p>
          <a:p>
            <a:pPr>
              <a:spcAft>
                <a:spcPts val="600"/>
              </a:spcAft>
              <a:defRPr sz="1100">
                <a:solidFill>
                  <a:srgbClr val="ECF0F1"/>
                </a:solidFill>
                <a:latin typeface="Calibri"/>
              </a:defRPr>
              <a:buChar char="●"/>
              <a:buClr>
                <a:srgbClr val="27AE60"/>
              </a:buClr>
            </a:pPr>
            <a:r>
              <a:t>  Supply delivery</a:t>
            </a:r>
          </a:p>
          <a:p>
            <a:pPr>
              <a:spcAft>
                <a:spcPts val="600"/>
              </a:spcAft>
              <a:defRPr sz="1100">
                <a:solidFill>
                  <a:srgbClr val="ECF0F1"/>
                </a:solidFill>
                <a:latin typeface="Calibri"/>
              </a:defRPr>
              <a:buChar char="●"/>
              <a:buClr>
                <a:srgbClr val="27AE60"/>
              </a:buClr>
            </a:pPr>
            <a:r>
              <a:t>  Infrastructure inspection</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IoT &amp; Sensors</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Real-time monitoring of conditions and infrastructure.</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Flood level sensors</a:t>
            </a:r>
          </a:p>
          <a:p>
            <a:pPr>
              <a:spcAft>
                <a:spcPts val="600"/>
              </a:spcAft>
              <a:defRPr sz="1100">
                <a:solidFill>
                  <a:srgbClr val="ECF0F1"/>
                </a:solidFill>
                <a:latin typeface="Calibri"/>
              </a:defRPr>
              <a:buChar char="●"/>
              <a:buClr>
                <a:srgbClr val="F39C12"/>
              </a:buClr>
            </a:pPr>
            <a:r>
              <a:t>  Structural health monitoring</a:t>
            </a:r>
          </a:p>
          <a:p>
            <a:pPr>
              <a:spcAft>
                <a:spcPts val="600"/>
              </a:spcAft>
              <a:defRPr sz="1100">
                <a:solidFill>
                  <a:srgbClr val="ECF0F1"/>
                </a:solidFill>
                <a:latin typeface="Calibri"/>
              </a:defRPr>
              <a:buChar char="●"/>
              <a:buClr>
                <a:srgbClr val="F39C12"/>
              </a:buClr>
            </a:pPr>
            <a:r>
              <a:t>  Weather station networks</a:t>
            </a:r>
          </a:p>
          <a:p>
            <a:pPr>
              <a:spcAft>
                <a:spcPts val="600"/>
              </a:spcAft>
              <a:defRPr sz="1100">
                <a:solidFill>
                  <a:srgbClr val="ECF0F1"/>
                </a:solidFill>
                <a:latin typeface="Calibri"/>
              </a:defRPr>
              <a:buChar char="●"/>
              <a:buClr>
                <a:srgbClr val="F39C12"/>
              </a:buClr>
            </a:pPr>
            <a:r>
              <a:t>  Early warning triggers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D5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D5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15</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Community-Based</a:t>
            </a:r>
            <a:br/>
            <a:r>
              <a:t>Disaster Management</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COMMUNITY-BASED DISASTER MANAGEMENT</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Community Preparedness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Building local capacity for disaster response.</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Village DM committees</a:t>
            </a:r>
          </a:p>
          <a:p>
            <a:pPr>
              <a:spcAft>
                <a:spcPts val="600"/>
              </a:spcAft>
              <a:defRPr sz="1100">
                <a:solidFill>
                  <a:srgbClr val="ECF0F1"/>
                </a:solidFill>
                <a:latin typeface="Calibri"/>
              </a:defRPr>
              <a:buChar char="●"/>
              <a:buClr>
                <a:srgbClr val="E83E3E"/>
              </a:buClr>
            </a:pPr>
            <a:r>
              <a:t>  Local volunteer training</a:t>
            </a:r>
          </a:p>
          <a:p>
            <a:pPr>
              <a:spcAft>
                <a:spcPts val="600"/>
              </a:spcAft>
              <a:defRPr sz="1100">
                <a:solidFill>
                  <a:srgbClr val="ECF0F1"/>
                </a:solidFill>
                <a:latin typeface="Calibri"/>
              </a:defRPr>
              <a:buChar char="●"/>
              <a:buClr>
                <a:srgbClr val="E83E3E"/>
              </a:buClr>
            </a:pPr>
            <a:r>
              <a:t>  Mock drills &amp; exercises</a:t>
            </a:r>
          </a:p>
          <a:p>
            <a:pPr>
              <a:spcAft>
                <a:spcPts val="600"/>
              </a:spcAft>
              <a:defRPr sz="1100">
                <a:solidFill>
                  <a:srgbClr val="ECF0F1"/>
                </a:solidFill>
                <a:latin typeface="Calibri"/>
              </a:defRPr>
              <a:buChar char="●"/>
              <a:buClr>
                <a:srgbClr val="E83E3E"/>
              </a:buClr>
            </a:pPr>
            <a:r>
              <a:t>  Resource mapping</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Indigenous Knowledge</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Traditional wisdom for disaster resilience.</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Traditional construction</a:t>
            </a:r>
          </a:p>
          <a:p>
            <a:pPr>
              <a:spcAft>
                <a:spcPts val="600"/>
              </a:spcAft>
              <a:defRPr sz="1100">
                <a:solidFill>
                  <a:srgbClr val="ECF0F1"/>
                </a:solidFill>
                <a:latin typeface="Calibri"/>
              </a:defRPr>
              <a:buChar char="●"/>
              <a:buClr>
                <a:srgbClr val="2E86AB"/>
              </a:buClr>
            </a:pPr>
            <a:r>
              <a:t>  Local early warning signs</a:t>
            </a:r>
          </a:p>
          <a:p>
            <a:pPr>
              <a:spcAft>
                <a:spcPts val="600"/>
              </a:spcAft>
              <a:defRPr sz="1100">
                <a:solidFill>
                  <a:srgbClr val="ECF0F1"/>
                </a:solidFill>
                <a:latin typeface="Calibri"/>
              </a:defRPr>
              <a:buChar char="●"/>
              <a:buClr>
                <a:srgbClr val="2E86AB"/>
              </a:buClr>
            </a:pPr>
            <a:r>
              <a:t>  Water harvesting systems</a:t>
            </a:r>
          </a:p>
          <a:p>
            <a:pPr>
              <a:spcAft>
                <a:spcPts val="600"/>
              </a:spcAft>
              <a:defRPr sz="1100">
                <a:solidFill>
                  <a:srgbClr val="ECF0F1"/>
                </a:solidFill>
                <a:latin typeface="Calibri"/>
              </a:defRPr>
              <a:buChar char="●"/>
              <a:buClr>
                <a:srgbClr val="2E86AB"/>
              </a:buClr>
            </a:pPr>
            <a:r>
              <a:t>  Crop selection knowledge</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Social Capital</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 Networks and trust that enable collective action.</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Neighborhood associations</a:t>
            </a:r>
          </a:p>
          <a:p>
            <a:pPr>
              <a:spcAft>
                <a:spcPts val="600"/>
              </a:spcAft>
              <a:defRPr sz="1100">
                <a:solidFill>
                  <a:srgbClr val="ECF0F1"/>
                </a:solidFill>
                <a:latin typeface="Calibri"/>
              </a:defRPr>
              <a:buChar char="●"/>
              <a:buClr>
                <a:srgbClr val="27AE60"/>
              </a:buClr>
            </a:pPr>
            <a:r>
              <a:t>  Self-help groups</a:t>
            </a:r>
          </a:p>
          <a:p>
            <a:pPr>
              <a:spcAft>
                <a:spcPts val="600"/>
              </a:spcAft>
              <a:defRPr sz="1100">
                <a:solidFill>
                  <a:srgbClr val="ECF0F1"/>
                </a:solidFill>
                <a:latin typeface="Calibri"/>
              </a:defRPr>
              <a:buChar char="●"/>
              <a:buClr>
                <a:srgbClr val="27AE60"/>
              </a:buClr>
            </a:pPr>
            <a:r>
              <a:t>  Religious organizations</a:t>
            </a:r>
          </a:p>
          <a:p>
            <a:pPr>
              <a:spcAft>
                <a:spcPts val="600"/>
              </a:spcAft>
              <a:defRPr sz="1100">
                <a:solidFill>
                  <a:srgbClr val="ECF0F1"/>
                </a:solidFill>
                <a:latin typeface="Calibri"/>
              </a:defRPr>
              <a:buChar char="●"/>
              <a:buClr>
                <a:srgbClr val="27AE60"/>
              </a:buClr>
            </a:pPr>
            <a:r>
              <a:t>  Professional networks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Participatory Planning</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Involving communities in DM decision-making.</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Community risk mapping</a:t>
            </a:r>
          </a:p>
          <a:p>
            <a:pPr>
              <a:spcAft>
                <a:spcPts val="600"/>
              </a:spcAft>
              <a:defRPr sz="1100">
                <a:solidFill>
                  <a:srgbClr val="ECF0F1"/>
                </a:solidFill>
                <a:latin typeface="Calibri"/>
              </a:defRPr>
              <a:buChar char="●"/>
              <a:buClr>
                <a:srgbClr val="F39C12"/>
              </a:buClr>
            </a:pPr>
            <a:r>
              <a:t>  Participatory budgeting</a:t>
            </a:r>
          </a:p>
          <a:p>
            <a:pPr>
              <a:spcAft>
                <a:spcPts val="600"/>
              </a:spcAft>
              <a:defRPr sz="1100">
                <a:solidFill>
                  <a:srgbClr val="ECF0F1"/>
                </a:solidFill>
                <a:latin typeface="Calibri"/>
              </a:defRPr>
              <a:buChar char="●"/>
              <a:buClr>
                <a:srgbClr val="F39C12"/>
              </a:buClr>
            </a:pPr>
            <a:r>
              <a:t>  Local DM plan creation</a:t>
            </a:r>
          </a:p>
          <a:p>
            <a:pPr>
              <a:spcAft>
                <a:spcPts val="600"/>
              </a:spcAft>
              <a:defRPr sz="1100">
                <a:solidFill>
                  <a:srgbClr val="ECF0F1"/>
                </a:solidFill>
                <a:latin typeface="Calibri"/>
              </a:defRPr>
              <a:buChar char="●"/>
              <a:buClr>
                <a:srgbClr val="F39C12"/>
              </a:buClr>
            </a:pPr>
            <a:r>
              <a:t>  Monitoring &amp; evaluation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C9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C92E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16</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Climate Change &amp;</a:t>
            </a:r>
            <a:br/>
            <a:r>
              <a:t>Emerging Threats</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CLIMATE CHANGE &amp; EMERGING THREATS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Rising Sea Levels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Coastal cities face increasing threats.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0.3mm annual rise</a:t>
            </a:r>
          </a:p>
          <a:p>
            <a:pPr>
              <a:spcAft>
                <a:spcPts val="600"/>
              </a:spcAft>
              <a:defRPr sz="1100">
                <a:solidFill>
                  <a:srgbClr val="ECF0F1"/>
                </a:solidFill>
                <a:latin typeface="Calibri"/>
              </a:defRPr>
              <a:buChar char="●"/>
              <a:buClr>
                <a:srgbClr val="E83E3E"/>
              </a:buClr>
            </a:pPr>
            <a:r>
              <a:t>  Coastal erosion accelerating</a:t>
            </a:r>
          </a:p>
          <a:p>
            <a:pPr>
              <a:spcAft>
                <a:spcPts val="600"/>
              </a:spcAft>
              <a:defRPr sz="1100">
                <a:solidFill>
                  <a:srgbClr val="ECF0F1"/>
                </a:solidFill>
                <a:latin typeface="Calibri"/>
              </a:defRPr>
              <a:buChar char="●"/>
              <a:buClr>
                <a:srgbClr val="E83E3E"/>
              </a:buClr>
            </a:pPr>
            <a:r>
              <a:t>  Saltwater intrusion</a:t>
            </a:r>
          </a:p>
          <a:p>
            <a:pPr>
              <a:spcAft>
                <a:spcPts val="600"/>
              </a:spcAft>
              <a:defRPr sz="1100">
                <a:solidFill>
                  <a:srgbClr val="ECF0F1"/>
                </a:solidFill>
                <a:latin typeface="Calibri"/>
              </a:defRPr>
              <a:buChar char="●"/>
              <a:buClr>
                <a:srgbClr val="E83E3E"/>
              </a:buClr>
            </a:pPr>
            <a:r>
              <a:t>  Island territories at risk</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Extreme Weather</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Increasing cyclones, heat waves, rainfall.</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Cyclone intensity rising</a:t>
            </a:r>
          </a:p>
          <a:p>
            <a:pPr>
              <a:spcAft>
                <a:spcPts val="600"/>
              </a:spcAft>
              <a:defRPr sz="1100">
                <a:solidFill>
                  <a:srgbClr val="ECF0F1"/>
                </a:solidFill>
                <a:latin typeface="Calibri"/>
              </a:defRPr>
              <a:buChar char="●"/>
              <a:buClr>
                <a:srgbClr val="2E86AB"/>
              </a:buClr>
            </a:pPr>
            <a:r>
              <a:t>  Heat wave frequency up</a:t>
            </a:r>
          </a:p>
          <a:p>
            <a:pPr>
              <a:spcAft>
                <a:spcPts val="600"/>
              </a:spcAft>
              <a:defRPr sz="1100">
                <a:solidFill>
                  <a:srgbClr val="ECF0F1"/>
                </a:solidFill>
                <a:latin typeface="Calibri"/>
              </a:defRPr>
              <a:buChar char="●"/>
              <a:buClr>
                <a:srgbClr val="2E86AB"/>
              </a:buClr>
            </a:pPr>
            <a:r>
              <a:t>  Extreme rainfall common</a:t>
            </a:r>
          </a:p>
          <a:p>
            <a:pPr>
              <a:spcAft>
                <a:spcPts val="600"/>
              </a:spcAft>
              <a:defRPr sz="1100">
                <a:solidFill>
                  <a:srgbClr val="ECF0F1"/>
                </a:solidFill>
                <a:latin typeface="Calibri"/>
              </a:defRPr>
              <a:buChar char="●"/>
              <a:buClr>
                <a:srgbClr val="2E86AB"/>
              </a:buClr>
            </a:pPr>
            <a:r>
              <a:t>  Urban heat islands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Water Stress</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Changing monsoon and glacier retreat.</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Himalayan glaciers retreating</a:t>
            </a:r>
          </a:p>
          <a:p>
            <a:pPr>
              <a:spcAft>
                <a:spcPts val="600"/>
              </a:spcAft>
              <a:defRPr sz="1100">
                <a:solidFill>
                  <a:srgbClr val="ECF0F1"/>
                </a:solidFill>
                <a:latin typeface="Calibri"/>
              </a:defRPr>
              <a:buChar char="●"/>
              <a:buClr>
                <a:srgbClr val="27AE60"/>
              </a:buClr>
            </a:pPr>
            <a:r>
              <a:t>  Erratic monsoons</a:t>
            </a:r>
          </a:p>
          <a:p>
            <a:pPr>
              <a:spcAft>
                <a:spcPts val="600"/>
              </a:spcAft>
              <a:defRPr sz="1100">
                <a:solidFill>
                  <a:srgbClr val="ECF0F1"/>
                </a:solidFill>
                <a:latin typeface="Calibri"/>
              </a:defRPr>
              <a:buChar char="●"/>
              <a:buClr>
                <a:srgbClr val="27AE60"/>
              </a:buClr>
            </a:pPr>
            <a:r>
              <a:t>  Groundwater depletion</a:t>
            </a:r>
          </a:p>
          <a:p>
            <a:pPr>
              <a:spcAft>
                <a:spcPts val="600"/>
              </a:spcAft>
              <a:defRPr sz="1100">
                <a:solidFill>
                  <a:srgbClr val="ECF0F1"/>
                </a:solidFill>
                <a:latin typeface="Calibri"/>
              </a:defRPr>
              <a:buChar char="●"/>
              <a:buClr>
                <a:srgbClr val="27AE60"/>
              </a:buClr>
            </a:pPr>
            <a:r>
              <a:t>  Inter-state disputes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Pandemic Preparedness</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COVID-19 highlighted health-DM intersection.</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Health infrastructure stress</a:t>
            </a:r>
          </a:p>
          <a:p>
            <a:pPr>
              <a:spcAft>
                <a:spcPts val="600"/>
              </a:spcAft>
              <a:defRPr sz="1100">
                <a:solidFill>
                  <a:srgbClr val="ECF0F1"/>
                </a:solidFill>
                <a:latin typeface="Calibri"/>
              </a:defRPr>
              <a:buChar char="●"/>
              <a:buClr>
                <a:srgbClr val="F39C12"/>
              </a:buClr>
            </a:pPr>
            <a:r>
              <a:t>  Supply chain disruption</a:t>
            </a:r>
          </a:p>
          <a:p>
            <a:pPr>
              <a:spcAft>
                <a:spcPts val="600"/>
              </a:spcAft>
              <a:defRPr sz="1100">
                <a:solidFill>
                  <a:srgbClr val="ECF0F1"/>
                </a:solidFill>
                <a:latin typeface="Calibri"/>
              </a:defRPr>
              <a:buChar char="●"/>
              <a:buClr>
                <a:srgbClr val="F39C12"/>
              </a:buClr>
            </a:pPr>
            <a:r>
              <a:t>  Economic impacts</a:t>
            </a:r>
          </a:p>
          <a:p>
            <a:pPr>
              <a:spcAft>
                <a:spcPts val="600"/>
              </a:spcAft>
              <a:defRPr sz="1100">
                <a:solidFill>
                  <a:srgbClr val="ECF0F1"/>
                </a:solidFill>
                <a:latin typeface="Calibri"/>
              </a:defRPr>
              <a:buChar char="●"/>
              <a:buClr>
                <a:srgbClr val="F39C12"/>
              </a:buClr>
            </a:pPr>
            <a:r>
              <a:t>  Pandemic plans needed</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DISASTER RISK REDUCTION (DRR)</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Risk Identification</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Systematic process of determining risk.</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Hazard mapping</a:t>
            </a:r>
          </a:p>
          <a:p>
            <a:pPr>
              <a:spcAft>
                <a:spcPts val="600"/>
              </a:spcAft>
              <a:defRPr sz="1100">
                <a:solidFill>
                  <a:srgbClr val="ECF0F1"/>
                </a:solidFill>
                <a:latin typeface="Calibri"/>
              </a:defRPr>
              <a:buChar char="●"/>
              <a:buClr>
                <a:srgbClr val="E83E3E"/>
              </a:buClr>
            </a:pPr>
            <a:r>
              <a:t>  Vulnerability assessment</a:t>
            </a:r>
          </a:p>
          <a:p>
            <a:pPr>
              <a:spcAft>
                <a:spcPts val="600"/>
              </a:spcAft>
              <a:defRPr sz="1100">
                <a:solidFill>
                  <a:srgbClr val="ECF0F1"/>
                </a:solidFill>
                <a:latin typeface="Calibri"/>
              </a:defRPr>
              <a:buChar char="●"/>
              <a:buClr>
                <a:srgbClr val="E83E3E"/>
              </a:buClr>
            </a:pPr>
            <a:r>
              <a:t>  Exposure analysis</a:t>
            </a:r>
          </a:p>
          <a:p>
            <a:pPr>
              <a:spcAft>
                <a:spcPts val="600"/>
              </a:spcAft>
              <a:defRPr sz="1100">
                <a:solidFill>
                  <a:srgbClr val="ECF0F1"/>
                </a:solidFill>
                <a:latin typeface="Calibri"/>
              </a:defRPr>
              <a:buChar char="●"/>
              <a:buClr>
                <a:srgbClr val="E83E3E"/>
              </a:buClr>
            </a:pPr>
            <a:r>
              <a:t>  Capacity inventory</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Risk Management</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Making decisions that reduce risk.</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Risk evaluation</a:t>
            </a:r>
          </a:p>
          <a:p>
            <a:pPr>
              <a:spcAft>
                <a:spcPts val="600"/>
              </a:spcAft>
              <a:defRPr sz="1100">
                <a:solidFill>
                  <a:srgbClr val="ECF0F1"/>
                </a:solidFill>
                <a:latin typeface="Calibri"/>
              </a:defRPr>
              <a:buChar char="●"/>
              <a:buClr>
                <a:srgbClr val="2E86AB"/>
              </a:buClr>
            </a:pPr>
            <a:r>
              <a:t>  Prioritization</a:t>
            </a:r>
          </a:p>
          <a:p>
            <a:pPr>
              <a:spcAft>
                <a:spcPts val="600"/>
              </a:spcAft>
              <a:defRPr sz="1100">
                <a:solidFill>
                  <a:srgbClr val="ECF0F1"/>
                </a:solidFill>
                <a:latin typeface="Calibri"/>
              </a:defRPr>
              <a:buChar char="●"/>
              <a:buClr>
                <a:srgbClr val="2E86AB"/>
              </a:buClr>
            </a:pPr>
            <a:r>
              <a:t>  Implementation planning</a:t>
            </a:r>
          </a:p>
          <a:p>
            <a:pPr>
              <a:spcAft>
                <a:spcPts val="600"/>
              </a:spcAft>
              <a:defRPr sz="1100">
                <a:solidFill>
                  <a:srgbClr val="ECF0F1"/>
                </a:solidFill>
                <a:latin typeface="Calibri"/>
              </a:defRPr>
              <a:buChar char="●"/>
              <a:buClr>
                <a:srgbClr val="2E86AB"/>
              </a:buClr>
            </a:pPr>
            <a:r>
              <a:t>  Monitoring &amp; evaluation</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Risk Financing</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Mechanisms to finance recovery.</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NDRF, SDRF</a:t>
            </a:r>
          </a:p>
          <a:p>
            <a:pPr>
              <a:spcAft>
                <a:spcPts val="600"/>
              </a:spcAft>
              <a:defRPr sz="1100">
                <a:solidFill>
                  <a:srgbClr val="ECF0F1"/>
                </a:solidFill>
                <a:latin typeface="Calibri"/>
              </a:defRPr>
              <a:buChar char="●"/>
              <a:buClr>
                <a:srgbClr val="27AE60"/>
              </a:buClr>
            </a:pPr>
            <a:r>
              <a:t>  Insurance mechanisms</a:t>
            </a:r>
          </a:p>
          <a:p>
            <a:pPr>
              <a:spcAft>
                <a:spcPts val="600"/>
              </a:spcAft>
              <a:defRPr sz="1100">
                <a:solidFill>
                  <a:srgbClr val="ECF0F1"/>
                </a:solidFill>
                <a:latin typeface="Calibri"/>
              </a:defRPr>
              <a:buChar char="●"/>
              <a:buClr>
                <a:srgbClr val="27AE60"/>
              </a:buClr>
            </a:pPr>
            <a:r>
              <a:t>  Catastrophe bonds</a:t>
            </a:r>
          </a:p>
          <a:p>
            <a:pPr>
              <a:spcAft>
                <a:spcPts val="600"/>
              </a:spcAft>
              <a:defRPr sz="1100">
                <a:solidFill>
                  <a:srgbClr val="ECF0F1"/>
                </a:solidFill>
                <a:latin typeface="Calibri"/>
              </a:defRPr>
              <a:buChar char="●"/>
              <a:buClr>
                <a:srgbClr val="27AE60"/>
              </a:buClr>
            </a:pPr>
            <a:r>
              <a:t>  Contingency funds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Risk Transfer</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Moving risk through financial instruments.</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Crop insurance</a:t>
            </a:r>
          </a:p>
          <a:p>
            <a:pPr>
              <a:spcAft>
                <a:spcPts val="600"/>
              </a:spcAft>
              <a:defRPr sz="1100">
                <a:solidFill>
                  <a:srgbClr val="ECF0F1"/>
                </a:solidFill>
                <a:latin typeface="Calibri"/>
              </a:defRPr>
              <a:buChar char="●"/>
              <a:buClr>
                <a:srgbClr val="F39C12"/>
              </a:buClr>
            </a:pPr>
            <a:r>
              <a:t>  Weather-based insurance</a:t>
            </a:r>
          </a:p>
          <a:p>
            <a:pPr>
              <a:spcAft>
                <a:spcPts val="600"/>
              </a:spcAft>
              <a:defRPr sz="1100">
                <a:solidFill>
                  <a:srgbClr val="ECF0F1"/>
                </a:solidFill>
                <a:latin typeface="Calibri"/>
              </a:defRPr>
              <a:buChar char="●"/>
              <a:buClr>
                <a:srgbClr val="F39C12"/>
              </a:buClr>
            </a:pPr>
            <a:r>
              <a:t>  Parametric insurance</a:t>
            </a:r>
          </a:p>
          <a:p>
            <a:pPr>
              <a:spcAft>
                <a:spcPts val="600"/>
              </a:spcAft>
              <a:defRPr sz="1100">
                <a:solidFill>
                  <a:srgbClr val="ECF0F1"/>
                </a:solidFill>
                <a:latin typeface="Calibri"/>
              </a:defRPr>
              <a:buChar char="●"/>
              <a:buClr>
                <a:srgbClr val="F39C12"/>
              </a:buClr>
            </a:pPr>
            <a:r>
              <a:t>  Risk pooling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D0D1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01200" y="914400"/>
            <a:ext cx="3657600" cy="3657600"/>
          </a:xfrm>
          <a:prstGeom prst="ellipse">
            <a:avLst/>
          </a:prstGeom>
          <a:solidFill>
            <a:srgbClr val="D5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457200" y="4572000"/>
            <a:ext cx="2743200" cy="2743200"/>
          </a:xfrm>
          <a:prstGeom prst="ellipse">
            <a:avLst/>
          </a:prstGeom>
          <a:solidFill>
            <a:srgbClr val="D57E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286000"/>
            <a:ext cx="10058400" cy="914400"/>
          </a:xfrm>
          <a:prstGeom prst="rect">
            <a:avLst/>
          </a:prstGeom>
          <a:noFill/>
        </p:spPr>
        <p:txBody>
          <a:bodyPr wrap="square">
            <a:spAutoFit/>
          </a:bodyPr>
          <a:lstStyle/>
          <a:p>
            <a:pPr algn="ctr">
              <a:defRPr sz="2000" b="0">
                <a:solidFill>
                  <a:srgbClr val="FFFFFF"/>
                </a:solidFill>
                <a:latin typeface="Calibri"/>
              </a:defRPr>
            </a:pPr>
            <a:r>
              <a:t>SECTION 17</a:t>
            </a:r>
          </a:p>
        </p:txBody>
      </p:sp>
      <p:sp>
        <p:nvSpPr>
          <p:cNvPr id="6" name="TextBox 5"/>
          <p:cNvSpPr txBox="1"/>
          <p:nvPr/>
        </p:nvSpPr>
        <p:spPr>
          <a:xfrm>
            <a:off x="914400" y="2926080"/>
            <a:ext cx="10058400" cy="1371600"/>
          </a:xfrm>
          <a:prstGeom prst="rect">
            <a:avLst/>
          </a:prstGeom>
          <a:noFill/>
        </p:spPr>
        <p:txBody>
          <a:bodyPr wrap="square">
            <a:spAutoFit/>
          </a:bodyPr>
          <a:lstStyle/>
          <a:p>
            <a:pPr algn="ctr">
              <a:defRPr sz="4800" b="1">
                <a:solidFill>
                  <a:srgbClr val="FFFFFF"/>
                </a:solidFill>
                <a:latin typeface="Calibri"/>
              </a:defRPr>
            </a:pPr>
            <a:r>
              <a:t>Case Studies:</a:t>
            </a:r>
            <a:br/>
            <a:r>
              <a:t>Major Disasters in India</a:t>
            </a:r>
          </a:p>
        </p:txBody>
      </p:sp>
      <p:sp>
        <p:nvSpPr>
          <p:cNvPr id="7" name="Rectangle 6"/>
          <p:cNvSpPr/>
          <p:nvPr/>
        </p:nvSpPr>
        <p:spPr>
          <a:xfrm>
            <a:off x="3657600" y="4572000"/>
            <a:ext cx="4846320" cy="50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CASE STUDY: 2004 INDIAN OCEAN TSUNAMI</a:t>
            </a:r>
          </a:p>
        </p:txBody>
      </p:sp>
      <p:sp>
        <p:nvSpPr>
          <p:cNvPr id="4" name="TextBox 3"/>
          <p:cNvSpPr txBox="1"/>
          <p:nvPr/>
        </p:nvSpPr>
        <p:spPr>
          <a:xfrm>
            <a:off x="731520" y="1371600"/>
            <a:ext cx="5029200" cy="2286000"/>
          </a:xfrm>
          <a:prstGeom prst="rect">
            <a:avLst/>
          </a:prstGeom>
          <a:noFill/>
        </p:spPr>
        <p:txBody>
          <a:bodyPr wrap="square">
            <a:spAutoFit/>
          </a:bodyPr>
          <a:lstStyle/>
          <a:p>
            <a:pPr>
              <a:spcAft>
                <a:spcPts val="600"/>
              </a:spcAft>
              <a:defRPr sz="2000" b="1">
                <a:solidFill>
                  <a:srgbClr val="E83E3E"/>
                </a:solidFill>
                <a:latin typeface="Calibri"/>
              </a:defRPr>
            </a:pPr>
            <a:r>
              <a:t>Event Details</a:t>
            </a:r>
          </a:p>
          <a:p>
            <a:pPr>
              <a:spcAft>
                <a:spcPts val="179"/>
              </a:spcAft>
              <a:defRPr sz="600" b="0">
                <a:solidFill>
                  <a:srgbClr val="FFFFFF"/>
                </a:solidFill>
                <a:latin typeface="Calibri"/>
              </a:defRPr>
            </a:pPr>
          </a:p>
          <a:p>
            <a:pPr>
              <a:spcAft>
                <a:spcPts val="420"/>
              </a:spcAft>
              <a:defRPr sz="1400" b="0">
                <a:solidFill>
                  <a:srgbClr val="ECF0F1"/>
                </a:solidFill>
                <a:latin typeface="Calibri"/>
              </a:defRPr>
            </a:pPr>
            <a:r>
              <a:t>Date: December 26, 2004</a:t>
            </a:r>
          </a:p>
          <a:p>
            <a:pPr>
              <a:spcAft>
                <a:spcPts val="420"/>
              </a:spcAft>
              <a:defRPr sz="1400" b="0">
                <a:solidFill>
                  <a:srgbClr val="ECF0F1"/>
                </a:solidFill>
                <a:latin typeface="Calibri"/>
              </a:defRPr>
            </a:pPr>
            <a:r>
              <a:t>Magnitude: 9.1 undersea earthquake</a:t>
            </a:r>
          </a:p>
          <a:p>
            <a:pPr>
              <a:spcAft>
                <a:spcPts val="420"/>
              </a:spcAft>
              <a:defRPr sz="1400" b="0">
                <a:solidFill>
                  <a:srgbClr val="ECF0F1"/>
                </a:solidFill>
                <a:latin typeface="Calibri"/>
              </a:defRPr>
            </a:pPr>
            <a:r>
              <a:t>India: 12,000+ deaths, 5.6 lakh displaced</a:t>
            </a:r>
          </a:p>
          <a:p>
            <a:pPr>
              <a:spcAft>
                <a:spcPts val="420"/>
              </a:spcAft>
              <a:defRPr sz="1400" b="0">
                <a:solidFill>
                  <a:srgbClr val="ECF0F1"/>
                </a:solidFill>
                <a:latin typeface="Calibri"/>
              </a:defRPr>
            </a:pPr>
            <a:r>
              <a:t>Affected: TN, AP, Kerala, Andaman &amp; Nicobar</a:t>
            </a:r>
          </a:p>
        </p:txBody>
      </p:sp>
      <p:sp>
        <p:nvSpPr>
          <p:cNvPr id="5" name="Rounded Rectangle 4"/>
          <p:cNvSpPr/>
          <p:nvPr/>
        </p:nvSpPr>
        <p:spPr>
          <a:xfrm>
            <a:off x="45720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840480"/>
            <a:ext cx="2560320" cy="731520"/>
          </a:xfrm>
          <a:prstGeom prst="rect">
            <a:avLst/>
          </a:prstGeom>
          <a:noFill/>
        </p:spPr>
        <p:txBody>
          <a:bodyPr wrap="square">
            <a:spAutoFit/>
          </a:bodyPr>
          <a:lstStyle/>
          <a:p>
            <a:pPr algn="ctr">
              <a:defRPr sz="3600" b="1">
                <a:solidFill>
                  <a:srgbClr val="E83E3E"/>
                </a:solidFill>
                <a:latin typeface="Calibri"/>
              </a:defRPr>
            </a:pPr>
            <a:r>
              <a:t>12,000+</a:t>
            </a:r>
          </a:p>
        </p:txBody>
      </p:sp>
      <p:sp>
        <p:nvSpPr>
          <p:cNvPr id="7" name="TextBox 6"/>
          <p:cNvSpPr txBox="1"/>
          <p:nvPr/>
        </p:nvSpPr>
        <p:spPr>
          <a:xfrm>
            <a:off x="457200" y="4572000"/>
            <a:ext cx="2560320" cy="548640"/>
          </a:xfrm>
          <a:prstGeom prst="rect">
            <a:avLst/>
          </a:prstGeom>
          <a:noFill/>
        </p:spPr>
        <p:txBody>
          <a:bodyPr wrap="square">
            <a:spAutoFit/>
          </a:bodyPr>
          <a:lstStyle/>
          <a:p>
            <a:pPr algn="ctr">
              <a:defRPr sz="1400" b="0">
                <a:solidFill>
                  <a:srgbClr val="ECF0F1"/>
                </a:solidFill>
                <a:latin typeface="Calibri"/>
              </a:defRPr>
            </a:pPr>
            <a:r>
              <a:t>Deaths in India</a:t>
            </a:r>
          </a:p>
        </p:txBody>
      </p:sp>
      <p:sp>
        <p:nvSpPr>
          <p:cNvPr id="8" name="Rounded Rectangle 7"/>
          <p:cNvSpPr/>
          <p:nvPr/>
        </p:nvSpPr>
        <p:spPr>
          <a:xfrm>
            <a:off x="338328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3840480"/>
            <a:ext cx="2560320" cy="731520"/>
          </a:xfrm>
          <a:prstGeom prst="rect">
            <a:avLst/>
          </a:prstGeom>
          <a:noFill/>
        </p:spPr>
        <p:txBody>
          <a:bodyPr wrap="square">
            <a:spAutoFit/>
          </a:bodyPr>
          <a:lstStyle/>
          <a:p>
            <a:pPr algn="ctr">
              <a:defRPr sz="3600" b="1">
                <a:solidFill>
                  <a:srgbClr val="2E86AB"/>
                </a:solidFill>
                <a:latin typeface="Calibri"/>
              </a:defRPr>
            </a:pPr>
            <a:r>
              <a:t>5.6L</a:t>
            </a:r>
          </a:p>
        </p:txBody>
      </p:sp>
      <p:sp>
        <p:nvSpPr>
          <p:cNvPr id="10" name="TextBox 9"/>
          <p:cNvSpPr txBox="1"/>
          <p:nvPr/>
        </p:nvSpPr>
        <p:spPr>
          <a:xfrm>
            <a:off x="3383280" y="4572000"/>
            <a:ext cx="2560320" cy="548640"/>
          </a:xfrm>
          <a:prstGeom prst="rect">
            <a:avLst/>
          </a:prstGeom>
          <a:noFill/>
        </p:spPr>
        <p:txBody>
          <a:bodyPr wrap="square">
            <a:spAutoFit/>
          </a:bodyPr>
          <a:lstStyle/>
          <a:p>
            <a:pPr algn="ctr">
              <a:defRPr sz="1400" b="0">
                <a:solidFill>
                  <a:srgbClr val="ECF0F1"/>
                </a:solidFill>
                <a:latin typeface="Calibri"/>
              </a:defRPr>
            </a:pPr>
            <a:r>
              <a:t>Displaced</a:t>
            </a:r>
          </a:p>
        </p:txBody>
      </p:sp>
      <p:sp>
        <p:nvSpPr>
          <p:cNvPr id="11" name="Rounded Rectangle 10"/>
          <p:cNvSpPr/>
          <p:nvPr/>
        </p:nvSpPr>
        <p:spPr>
          <a:xfrm>
            <a:off x="630936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840480"/>
            <a:ext cx="2560320" cy="731520"/>
          </a:xfrm>
          <a:prstGeom prst="rect">
            <a:avLst/>
          </a:prstGeom>
          <a:noFill/>
        </p:spPr>
        <p:txBody>
          <a:bodyPr wrap="square">
            <a:spAutoFit/>
          </a:bodyPr>
          <a:lstStyle/>
          <a:p>
            <a:pPr algn="ctr">
              <a:defRPr sz="3600" b="1">
                <a:solidFill>
                  <a:srgbClr val="27AE60"/>
                </a:solidFill>
                <a:latin typeface="Calibri"/>
              </a:defRPr>
            </a:pPr>
            <a:r>
              <a:t>$1.5B</a:t>
            </a:r>
          </a:p>
        </p:txBody>
      </p:sp>
      <p:sp>
        <p:nvSpPr>
          <p:cNvPr id="13" name="TextBox 12"/>
          <p:cNvSpPr txBox="1"/>
          <p:nvPr/>
        </p:nvSpPr>
        <p:spPr>
          <a:xfrm>
            <a:off x="6309360" y="4572000"/>
            <a:ext cx="2560320" cy="548640"/>
          </a:xfrm>
          <a:prstGeom prst="rect">
            <a:avLst/>
          </a:prstGeom>
          <a:noFill/>
        </p:spPr>
        <p:txBody>
          <a:bodyPr wrap="square">
            <a:spAutoFit/>
          </a:bodyPr>
          <a:lstStyle/>
          <a:p>
            <a:pPr algn="ctr">
              <a:defRPr sz="1400" b="0">
                <a:solidFill>
                  <a:srgbClr val="ECF0F1"/>
                </a:solidFill>
                <a:latin typeface="Calibri"/>
              </a:defRPr>
            </a:pPr>
            <a:r>
              <a:t>Economic Loss</a:t>
            </a:r>
          </a:p>
        </p:txBody>
      </p:sp>
      <p:sp>
        <p:nvSpPr>
          <p:cNvPr id="14" name="Rounded Rectangle 13"/>
          <p:cNvSpPr/>
          <p:nvPr/>
        </p:nvSpPr>
        <p:spPr>
          <a:xfrm>
            <a:off x="923544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3840480"/>
            <a:ext cx="2560320" cy="731520"/>
          </a:xfrm>
          <a:prstGeom prst="rect">
            <a:avLst/>
          </a:prstGeom>
          <a:noFill/>
        </p:spPr>
        <p:txBody>
          <a:bodyPr wrap="square">
            <a:spAutoFit/>
          </a:bodyPr>
          <a:lstStyle/>
          <a:p>
            <a:pPr algn="ctr">
              <a:defRPr sz="3600" b="1">
                <a:solidFill>
                  <a:srgbClr val="F39C12"/>
                </a:solidFill>
                <a:latin typeface="Calibri"/>
              </a:defRPr>
            </a:pPr>
            <a:r>
              <a:t>40,000</a:t>
            </a:r>
          </a:p>
        </p:txBody>
      </p:sp>
      <p:sp>
        <p:nvSpPr>
          <p:cNvPr id="16" name="TextBox 15"/>
          <p:cNvSpPr txBox="1"/>
          <p:nvPr/>
        </p:nvSpPr>
        <p:spPr>
          <a:xfrm>
            <a:off x="9235440" y="4572000"/>
            <a:ext cx="2560320" cy="548640"/>
          </a:xfrm>
          <a:prstGeom prst="rect">
            <a:avLst/>
          </a:prstGeom>
          <a:noFill/>
        </p:spPr>
        <p:txBody>
          <a:bodyPr wrap="square">
            <a:spAutoFit/>
          </a:bodyPr>
          <a:lstStyle/>
          <a:p>
            <a:pPr algn="ctr">
              <a:defRPr sz="1400" b="0">
                <a:solidFill>
                  <a:srgbClr val="ECF0F1"/>
                </a:solidFill>
                <a:latin typeface="Calibri"/>
              </a:defRPr>
            </a:pPr>
            <a:r>
              <a:t>Fishermen affected</a:t>
            </a:r>
          </a:p>
        </p:txBody>
      </p:sp>
      <p:sp>
        <p:nvSpPr>
          <p:cNvPr id="17" name="TextBox 16"/>
          <p:cNvSpPr txBox="1"/>
          <p:nvPr/>
        </p:nvSpPr>
        <p:spPr>
          <a:xfrm>
            <a:off x="6400800" y="1371600"/>
            <a:ext cx="5029200" cy="2286000"/>
          </a:xfrm>
          <a:prstGeom prst="rect">
            <a:avLst/>
          </a:prstGeom>
          <a:noFill/>
        </p:spPr>
        <p:txBody>
          <a:bodyPr wrap="square">
            <a:spAutoFit/>
          </a:bodyPr>
          <a:lstStyle/>
          <a:p>
            <a:pPr>
              <a:spcAft>
                <a:spcPts val="600"/>
              </a:spcAft>
              <a:defRPr sz="2000" b="1">
                <a:solidFill>
                  <a:srgbClr val="2E86AB"/>
                </a:solidFill>
                <a:latin typeface="Calibri"/>
              </a:defRPr>
            </a:pPr>
            <a:r>
              <a:t>Key Lessons &amp; Response</a:t>
            </a:r>
          </a:p>
          <a:p>
            <a:pPr>
              <a:spcAft>
                <a:spcPts val="179"/>
              </a:spcAft>
              <a:defRPr sz="600" b="0">
                <a:solidFill>
                  <a:srgbClr val="FFFFFF"/>
                </a:solidFill>
                <a:latin typeface="Calibri"/>
              </a:defRPr>
            </a:pPr>
          </a:p>
          <a:p>
            <a:pPr>
              <a:spcAft>
                <a:spcPts val="390"/>
              </a:spcAft>
              <a:defRPr sz="1300" b="0">
                <a:solidFill>
                  <a:srgbClr val="ECF0F1"/>
                </a:solidFill>
                <a:latin typeface="Calibri"/>
              </a:defRPr>
            </a:pPr>
            <a:r>
              <a:t>Led to creation of ITEWC (Tsunami Warning Centre)</a:t>
            </a:r>
          </a:p>
          <a:p>
            <a:pPr>
              <a:spcAft>
                <a:spcPts val="390"/>
              </a:spcAft>
              <a:defRPr sz="1300" b="0">
                <a:solidFill>
                  <a:srgbClr val="ECF0F1"/>
                </a:solidFill>
                <a:latin typeface="Calibri"/>
              </a:defRPr>
            </a:pPr>
            <a:r>
              <a:t>Installation of tsunami detection buoys</a:t>
            </a:r>
          </a:p>
          <a:p>
            <a:pPr>
              <a:spcAft>
                <a:spcPts val="390"/>
              </a:spcAft>
              <a:defRPr sz="1300" b="0">
                <a:solidFill>
                  <a:srgbClr val="ECF0F1"/>
                </a:solidFill>
                <a:latin typeface="Calibri"/>
              </a:defRPr>
            </a:pPr>
            <a:r>
              <a:t>Community-based early warning systems</a:t>
            </a:r>
          </a:p>
          <a:p>
            <a:pPr>
              <a:spcAft>
                <a:spcPts val="390"/>
              </a:spcAft>
              <a:defRPr sz="1300" b="0">
                <a:solidFill>
                  <a:srgbClr val="ECF0F1"/>
                </a:solidFill>
                <a:latin typeface="Calibri"/>
              </a:defRPr>
            </a:pPr>
            <a:r>
              <a:t>Mangrove restoration as natural barrier</a:t>
            </a:r>
          </a:p>
          <a:p>
            <a:pPr>
              <a:spcAft>
                <a:spcPts val="390"/>
              </a:spcAft>
              <a:defRPr sz="1300" b="0">
                <a:solidFill>
                  <a:srgbClr val="ECF0F1"/>
                </a:solidFill>
                <a:latin typeface="Calibri"/>
              </a:defRPr>
            </a:pPr>
            <a:r>
              <a:t>Coastal regulation zone enforcement</a:t>
            </a:r>
          </a:p>
        </p:txBody>
      </p:sp>
      <p:sp>
        <p:nvSpPr>
          <p:cNvPr id="18" name="TextBox 17"/>
          <p:cNvSpPr txBox="1"/>
          <p:nvPr/>
        </p:nvSpPr>
        <p:spPr>
          <a:xfrm>
            <a:off x="6400800" y="3657600"/>
            <a:ext cx="5029200" cy="2286000"/>
          </a:xfrm>
          <a:prstGeom prst="rect">
            <a:avLst/>
          </a:prstGeom>
          <a:noFill/>
        </p:spPr>
        <p:txBody>
          <a:bodyPr wrap="square">
            <a:spAutoFit/>
          </a:bodyPr>
          <a:lstStyle/>
          <a:p>
            <a:pPr>
              <a:spcAft>
                <a:spcPts val="600"/>
              </a:spcAft>
              <a:defRPr sz="2000" b="1">
                <a:solidFill>
                  <a:srgbClr val="27AE60"/>
                </a:solidFill>
                <a:latin typeface="Calibri"/>
              </a:defRPr>
            </a:pPr>
            <a:r>
              <a:t>Architectural Response</a:t>
            </a:r>
          </a:p>
          <a:p>
            <a:pPr>
              <a:spcAft>
                <a:spcPts val="179"/>
              </a:spcAft>
              <a:defRPr sz="600" b="0">
                <a:solidFill>
                  <a:srgbClr val="FFFFFF"/>
                </a:solidFill>
                <a:latin typeface="Calibri"/>
              </a:defRPr>
            </a:pPr>
          </a:p>
          <a:p>
            <a:pPr>
              <a:spcAft>
                <a:spcPts val="390"/>
              </a:spcAft>
              <a:defRPr sz="1300" b="0">
                <a:solidFill>
                  <a:srgbClr val="ECF0F1"/>
                </a:solidFill>
                <a:latin typeface="Calibri"/>
              </a:defRPr>
            </a:pPr>
            <a:r>
              <a:t>Redesign of coastal settlements</a:t>
            </a:r>
          </a:p>
          <a:p>
            <a:pPr>
              <a:spcAft>
                <a:spcPts val="390"/>
              </a:spcAft>
              <a:defRPr sz="1300" b="0">
                <a:solidFill>
                  <a:srgbClr val="ECF0F1"/>
                </a:solidFill>
                <a:latin typeface="Calibri"/>
              </a:defRPr>
            </a:pPr>
            <a:r>
              <a:t>Multi-story cyclone shelters</a:t>
            </a:r>
          </a:p>
          <a:p>
            <a:pPr>
              <a:spcAft>
                <a:spcPts val="390"/>
              </a:spcAft>
              <a:defRPr sz="1300" b="0">
                <a:solidFill>
                  <a:srgbClr val="ECF0F1"/>
                </a:solidFill>
                <a:latin typeface="Calibri"/>
              </a:defRPr>
            </a:pPr>
            <a:r>
              <a:t>Traditional building techniques revisited</a:t>
            </a:r>
          </a:p>
          <a:p>
            <a:pPr>
              <a:spcAft>
                <a:spcPts val="390"/>
              </a:spcAft>
              <a:defRPr sz="1300" b="0">
                <a:solidFill>
                  <a:srgbClr val="ECF0F1"/>
                </a:solidFill>
                <a:latin typeface="Calibri"/>
              </a:defRPr>
            </a:pPr>
            <a:r>
              <a:t>Disaster-resilient housing reconstruction</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CASE STUDY: 2001 GUJARAT EARTHQUAKE</a:t>
            </a:r>
          </a:p>
        </p:txBody>
      </p:sp>
      <p:sp>
        <p:nvSpPr>
          <p:cNvPr id="4" name="TextBox 3"/>
          <p:cNvSpPr txBox="1"/>
          <p:nvPr/>
        </p:nvSpPr>
        <p:spPr>
          <a:xfrm>
            <a:off x="731520" y="1371600"/>
            <a:ext cx="5029200" cy="2286000"/>
          </a:xfrm>
          <a:prstGeom prst="rect">
            <a:avLst/>
          </a:prstGeom>
          <a:noFill/>
        </p:spPr>
        <p:txBody>
          <a:bodyPr wrap="square">
            <a:spAutoFit/>
          </a:bodyPr>
          <a:lstStyle/>
          <a:p>
            <a:pPr>
              <a:spcAft>
                <a:spcPts val="600"/>
              </a:spcAft>
              <a:defRPr sz="2000" b="1">
                <a:solidFill>
                  <a:srgbClr val="2E86AB"/>
                </a:solidFill>
                <a:latin typeface="Calibri"/>
              </a:defRPr>
            </a:pPr>
            <a:r>
              <a:t>Event Details</a:t>
            </a:r>
          </a:p>
          <a:p>
            <a:pPr>
              <a:spcAft>
                <a:spcPts val="179"/>
              </a:spcAft>
              <a:defRPr sz="600" b="0">
                <a:solidFill>
                  <a:srgbClr val="FFFFFF"/>
                </a:solidFill>
                <a:latin typeface="Calibri"/>
              </a:defRPr>
            </a:pPr>
          </a:p>
          <a:p>
            <a:pPr>
              <a:spcAft>
                <a:spcPts val="420"/>
              </a:spcAft>
              <a:defRPr sz="1400" b="0">
                <a:solidFill>
                  <a:srgbClr val="ECF0F1"/>
                </a:solidFill>
                <a:latin typeface="Calibri"/>
              </a:defRPr>
            </a:pPr>
            <a:r>
              <a:t>Date: January 26, 2001 (Republic Day)</a:t>
            </a:r>
          </a:p>
          <a:p>
            <a:pPr>
              <a:spcAft>
                <a:spcPts val="420"/>
              </a:spcAft>
              <a:defRPr sz="1400" b="0">
                <a:solidFill>
                  <a:srgbClr val="ECF0F1"/>
                </a:solidFill>
                <a:latin typeface="Calibri"/>
              </a:defRPr>
            </a:pPr>
            <a:r>
              <a:t>Magnitude: 7.7 on Richter scale</a:t>
            </a:r>
          </a:p>
          <a:p>
            <a:pPr>
              <a:spcAft>
                <a:spcPts val="420"/>
              </a:spcAft>
              <a:defRPr sz="1400" b="0">
                <a:solidFill>
                  <a:srgbClr val="ECF0F1"/>
                </a:solidFill>
                <a:latin typeface="Calibri"/>
              </a:defRPr>
            </a:pPr>
            <a:r>
              <a:t>Epicenter: Near Bhuj, Gujarat</a:t>
            </a:r>
          </a:p>
          <a:p>
            <a:pPr>
              <a:spcAft>
                <a:spcPts val="420"/>
              </a:spcAft>
              <a:defRPr sz="1400" b="0">
                <a:solidFill>
                  <a:srgbClr val="ECF0F1"/>
                </a:solidFill>
                <a:latin typeface="Calibri"/>
              </a:defRPr>
            </a:pPr>
            <a:r>
              <a:t>20,000+ deaths, 167,000 injured</a:t>
            </a:r>
          </a:p>
        </p:txBody>
      </p:sp>
      <p:sp>
        <p:nvSpPr>
          <p:cNvPr id="5" name="Rounded Rectangle 4"/>
          <p:cNvSpPr/>
          <p:nvPr/>
        </p:nvSpPr>
        <p:spPr>
          <a:xfrm>
            <a:off x="45720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840480"/>
            <a:ext cx="2560320" cy="731520"/>
          </a:xfrm>
          <a:prstGeom prst="rect">
            <a:avLst/>
          </a:prstGeom>
          <a:noFill/>
        </p:spPr>
        <p:txBody>
          <a:bodyPr wrap="square">
            <a:spAutoFit/>
          </a:bodyPr>
          <a:lstStyle/>
          <a:p>
            <a:pPr algn="ctr">
              <a:defRPr sz="3600" b="1">
                <a:solidFill>
                  <a:srgbClr val="E83E3E"/>
                </a:solidFill>
                <a:latin typeface="Calibri"/>
              </a:defRPr>
            </a:pPr>
            <a:r>
              <a:t>20,000+</a:t>
            </a:r>
          </a:p>
        </p:txBody>
      </p:sp>
      <p:sp>
        <p:nvSpPr>
          <p:cNvPr id="7" name="TextBox 6"/>
          <p:cNvSpPr txBox="1"/>
          <p:nvPr/>
        </p:nvSpPr>
        <p:spPr>
          <a:xfrm>
            <a:off x="457200" y="4572000"/>
            <a:ext cx="2560320" cy="548640"/>
          </a:xfrm>
          <a:prstGeom prst="rect">
            <a:avLst/>
          </a:prstGeom>
          <a:noFill/>
        </p:spPr>
        <p:txBody>
          <a:bodyPr wrap="square">
            <a:spAutoFit/>
          </a:bodyPr>
          <a:lstStyle/>
          <a:p>
            <a:pPr algn="ctr">
              <a:defRPr sz="1400" b="0">
                <a:solidFill>
                  <a:srgbClr val="ECF0F1"/>
                </a:solidFill>
                <a:latin typeface="Calibri"/>
              </a:defRPr>
            </a:pPr>
            <a:r>
              <a:t>Deaths</a:t>
            </a:r>
          </a:p>
        </p:txBody>
      </p:sp>
      <p:sp>
        <p:nvSpPr>
          <p:cNvPr id="8" name="Rounded Rectangle 7"/>
          <p:cNvSpPr/>
          <p:nvPr/>
        </p:nvSpPr>
        <p:spPr>
          <a:xfrm>
            <a:off x="338328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3840480"/>
            <a:ext cx="2560320" cy="731520"/>
          </a:xfrm>
          <a:prstGeom prst="rect">
            <a:avLst/>
          </a:prstGeom>
          <a:noFill/>
        </p:spPr>
        <p:txBody>
          <a:bodyPr wrap="square">
            <a:spAutoFit/>
          </a:bodyPr>
          <a:lstStyle/>
          <a:p>
            <a:pPr algn="ctr">
              <a:defRPr sz="3600" b="1">
                <a:solidFill>
                  <a:srgbClr val="2E86AB"/>
                </a:solidFill>
                <a:latin typeface="Calibri"/>
              </a:defRPr>
            </a:pPr>
            <a:r>
              <a:t>1.67L</a:t>
            </a:r>
          </a:p>
        </p:txBody>
      </p:sp>
      <p:sp>
        <p:nvSpPr>
          <p:cNvPr id="10" name="TextBox 9"/>
          <p:cNvSpPr txBox="1"/>
          <p:nvPr/>
        </p:nvSpPr>
        <p:spPr>
          <a:xfrm>
            <a:off x="3383280" y="4572000"/>
            <a:ext cx="2560320" cy="548640"/>
          </a:xfrm>
          <a:prstGeom prst="rect">
            <a:avLst/>
          </a:prstGeom>
          <a:noFill/>
        </p:spPr>
        <p:txBody>
          <a:bodyPr wrap="square">
            <a:spAutoFit/>
          </a:bodyPr>
          <a:lstStyle/>
          <a:p>
            <a:pPr algn="ctr">
              <a:defRPr sz="1400" b="0">
                <a:solidFill>
                  <a:srgbClr val="ECF0F1"/>
                </a:solidFill>
                <a:latin typeface="Calibri"/>
              </a:defRPr>
            </a:pPr>
            <a:r>
              <a:t>Injured</a:t>
            </a:r>
          </a:p>
        </p:txBody>
      </p:sp>
      <p:sp>
        <p:nvSpPr>
          <p:cNvPr id="11" name="Rounded Rectangle 10"/>
          <p:cNvSpPr/>
          <p:nvPr/>
        </p:nvSpPr>
        <p:spPr>
          <a:xfrm>
            <a:off x="630936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840480"/>
            <a:ext cx="2560320" cy="731520"/>
          </a:xfrm>
          <a:prstGeom prst="rect">
            <a:avLst/>
          </a:prstGeom>
          <a:noFill/>
        </p:spPr>
        <p:txBody>
          <a:bodyPr wrap="square">
            <a:spAutoFit/>
          </a:bodyPr>
          <a:lstStyle/>
          <a:p>
            <a:pPr algn="ctr">
              <a:defRPr sz="3600" b="1">
                <a:solidFill>
                  <a:srgbClr val="27AE60"/>
                </a:solidFill>
                <a:latin typeface="Calibri"/>
              </a:defRPr>
            </a:pPr>
            <a:r>
              <a:t>$5B</a:t>
            </a:r>
          </a:p>
        </p:txBody>
      </p:sp>
      <p:sp>
        <p:nvSpPr>
          <p:cNvPr id="13" name="TextBox 12"/>
          <p:cNvSpPr txBox="1"/>
          <p:nvPr/>
        </p:nvSpPr>
        <p:spPr>
          <a:xfrm>
            <a:off x="6309360" y="4572000"/>
            <a:ext cx="2560320" cy="548640"/>
          </a:xfrm>
          <a:prstGeom prst="rect">
            <a:avLst/>
          </a:prstGeom>
          <a:noFill/>
        </p:spPr>
        <p:txBody>
          <a:bodyPr wrap="square">
            <a:spAutoFit/>
          </a:bodyPr>
          <a:lstStyle/>
          <a:p>
            <a:pPr algn="ctr">
              <a:defRPr sz="1400" b="0">
                <a:solidFill>
                  <a:srgbClr val="ECF0F1"/>
                </a:solidFill>
                <a:latin typeface="Calibri"/>
              </a:defRPr>
            </a:pPr>
            <a:r>
              <a:t>Damage</a:t>
            </a:r>
          </a:p>
        </p:txBody>
      </p:sp>
      <p:sp>
        <p:nvSpPr>
          <p:cNvPr id="14" name="Rounded Rectangle 13"/>
          <p:cNvSpPr/>
          <p:nvPr/>
        </p:nvSpPr>
        <p:spPr>
          <a:xfrm>
            <a:off x="923544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3840480"/>
            <a:ext cx="2560320" cy="731520"/>
          </a:xfrm>
          <a:prstGeom prst="rect">
            <a:avLst/>
          </a:prstGeom>
          <a:noFill/>
        </p:spPr>
        <p:txBody>
          <a:bodyPr wrap="square">
            <a:spAutoFit/>
          </a:bodyPr>
          <a:lstStyle/>
          <a:p>
            <a:pPr algn="ctr">
              <a:defRPr sz="3600" b="1">
                <a:solidFill>
                  <a:srgbClr val="F39C12"/>
                </a:solidFill>
                <a:latin typeface="Calibri"/>
              </a:defRPr>
            </a:pPr>
            <a:r>
              <a:t>3.4L</a:t>
            </a:r>
          </a:p>
        </p:txBody>
      </p:sp>
      <p:sp>
        <p:nvSpPr>
          <p:cNvPr id="16" name="TextBox 15"/>
          <p:cNvSpPr txBox="1"/>
          <p:nvPr/>
        </p:nvSpPr>
        <p:spPr>
          <a:xfrm>
            <a:off x="9235440" y="4572000"/>
            <a:ext cx="2560320" cy="548640"/>
          </a:xfrm>
          <a:prstGeom prst="rect">
            <a:avLst/>
          </a:prstGeom>
          <a:noFill/>
        </p:spPr>
        <p:txBody>
          <a:bodyPr wrap="square">
            <a:spAutoFit/>
          </a:bodyPr>
          <a:lstStyle/>
          <a:p>
            <a:pPr algn="ctr">
              <a:defRPr sz="1400" b="0">
                <a:solidFill>
                  <a:srgbClr val="ECF0F1"/>
                </a:solidFill>
                <a:latin typeface="Calibri"/>
              </a:defRPr>
            </a:pPr>
            <a:r>
              <a:t>Buildings collapsed</a:t>
            </a:r>
          </a:p>
        </p:txBody>
      </p:sp>
      <p:sp>
        <p:nvSpPr>
          <p:cNvPr id="17" name="TextBox 16"/>
          <p:cNvSpPr txBox="1"/>
          <p:nvPr/>
        </p:nvSpPr>
        <p:spPr>
          <a:xfrm>
            <a:off x="6400800" y="1371600"/>
            <a:ext cx="5029200" cy="4572000"/>
          </a:xfrm>
          <a:prstGeom prst="rect">
            <a:avLst/>
          </a:prstGeom>
          <a:noFill/>
        </p:spPr>
        <p:txBody>
          <a:bodyPr wrap="square">
            <a:spAutoFit/>
          </a:bodyPr>
          <a:lstStyle/>
          <a:p>
            <a:pPr>
              <a:spcAft>
                <a:spcPts val="600"/>
              </a:spcAft>
              <a:defRPr sz="2000" b="1">
                <a:solidFill>
                  <a:srgbClr val="27AE60"/>
                </a:solidFill>
                <a:latin typeface="Calibri"/>
              </a:defRPr>
            </a:pPr>
            <a:r>
              <a:t>Key Architectural Lessons</a:t>
            </a:r>
          </a:p>
          <a:p>
            <a:pPr>
              <a:spcAft>
                <a:spcPts val="179"/>
              </a:spcAft>
              <a:defRPr sz="600" b="0">
                <a:solidFill>
                  <a:srgbClr val="FFFFFF"/>
                </a:solidFill>
                <a:latin typeface="Calibri"/>
              </a:defRPr>
            </a:pPr>
          </a:p>
          <a:p>
            <a:pPr>
              <a:spcAft>
                <a:spcPts val="390"/>
              </a:spcAft>
              <a:defRPr sz="1300" b="0">
                <a:solidFill>
                  <a:srgbClr val="ECF0F1"/>
                </a:solidFill>
                <a:latin typeface="Calibri"/>
              </a:defRPr>
            </a:pPr>
            <a:r>
              <a:t>Unreinforced masonry primary cause of collapse</a:t>
            </a:r>
          </a:p>
          <a:p>
            <a:pPr>
              <a:spcAft>
                <a:spcPts val="390"/>
              </a:spcAft>
              <a:defRPr sz="1300" b="0">
                <a:solidFill>
                  <a:srgbClr val="ECF0F1"/>
                </a:solidFill>
                <a:latin typeface="Calibri"/>
              </a:defRPr>
            </a:pPr>
            <a:r>
              <a:t>Poor construction quality amplified damage</a:t>
            </a:r>
          </a:p>
          <a:p>
            <a:pPr>
              <a:spcAft>
                <a:spcPts val="390"/>
              </a:spcAft>
              <a:defRPr sz="1300" b="0">
                <a:solidFill>
                  <a:srgbClr val="ECF0F1"/>
                </a:solidFill>
                <a:latin typeface="Calibri"/>
              </a:defRPr>
            </a:pPr>
            <a:r>
              <a:t>Lack of seismic zone compliance</a:t>
            </a:r>
          </a:p>
          <a:p>
            <a:pPr>
              <a:spcAft>
                <a:spcPts val="390"/>
              </a:spcAft>
              <a:defRPr sz="1300" b="0">
                <a:solidFill>
                  <a:srgbClr val="ECF0F1"/>
                </a:solidFill>
                <a:latin typeface="Calibri"/>
              </a:defRPr>
            </a:pPr>
            <a:r>
              <a:t>Post-disaster: Strengthened building codes</a:t>
            </a:r>
          </a:p>
          <a:p>
            <a:pPr>
              <a:spcAft>
                <a:spcPts val="390"/>
              </a:spcAft>
              <a:defRPr sz="1300" b="0">
                <a:solidFill>
                  <a:srgbClr val="ECF0F1"/>
                </a:solidFill>
                <a:latin typeface="Calibri"/>
              </a:defRPr>
            </a:pPr>
            <a:r>
              <a:t>Seismic retrofitting programs introduced</a:t>
            </a:r>
          </a:p>
          <a:p>
            <a:pPr>
              <a:spcAft>
                <a:spcPts val="390"/>
              </a:spcAft>
              <a:defRPr sz="1300" b="0">
                <a:solidFill>
                  <a:srgbClr val="ECF0F1"/>
                </a:solidFill>
                <a:latin typeface="Calibri"/>
              </a:defRPr>
            </a:pPr>
            <a:r>
              <a:t>Rural construction quality improvement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CASE STUDY: 2018 KERALA FLOODS</a:t>
            </a:r>
          </a:p>
        </p:txBody>
      </p:sp>
      <p:sp>
        <p:nvSpPr>
          <p:cNvPr id="4" name="TextBox 3"/>
          <p:cNvSpPr txBox="1"/>
          <p:nvPr/>
        </p:nvSpPr>
        <p:spPr>
          <a:xfrm>
            <a:off x="731520" y="1371600"/>
            <a:ext cx="5029200" cy="2286000"/>
          </a:xfrm>
          <a:prstGeom prst="rect">
            <a:avLst/>
          </a:prstGeom>
          <a:noFill/>
        </p:spPr>
        <p:txBody>
          <a:bodyPr wrap="square">
            <a:spAutoFit/>
          </a:bodyPr>
          <a:lstStyle/>
          <a:p>
            <a:pPr>
              <a:spcAft>
                <a:spcPts val="600"/>
              </a:spcAft>
              <a:defRPr sz="2000" b="1">
                <a:solidFill>
                  <a:srgbClr val="9B59B6"/>
                </a:solidFill>
                <a:latin typeface="Calibri"/>
              </a:defRPr>
            </a:pPr>
            <a:r>
              <a:t>Event Details</a:t>
            </a:r>
          </a:p>
          <a:p>
            <a:pPr>
              <a:spcAft>
                <a:spcPts val="179"/>
              </a:spcAft>
              <a:defRPr sz="600" b="0">
                <a:solidFill>
                  <a:srgbClr val="FFFFFF"/>
                </a:solidFill>
                <a:latin typeface="Calibri"/>
              </a:defRPr>
            </a:pPr>
          </a:p>
          <a:p>
            <a:pPr>
              <a:spcAft>
                <a:spcPts val="420"/>
              </a:spcAft>
              <a:defRPr sz="1400" b="0">
                <a:solidFill>
                  <a:srgbClr val="ECF0F1"/>
                </a:solidFill>
                <a:latin typeface="Calibri"/>
              </a:defRPr>
            </a:pPr>
            <a:r>
              <a:t>Worst flooding in Kerala in 100 years</a:t>
            </a:r>
          </a:p>
          <a:p>
            <a:pPr>
              <a:spcAft>
                <a:spcPts val="420"/>
              </a:spcAft>
              <a:defRPr sz="1400" b="0">
                <a:solidFill>
                  <a:srgbClr val="ECF0F1"/>
                </a:solidFill>
                <a:latin typeface="Calibri"/>
              </a:defRPr>
            </a:pPr>
            <a:r>
              <a:t>483 deaths, 1 million+ displaced</a:t>
            </a:r>
          </a:p>
          <a:p>
            <a:pPr>
              <a:spcAft>
                <a:spcPts val="420"/>
              </a:spcAft>
              <a:defRPr sz="1400" b="0">
                <a:solidFill>
                  <a:srgbClr val="ECF0F1"/>
                </a:solidFill>
                <a:latin typeface="Calibri"/>
              </a:defRPr>
            </a:pPr>
            <a:r>
              <a:t>22 of 39 districts affected</a:t>
            </a:r>
          </a:p>
          <a:p>
            <a:pPr>
              <a:spcAft>
                <a:spcPts val="420"/>
              </a:spcAft>
              <a:defRPr sz="1400" b="0">
                <a:solidFill>
                  <a:srgbClr val="ECF0F1"/>
                </a:solidFill>
                <a:latin typeface="Calibri"/>
              </a:defRPr>
            </a:pPr>
            <a:r>
              <a:t>Major dams opened simultaneously</a:t>
            </a:r>
          </a:p>
        </p:txBody>
      </p:sp>
      <p:sp>
        <p:nvSpPr>
          <p:cNvPr id="5" name="Rounded Rectangle 4"/>
          <p:cNvSpPr/>
          <p:nvPr/>
        </p:nvSpPr>
        <p:spPr>
          <a:xfrm>
            <a:off x="45720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840480"/>
            <a:ext cx="2560320" cy="731520"/>
          </a:xfrm>
          <a:prstGeom prst="rect">
            <a:avLst/>
          </a:prstGeom>
          <a:noFill/>
        </p:spPr>
        <p:txBody>
          <a:bodyPr wrap="square">
            <a:spAutoFit/>
          </a:bodyPr>
          <a:lstStyle/>
          <a:p>
            <a:pPr algn="ctr">
              <a:defRPr sz="3600" b="1">
                <a:solidFill>
                  <a:srgbClr val="E83E3E"/>
                </a:solidFill>
                <a:latin typeface="Calibri"/>
              </a:defRPr>
            </a:pPr>
            <a:r>
              <a:t>483</a:t>
            </a:r>
          </a:p>
        </p:txBody>
      </p:sp>
      <p:sp>
        <p:nvSpPr>
          <p:cNvPr id="7" name="TextBox 6"/>
          <p:cNvSpPr txBox="1"/>
          <p:nvPr/>
        </p:nvSpPr>
        <p:spPr>
          <a:xfrm>
            <a:off x="457200" y="4572000"/>
            <a:ext cx="2560320" cy="548640"/>
          </a:xfrm>
          <a:prstGeom prst="rect">
            <a:avLst/>
          </a:prstGeom>
          <a:noFill/>
        </p:spPr>
        <p:txBody>
          <a:bodyPr wrap="square">
            <a:spAutoFit/>
          </a:bodyPr>
          <a:lstStyle/>
          <a:p>
            <a:pPr algn="ctr">
              <a:defRPr sz="1400" b="0">
                <a:solidFill>
                  <a:srgbClr val="ECF0F1"/>
                </a:solidFill>
                <a:latin typeface="Calibri"/>
              </a:defRPr>
            </a:pPr>
            <a:r>
              <a:t>Deaths</a:t>
            </a:r>
          </a:p>
        </p:txBody>
      </p:sp>
      <p:sp>
        <p:nvSpPr>
          <p:cNvPr id="8" name="Rounded Rectangle 7"/>
          <p:cNvSpPr/>
          <p:nvPr/>
        </p:nvSpPr>
        <p:spPr>
          <a:xfrm>
            <a:off x="338328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3840480"/>
            <a:ext cx="2560320" cy="731520"/>
          </a:xfrm>
          <a:prstGeom prst="rect">
            <a:avLst/>
          </a:prstGeom>
          <a:noFill/>
        </p:spPr>
        <p:txBody>
          <a:bodyPr wrap="square">
            <a:spAutoFit/>
          </a:bodyPr>
          <a:lstStyle/>
          <a:p>
            <a:pPr algn="ctr">
              <a:defRPr sz="3600" b="1">
                <a:solidFill>
                  <a:srgbClr val="2E86AB"/>
                </a:solidFill>
                <a:latin typeface="Calibri"/>
              </a:defRPr>
            </a:pPr>
            <a:r>
              <a:t>10L+</a:t>
            </a:r>
          </a:p>
        </p:txBody>
      </p:sp>
      <p:sp>
        <p:nvSpPr>
          <p:cNvPr id="10" name="TextBox 9"/>
          <p:cNvSpPr txBox="1"/>
          <p:nvPr/>
        </p:nvSpPr>
        <p:spPr>
          <a:xfrm>
            <a:off x="3383280" y="4572000"/>
            <a:ext cx="2560320" cy="548640"/>
          </a:xfrm>
          <a:prstGeom prst="rect">
            <a:avLst/>
          </a:prstGeom>
          <a:noFill/>
        </p:spPr>
        <p:txBody>
          <a:bodyPr wrap="square">
            <a:spAutoFit/>
          </a:bodyPr>
          <a:lstStyle/>
          <a:p>
            <a:pPr algn="ctr">
              <a:defRPr sz="1400" b="0">
                <a:solidFill>
                  <a:srgbClr val="ECF0F1"/>
                </a:solidFill>
                <a:latin typeface="Calibri"/>
              </a:defRPr>
            </a:pPr>
            <a:r>
              <a:t>Displaced</a:t>
            </a:r>
          </a:p>
        </p:txBody>
      </p:sp>
      <p:sp>
        <p:nvSpPr>
          <p:cNvPr id="11" name="Rounded Rectangle 10"/>
          <p:cNvSpPr/>
          <p:nvPr/>
        </p:nvSpPr>
        <p:spPr>
          <a:xfrm>
            <a:off x="630936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840480"/>
            <a:ext cx="2560320" cy="731520"/>
          </a:xfrm>
          <a:prstGeom prst="rect">
            <a:avLst/>
          </a:prstGeom>
          <a:noFill/>
        </p:spPr>
        <p:txBody>
          <a:bodyPr wrap="square">
            <a:spAutoFit/>
          </a:bodyPr>
          <a:lstStyle/>
          <a:p>
            <a:pPr algn="ctr">
              <a:defRPr sz="3600" b="1">
                <a:solidFill>
                  <a:srgbClr val="27AE60"/>
                </a:solidFill>
                <a:latin typeface="Calibri"/>
              </a:defRPr>
            </a:pPr>
            <a:r>
              <a:t>$4.4B</a:t>
            </a:r>
          </a:p>
        </p:txBody>
      </p:sp>
      <p:sp>
        <p:nvSpPr>
          <p:cNvPr id="13" name="TextBox 12"/>
          <p:cNvSpPr txBox="1"/>
          <p:nvPr/>
        </p:nvSpPr>
        <p:spPr>
          <a:xfrm>
            <a:off x="6309360" y="4572000"/>
            <a:ext cx="2560320" cy="548640"/>
          </a:xfrm>
          <a:prstGeom prst="rect">
            <a:avLst/>
          </a:prstGeom>
          <a:noFill/>
        </p:spPr>
        <p:txBody>
          <a:bodyPr wrap="square">
            <a:spAutoFit/>
          </a:bodyPr>
          <a:lstStyle/>
          <a:p>
            <a:pPr algn="ctr">
              <a:defRPr sz="1400" b="0">
                <a:solidFill>
                  <a:srgbClr val="ECF0F1"/>
                </a:solidFill>
                <a:latin typeface="Calibri"/>
              </a:defRPr>
            </a:pPr>
            <a:r>
              <a:t>Damage</a:t>
            </a:r>
          </a:p>
        </p:txBody>
      </p:sp>
      <p:sp>
        <p:nvSpPr>
          <p:cNvPr id="14" name="Rounded Rectangle 13"/>
          <p:cNvSpPr/>
          <p:nvPr/>
        </p:nvSpPr>
        <p:spPr>
          <a:xfrm>
            <a:off x="923544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3840480"/>
            <a:ext cx="2560320" cy="731520"/>
          </a:xfrm>
          <a:prstGeom prst="rect">
            <a:avLst/>
          </a:prstGeom>
          <a:noFill/>
        </p:spPr>
        <p:txBody>
          <a:bodyPr wrap="square">
            <a:spAutoFit/>
          </a:bodyPr>
          <a:lstStyle/>
          <a:p>
            <a:pPr algn="ctr">
              <a:defRPr sz="3600" b="1">
                <a:solidFill>
                  <a:srgbClr val="F39C12"/>
                </a:solidFill>
                <a:latin typeface="Calibri"/>
              </a:defRPr>
            </a:pPr>
            <a:r>
              <a:t>33 dams</a:t>
            </a:r>
          </a:p>
        </p:txBody>
      </p:sp>
      <p:sp>
        <p:nvSpPr>
          <p:cNvPr id="16" name="TextBox 15"/>
          <p:cNvSpPr txBox="1"/>
          <p:nvPr/>
        </p:nvSpPr>
        <p:spPr>
          <a:xfrm>
            <a:off x="9235440" y="4572000"/>
            <a:ext cx="2560320" cy="548640"/>
          </a:xfrm>
          <a:prstGeom prst="rect">
            <a:avLst/>
          </a:prstGeom>
          <a:noFill/>
        </p:spPr>
        <p:txBody>
          <a:bodyPr wrap="square">
            <a:spAutoFit/>
          </a:bodyPr>
          <a:lstStyle/>
          <a:p>
            <a:pPr algn="ctr">
              <a:defRPr sz="1400" b="0">
                <a:solidFill>
                  <a:srgbClr val="ECF0F1"/>
                </a:solidFill>
                <a:latin typeface="Calibri"/>
              </a:defRPr>
            </a:pPr>
            <a:r>
              <a:t>Opened</a:t>
            </a:r>
          </a:p>
        </p:txBody>
      </p:sp>
      <p:sp>
        <p:nvSpPr>
          <p:cNvPr id="17" name="TextBox 16"/>
          <p:cNvSpPr txBox="1"/>
          <p:nvPr/>
        </p:nvSpPr>
        <p:spPr>
          <a:xfrm>
            <a:off x="6400800" y="1371600"/>
            <a:ext cx="5029200" cy="4572000"/>
          </a:xfrm>
          <a:prstGeom prst="rect">
            <a:avLst/>
          </a:prstGeom>
          <a:noFill/>
        </p:spPr>
        <p:txBody>
          <a:bodyPr wrap="square">
            <a:spAutoFit/>
          </a:bodyPr>
          <a:lstStyle/>
          <a:p>
            <a:pPr>
              <a:spcAft>
                <a:spcPts val="600"/>
              </a:spcAft>
              <a:defRPr sz="2000" b="1">
                <a:solidFill>
                  <a:srgbClr val="E83E3E"/>
                </a:solidFill>
                <a:latin typeface="Calibri"/>
              </a:defRPr>
            </a:pPr>
            <a:r>
              <a:t>Key Lessons</a:t>
            </a:r>
          </a:p>
          <a:p>
            <a:pPr>
              <a:spcAft>
                <a:spcPts val="179"/>
              </a:spcAft>
              <a:defRPr sz="600" b="0">
                <a:solidFill>
                  <a:srgbClr val="FFFFFF"/>
                </a:solidFill>
                <a:latin typeface="Calibri"/>
              </a:defRPr>
            </a:pPr>
          </a:p>
          <a:p>
            <a:pPr>
              <a:spcAft>
                <a:spcPts val="390"/>
              </a:spcAft>
              <a:defRPr sz="1300" b="0">
                <a:solidFill>
                  <a:srgbClr val="ECF0F1"/>
                </a:solidFill>
                <a:latin typeface="Calibri"/>
              </a:defRPr>
            </a:pPr>
            <a:r>
              <a:t>Sand mining from riverbeds increased flooding</a:t>
            </a:r>
          </a:p>
          <a:p>
            <a:pPr>
              <a:spcAft>
                <a:spcPts val="390"/>
              </a:spcAft>
              <a:defRPr sz="1300" b="0">
                <a:solidFill>
                  <a:srgbClr val="ECF0F1"/>
                </a:solidFill>
                <a:latin typeface="Calibri"/>
              </a:defRPr>
            </a:pPr>
            <a:r>
              <a:t>Encroachment on flood plains a major factor</a:t>
            </a:r>
          </a:p>
          <a:p>
            <a:pPr>
              <a:spcAft>
                <a:spcPts val="390"/>
              </a:spcAft>
              <a:defRPr sz="1300" b="0">
                <a:solidFill>
                  <a:srgbClr val="ECF0F1"/>
                </a:solidFill>
                <a:latin typeface="Calibri"/>
              </a:defRPr>
            </a:pPr>
            <a:r>
              <a:t>Community response was exemplary</a:t>
            </a:r>
          </a:p>
          <a:p>
            <a:pPr>
              <a:spcAft>
                <a:spcPts val="390"/>
              </a:spcAft>
              <a:defRPr sz="1300" b="0">
                <a:solidFill>
                  <a:srgbClr val="ECF0F1"/>
                </a:solidFill>
                <a:latin typeface="Calibri"/>
              </a:defRPr>
            </a:pPr>
            <a:r>
              <a:t>Need for dam water management protocols</a:t>
            </a:r>
          </a:p>
          <a:p>
            <a:pPr>
              <a:spcAft>
                <a:spcPts val="390"/>
              </a:spcAft>
              <a:defRPr sz="1300" b="0">
                <a:solidFill>
                  <a:srgbClr val="ECF0F1"/>
                </a:solidFill>
                <a:latin typeface="Calibri"/>
              </a:defRPr>
            </a:pPr>
            <a:r>
              <a:t>Urban planning must respect water bodies</a:t>
            </a:r>
          </a:p>
          <a:p>
            <a:pPr>
              <a:spcAft>
                <a:spcPts val="390"/>
              </a:spcAft>
              <a:defRPr sz="1300" b="0">
                <a:solidFill>
                  <a:srgbClr val="ECF0F1"/>
                </a:solidFill>
                <a:latin typeface="Calibri"/>
              </a:defRPr>
            </a:pPr>
            <a:r>
              <a:t>House-level flood resilience needed</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CASE STUDY: 2013 UTTARAKHAND FLOODS</a:t>
            </a:r>
          </a:p>
        </p:txBody>
      </p:sp>
      <p:sp>
        <p:nvSpPr>
          <p:cNvPr id="4" name="TextBox 3"/>
          <p:cNvSpPr txBox="1"/>
          <p:nvPr/>
        </p:nvSpPr>
        <p:spPr>
          <a:xfrm>
            <a:off x="731520" y="1371600"/>
            <a:ext cx="5029200" cy="2286000"/>
          </a:xfrm>
          <a:prstGeom prst="rect">
            <a:avLst/>
          </a:prstGeom>
          <a:noFill/>
        </p:spPr>
        <p:txBody>
          <a:bodyPr wrap="square">
            <a:spAutoFit/>
          </a:bodyPr>
          <a:lstStyle/>
          <a:p>
            <a:pPr>
              <a:spcAft>
                <a:spcPts val="600"/>
              </a:spcAft>
              <a:defRPr sz="2000" b="1">
                <a:solidFill>
                  <a:srgbClr val="27AE60"/>
                </a:solidFill>
                <a:latin typeface="Calibri"/>
              </a:defRPr>
            </a:pPr>
            <a:r>
              <a:t>Event Details</a:t>
            </a:r>
          </a:p>
          <a:p>
            <a:pPr>
              <a:spcAft>
                <a:spcPts val="179"/>
              </a:spcAft>
              <a:defRPr sz="600" b="0">
                <a:solidFill>
                  <a:srgbClr val="FFFFFF"/>
                </a:solidFill>
                <a:latin typeface="Calibri"/>
              </a:defRPr>
            </a:pPr>
          </a:p>
          <a:p>
            <a:pPr>
              <a:spcAft>
                <a:spcPts val="420"/>
              </a:spcAft>
              <a:defRPr sz="1400" b="0">
                <a:solidFill>
                  <a:srgbClr val="ECF0F1"/>
                </a:solidFill>
                <a:latin typeface="Calibri"/>
              </a:defRPr>
            </a:pPr>
            <a:r>
              <a:t>Caused by: Cloudburst + Glacial Lake Outburst</a:t>
            </a:r>
          </a:p>
          <a:p>
            <a:pPr>
              <a:spcAft>
                <a:spcPts val="420"/>
              </a:spcAft>
              <a:defRPr sz="1400" b="0">
                <a:solidFill>
                  <a:srgbClr val="ECF0F1"/>
                </a:solidFill>
                <a:latin typeface="Calibri"/>
              </a:defRPr>
            </a:pPr>
            <a:r>
              <a:t>5,700+ deaths (official)</a:t>
            </a:r>
          </a:p>
          <a:p>
            <a:pPr>
              <a:spcAft>
                <a:spcPts val="420"/>
              </a:spcAft>
              <a:defRPr sz="1400" b="0">
                <a:solidFill>
                  <a:srgbClr val="ECF0F1"/>
                </a:solidFill>
                <a:latin typeface="Calibri"/>
              </a:defRPr>
            </a:pPr>
            <a:r>
              <a:t>4,200 villages affected</a:t>
            </a:r>
          </a:p>
          <a:p>
            <a:pPr>
              <a:spcAft>
                <a:spcPts val="420"/>
              </a:spcAft>
              <a:defRPr sz="1400" b="0">
                <a:solidFill>
                  <a:srgbClr val="ECF0F1"/>
                </a:solidFill>
                <a:latin typeface="Calibri"/>
              </a:defRPr>
            </a:pPr>
            <a:r>
              <a:t>Massive infrastructure destruction</a:t>
            </a:r>
          </a:p>
        </p:txBody>
      </p:sp>
      <p:sp>
        <p:nvSpPr>
          <p:cNvPr id="5" name="Rounded Rectangle 4"/>
          <p:cNvSpPr/>
          <p:nvPr/>
        </p:nvSpPr>
        <p:spPr>
          <a:xfrm>
            <a:off x="45720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3840480"/>
            <a:ext cx="2560320" cy="731520"/>
          </a:xfrm>
          <a:prstGeom prst="rect">
            <a:avLst/>
          </a:prstGeom>
          <a:noFill/>
        </p:spPr>
        <p:txBody>
          <a:bodyPr wrap="square">
            <a:spAutoFit/>
          </a:bodyPr>
          <a:lstStyle/>
          <a:p>
            <a:pPr algn="ctr">
              <a:defRPr sz="3600" b="1">
                <a:solidFill>
                  <a:srgbClr val="E83E3E"/>
                </a:solidFill>
                <a:latin typeface="Calibri"/>
              </a:defRPr>
            </a:pPr>
            <a:r>
              <a:t>5,700+</a:t>
            </a:r>
          </a:p>
        </p:txBody>
      </p:sp>
      <p:sp>
        <p:nvSpPr>
          <p:cNvPr id="7" name="TextBox 6"/>
          <p:cNvSpPr txBox="1"/>
          <p:nvPr/>
        </p:nvSpPr>
        <p:spPr>
          <a:xfrm>
            <a:off x="457200" y="4572000"/>
            <a:ext cx="2560320" cy="548640"/>
          </a:xfrm>
          <a:prstGeom prst="rect">
            <a:avLst/>
          </a:prstGeom>
          <a:noFill/>
        </p:spPr>
        <p:txBody>
          <a:bodyPr wrap="square">
            <a:spAutoFit/>
          </a:bodyPr>
          <a:lstStyle/>
          <a:p>
            <a:pPr algn="ctr">
              <a:defRPr sz="1400" b="0">
                <a:solidFill>
                  <a:srgbClr val="ECF0F1"/>
                </a:solidFill>
                <a:latin typeface="Calibri"/>
              </a:defRPr>
            </a:pPr>
            <a:r>
              <a:t>Deaths</a:t>
            </a:r>
          </a:p>
        </p:txBody>
      </p:sp>
      <p:sp>
        <p:nvSpPr>
          <p:cNvPr id="8" name="Rounded Rectangle 7"/>
          <p:cNvSpPr/>
          <p:nvPr/>
        </p:nvSpPr>
        <p:spPr>
          <a:xfrm>
            <a:off x="338328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83280" y="3840480"/>
            <a:ext cx="2560320" cy="731520"/>
          </a:xfrm>
          <a:prstGeom prst="rect">
            <a:avLst/>
          </a:prstGeom>
          <a:noFill/>
        </p:spPr>
        <p:txBody>
          <a:bodyPr wrap="square">
            <a:spAutoFit/>
          </a:bodyPr>
          <a:lstStyle/>
          <a:p>
            <a:pPr algn="ctr">
              <a:defRPr sz="3600" b="1">
                <a:solidFill>
                  <a:srgbClr val="2E86AB"/>
                </a:solidFill>
                <a:latin typeface="Calibri"/>
              </a:defRPr>
            </a:pPr>
            <a:r>
              <a:t>4,200</a:t>
            </a:r>
          </a:p>
        </p:txBody>
      </p:sp>
      <p:sp>
        <p:nvSpPr>
          <p:cNvPr id="10" name="TextBox 9"/>
          <p:cNvSpPr txBox="1"/>
          <p:nvPr/>
        </p:nvSpPr>
        <p:spPr>
          <a:xfrm>
            <a:off x="3383280" y="4572000"/>
            <a:ext cx="2560320" cy="548640"/>
          </a:xfrm>
          <a:prstGeom prst="rect">
            <a:avLst/>
          </a:prstGeom>
          <a:noFill/>
        </p:spPr>
        <p:txBody>
          <a:bodyPr wrap="square">
            <a:spAutoFit/>
          </a:bodyPr>
          <a:lstStyle/>
          <a:p>
            <a:pPr algn="ctr">
              <a:defRPr sz="1400" b="0">
                <a:solidFill>
                  <a:srgbClr val="ECF0F1"/>
                </a:solidFill>
                <a:latin typeface="Calibri"/>
              </a:defRPr>
            </a:pPr>
            <a:r>
              <a:t>Villages</a:t>
            </a:r>
          </a:p>
        </p:txBody>
      </p:sp>
      <p:sp>
        <p:nvSpPr>
          <p:cNvPr id="11" name="Rounded Rectangle 10"/>
          <p:cNvSpPr/>
          <p:nvPr/>
        </p:nvSpPr>
        <p:spPr>
          <a:xfrm>
            <a:off x="630936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3840480"/>
            <a:ext cx="2560320" cy="731520"/>
          </a:xfrm>
          <a:prstGeom prst="rect">
            <a:avLst/>
          </a:prstGeom>
          <a:noFill/>
        </p:spPr>
        <p:txBody>
          <a:bodyPr wrap="square">
            <a:spAutoFit/>
          </a:bodyPr>
          <a:lstStyle/>
          <a:p>
            <a:pPr algn="ctr">
              <a:defRPr sz="3600" b="1">
                <a:solidFill>
                  <a:srgbClr val="27AE60"/>
                </a:solidFill>
                <a:latin typeface="Calibri"/>
              </a:defRPr>
            </a:pPr>
            <a:r>
              <a:t>~$2B</a:t>
            </a:r>
          </a:p>
        </p:txBody>
      </p:sp>
      <p:sp>
        <p:nvSpPr>
          <p:cNvPr id="13" name="TextBox 12"/>
          <p:cNvSpPr txBox="1"/>
          <p:nvPr/>
        </p:nvSpPr>
        <p:spPr>
          <a:xfrm>
            <a:off x="6309360" y="4572000"/>
            <a:ext cx="2560320" cy="548640"/>
          </a:xfrm>
          <a:prstGeom prst="rect">
            <a:avLst/>
          </a:prstGeom>
          <a:noFill/>
        </p:spPr>
        <p:txBody>
          <a:bodyPr wrap="square">
            <a:spAutoFit/>
          </a:bodyPr>
          <a:lstStyle/>
          <a:p>
            <a:pPr algn="ctr">
              <a:defRPr sz="1400" b="0">
                <a:solidFill>
                  <a:srgbClr val="ECF0F1"/>
                </a:solidFill>
                <a:latin typeface="Calibri"/>
              </a:defRPr>
            </a:pPr>
            <a:r>
              <a:t>Loss</a:t>
            </a:r>
          </a:p>
        </p:txBody>
      </p:sp>
      <p:sp>
        <p:nvSpPr>
          <p:cNvPr id="14" name="Rounded Rectangle 13"/>
          <p:cNvSpPr/>
          <p:nvPr/>
        </p:nvSpPr>
        <p:spPr>
          <a:xfrm>
            <a:off x="9235440" y="3657600"/>
            <a:ext cx="256032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3840480"/>
            <a:ext cx="2560320" cy="731520"/>
          </a:xfrm>
          <a:prstGeom prst="rect">
            <a:avLst/>
          </a:prstGeom>
          <a:noFill/>
        </p:spPr>
        <p:txBody>
          <a:bodyPr wrap="square">
            <a:spAutoFit/>
          </a:bodyPr>
          <a:lstStyle/>
          <a:p>
            <a:pPr algn="ctr">
              <a:defRPr sz="3600" b="1">
                <a:solidFill>
                  <a:srgbClr val="F39C12"/>
                </a:solidFill>
                <a:latin typeface="Calibri"/>
              </a:defRPr>
            </a:pPr>
            <a:r>
              <a:t>100K+</a:t>
            </a:r>
          </a:p>
        </p:txBody>
      </p:sp>
      <p:sp>
        <p:nvSpPr>
          <p:cNvPr id="16" name="TextBox 15"/>
          <p:cNvSpPr txBox="1"/>
          <p:nvPr/>
        </p:nvSpPr>
        <p:spPr>
          <a:xfrm>
            <a:off x="9235440" y="4572000"/>
            <a:ext cx="2560320" cy="548640"/>
          </a:xfrm>
          <a:prstGeom prst="rect">
            <a:avLst/>
          </a:prstGeom>
          <a:noFill/>
        </p:spPr>
        <p:txBody>
          <a:bodyPr wrap="square">
            <a:spAutoFit/>
          </a:bodyPr>
          <a:lstStyle/>
          <a:p>
            <a:pPr algn="ctr">
              <a:defRPr sz="1400" b="0">
                <a:solidFill>
                  <a:srgbClr val="ECF0F1"/>
                </a:solidFill>
                <a:latin typeface="Calibri"/>
              </a:defRPr>
            </a:pPr>
            <a:r>
              <a:t>Stranded</a:t>
            </a:r>
          </a:p>
        </p:txBody>
      </p:sp>
      <p:sp>
        <p:nvSpPr>
          <p:cNvPr id="17" name="TextBox 16"/>
          <p:cNvSpPr txBox="1"/>
          <p:nvPr/>
        </p:nvSpPr>
        <p:spPr>
          <a:xfrm>
            <a:off x="6400800" y="1371600"/>
            <a:ext cx="5029200" cy="4572000"/>
          </a:xfrm>
          <a:prstGeom prst="rect">
            <a:avLst/>
          </a:prstGeom>
          <a:noFill/>
        </p:spPr>
        <p:txBody>
          <a:bodyPr wrap="square">
            <a:spAutoFit/>
          </a:bodyPr>
          <a:lstStyle/>
          <a:p>
            <a:pPr>
              <a:spcAft>
                <a:spcPts val="600"/>
              </a:spcAft>
              <a:defRPr sz="2000" b="1">
                <a:solidFill>
                  <a:srgbClr val="F39C12"/>
                </a:solidFill>
                <a:latin typeface="Calibri"/>
              </a:defRPr>
            </a:pPr>
            <a:r>
              <a:t>Architectural Lessons</a:t>
            </a:r>
          </a:p>
          <a:p>
            <a:pPr>
              <a:spcAft>
                <a:spcPts val="179"/>
              </a:spcAft>
              <a:defRPr sz="600" b="0">
                <a:solidFill>
                  <a:srgbClr val="FFFFFF"/>
                </a:solidFill>
                <a:latin typeface="Calibri"/>
              </a:defRPr>
            </a:pPr>
          </a:p>
          <a:p>
            <a:pPr>
              <a:spcAft>
                <a:spcPts val="390"/>
              </a:spcAft>
              <a:defRPr sz="1300" b="0">
                <a:solidFill>
                  <a:srgbClr val="ECF0F1"/>
                </a:solidFill>
                <a:latin typeface="Calibri"/>
              </a:defRPr>
            </a:pPr>
            <a:r>
              <a:t>Unregulated construction on river banks</a:t>
            </a:r>
          </a:p>
          <a:p>
            <a:pPr>
              <a:spcAft>
                <a:spcPts val="390"/>
              </a:spcAft>
              <a:defRPr sz="1300" b="0">
                <a:solidFill>
                  <a:srgbClr val="ECF0F1"/>
                </a:solidFill>
                <a:latin typeface="Calibri"/>
              </a:defRPr>
            </a:pPr>
            <a:r>
              <a:t>Encroachment on natural flood paths</a:t>
            </a:r>
          </a:p>
          <a:p>
            <a:pPr>
              <a:spcAft>
                <a:spcPts val="390"/>
              </a:spcAft>
              <a:defRPr sz="1300" b="0">
                <a:solidFill>
                  <a:srgbClr val="ECF0F1"/>
                </a:solidFill>
                <a:latin typeface="Calibri"/>
              </a:defRPr>
            </a:pPr>
            <a:r>
              <a:t>Need for hill area building regulations</a:t>
            </a:r>
          </a:p>
          <a:p>
            <a:pPr>
              <a:spcAft>
                <a:spcPts val="390"/>
              </a:spcAft>
              <a:defRPr sz="1300" b="0">
                <a:solidFill>
                  <a:srgbClr val="ECF0F1"/>
                </a:solidFill>
                <a:latin typeface="Calibri"/>
              </a:defRPr>
            </a:pPr>
            <a:r>
              <a:t>Slope stability in design critical</a:t>
            </a:r>
          </a:p>
          <a:p>
            <a:pPr>
              <a:spcAft>
                <a:spcPts val="390"/>
              </a:spcAft>
              <a:defRPr sz="1300" b="0">
                <a:solidFill>
                  <a:srgbClr val="ECF0F1"/>
                </a:solidFill>
                <a:latin typeface="Calibri"/>
              </a:defRPr>
            </a:pPr>
            <a:r>
              <a:t>Climate-resilient infrastructure needed</a:t>
            </a:r>
          </a:p>
          <a:p>
            <a:pPr>
              <a:spcAft>
                <a:spcPts val="390"/>
              </a:spcAft>
              <a:defRPr sz="1300" b="0">
                <a:solidFill>
                  <a:srgbClr val="ECF0F1"/>
                </a:solidFill>
                <a:latin typeface="Calibri"/>
              </a:defRPr>
            </a:pPr>
            <a:r>
              <a:t>Traditional water systems ignored</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INTERNATIONAL FRAMEWORKS &amp; GUIDELINES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Sendai Framework 2015-2030</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Global agreement for DRR. 4 priorities.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India is signatory</a:t>
            </a:r>
          </a:p>
          <a:p>
            <a:pPr>
              <a:spcAft>
                <a:spcPts val="600"/>
              </a:spcAft>
              <a:defRPr sz="1100">
                <a:solidFill>
                  <a:srgbClr val="ECF0F1"/>
                </a:solidFill>
                <a:latin typeface="Calibri"/>
              </a:defRPr>
              <a:buChar char="●"/>
              <a:buClr>
                <a:srgbClr val="E83E3E"/>
              </a:buClr>
            </a:pPr>
            <a:r>
              <a:t>  7 targets, 4 priorities</a:t>
            </a:r>
          </a:p>
          <a:p>
            <a:pPr>
              <a:spcAft>
                <a:spcPts val="600"/>
              </a:spcAft>
              <a:defRPr sz="1100">
                <a:solidFill>
                  <a:srgbClr val="ECF0F1"/>
                </a:solidFill>
                <a:latin typeface="Calibri"/>
              </a:defRPr>
              <a:buChar char="●"/>
              <a:buClr>
                <a:srgbClr val="E83E3E"/>
              </a:buClr>
            </a:pPr>
            <a:r>
              <a:t>  Local level focus</a:t>
            </a:r>
          </a:p>
          <a:p>
            <a:pPr>
              <a:spcAft>
                <a:spcPts val="600"/>
              </a:spcAft>
              <a:defRPr sz="1100">
                <a:solidFill>
                  <a:srgbClr val="ECF0F1"/>
                </a:solidFill>
                <a:latin typeface="Calibri"/>
              </a:defRPr>
              <a:buChar char="●"/>
              <a:buClr>
                <a:srgbClr val="E83E3E"/>
              </a:buClr>
            </a:pPr>
            <a:r>
              <a:t>  UNDRR monitoring</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SDGs &amp; Disaster Risk</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SDGs integrate DRR. Goal 11 for sustainable cities.</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Goal 11: Sustainable Cities</a:t>
            </a:r>
          </a:p>
          <a:p>
            <a:pPr>
              <a:spcAft>
                <a:spcPts val="600"/>
              </a:spcAft>
              <a:defRPr sz="1100">
                <a:solidFill>
                  <a:srgbClr val="ECF0F1"/>
                </a:solidFill>
                <a:latin typeface="Calibri"/>
              </a:defRPr>
              <a:buChar char="●"/>
              <a:buClr>
                <a:srgbClr val="2E86AB"/>
              </a:buClr>
            </a:pPr>
            <a:r>
              <a:t>  Goal 13: Climate Action</a:t>
            </a:r>
          </a:p>
          <a:p>
            <a:pPr>
              <a:spcAft>
                <a:spcPts val="600"/>
              </a:spcAft>
              <a:defRPr sz="1100">
                <a:solidFill>
                  <a:srgbClr val="ECF0F1"/>
                </a:solidFill>
                <a:latin typeface="Calibri"/>
              </a:defRPr>
              <a:buChar char="●"/>
              <a:buClr>
                <a:srgbClr val="2E86AB"/>
              </a:buClr>
            </a:pPr>
            <a:r>
              <a:t>  Integration across goals</a:t>
            </a:r>
          </a:p>
          <a:p>
            <a:pPr>
              <a:spcAft>
                <a:spcPts val="600"/>
              </a:spcAft>
              <a:defRPr sz="1100">
                <a:solidFill>
                  <a:srgbClr val="ECF0F1"/>
                </a:solidFill>
                <a:latin typeface="Calibri"/>
              </a:defRPr>
              <a:buChar char="●"/>
              <a:buClr>
                <a:srgbClr val="2E86AB"/>
              </a:buClr>
            </a:pPr>
            <a:r>
              <a:t>  National reviews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NDMA Guidelines</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Comprehensive hazard-specific guidelines.</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National guidelines</a:t>
            </a:r>
          </a:p>
          <a:p>
            <a:pPr>
              <a:spcAft>
                <a:spcPts val="600"/>
              </a:spcAft>
              <a:defRPr sz="1100">
                <a:solidFill>
                  <a:srgbClr val="ECF0F1"/>
                </a:solidFill>
                <a:latin typeface="Calibri"/>
              </a:defRPr>
              <a:buChar char="●"/>
              <a:buClr>
                <a:srgbClr val="27AE60"/>
              </a:buClr>
            </a:pPr>
            <a:r>
              <a:t>  Sector-specific guidelines</a:t>
            </a:r>
          </a:p>
          <a:p>
            <a:pPr>
              <a:spcAft>
                <a:spcPts val="600"/>
              </a:spcAft>
              <a:defRPr sz="1100">
                <a:solidFill>
                  <a:srgbClr val="ECF0F1"/>
                </a:solidFill>
                <a:latin typeface="Calibri"/>
              </a:defRPr>
              <a:buChar char="●"/>
              <a:buClr>
                <a:srgbClr val="27AE60"/>
              </a:buClr>
            </a:pPr>
            <a:r>
              <a:t>  Minimum standards</a:t>
            </a:r>
          </a:p>
          <a:p>
            <a:pPr>
              <a:spcAft>
                <a:spcPts val="600"/>
              </a:spcAft>
              <a:defRPr sz="1100">
                <a:solidFill>
                  <a:srgbClr val="ECF0F1"/>
                </a:solidFill>
                <a:latin typeface="Calibri"/>
              </a:defRPr>
              <a:buChar char="●"/>
              <a:buClr>
                <a:srgbClr val="27AE60"/>
              </a:buClr>
            </a:pPr>
            <a:r>
              <a:t>  Capacity building</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Hyogo Framework 2005-2015</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Predecessor to Sendai. Influenced India's DM Act.</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5 priorities</a:t>
            </a:r>
          </a:p>
          <a:p>
            <a:pPr>
              <a:spcAft>
                <a:spcPts val="600"/>
              </a:spcAft>
              <a:defRPr sz="1100">
                <a:solidFill>
                  <a:srgbClr val="ECF0F1"/>
                </a:solidFill>
                <a:latin typeface="Calibri"/>
              </a:defRPr>
              <a:buChar char="●"/>
              <a:buClr>
                <a:srgbClr val="F39C12"/>
              </a:buClr>
            </a:pPr>
            <a:r>
              <a:t>  Built-in review</a:t>
            </a:r>
          </a:p>
          <a:p>
            <a:pPr>
              <a:spcAft>
                <a:spcPts val="600"/>
              </a:spcAft>
              <a:defRPr sz="1100">
                <a:solidFill>
                  <a:srgbClr val="ECF0F1"/>
                </a:solidFill>
                <a:latin typeface="Calibri"/>
              </a:defRPr>
              <a:buChar char="●"/>
              <a:buClr>
                <a:srgbClr val="F39C12"/>
              </a:buClr>
            </a:pPr>
            <a:r>
              <a:t>  Capacity building focus</a:t>
            </a:r>
          </a:p>
          <a:p>
            <a:pPr>
              <a:spcAft>
                <a:spcPts val="600"/>
              </a:spcAft>
              <a:defRPr sz="1100">
                <a:solidFill>
                  <a:srgbClr val="ECF0F1"/>
                </a:solidFill>
                <a:latin typeface="Calibri"/>
              </a:defRPr>
              <a:buChar char="●"/>
              <a:buClr>
                <a:srgbClr val="F39C12"/>
              </a:buClr>
            </a:pPr>
            <a:r>
              <a:t>  Compliance reporting</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CHALLENGES IN INDIAN DISASTER MANAGEMENT</a:t>
            </a:r>
          </a:p>
        </p:txBody>
      </p:sp>
      <p:sp>
        <p:nvSpPr>
          <p:cNvPr id="4" name="Rounded Rectangle 3"/>
          <p:cNvSpPr/>
          <p:nvPr/>
        </p:nvSpPr>
        <p:spPr>
          <a:xfrm>
            <a:off x="36576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365760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3291840" cy="365760"/>
          </a:xfrm>
          <a:prstGeom prst="rect">
            <a:avLst/>
          </a:prstGeom>
          <a:noFill/>
        </p:spPr>
        <p:txBody>
          <a:bodyPr wrap="square">
            <a:spAutoFit/>
          </a:bodyPr>
          <a:lstStyle/>
          <a:p>
            <a:pPr algn="ctr">
              <a:defRPr sz="1600" b="1">
                <a:solidFill>
                  <a:srgbClr val="FFFFFF"/>
                </a:solidFill>
                <a:latin typeface="Calibri"/>
              </a:defRPr>
            </a:pPr>
            <a:r>
              <a:t>Institutional Gaps</a:t>
            </a:r>
          </a:p>
        </p:txBody>
      </p:sp>
      <p:sp>
        <p:nvSpPr>
          <p:cNvPr id="7" name="TextBox 6"/>
          <p:cNvSpPr txBox="1"/>
          <p:nvPr/>
        </p:nvSpPr>
        <p:spPr>
          <a:xfrm>
            <a:off x="548640" y="1920240"/>
            <a:ext cx="3291840" cy="1828800"/>
          </a:xfrm>
          <a:prstGeom prst="rect">
            <a:avLst/>
          </a:prstGeom>
          <a:noFill/>
        </p:spPr>
        <p:txBody>
          <a:bodyPr wrap="square">
            <a:spAutoFit/>
          </a:bodyPr>
          <a:lstStyle/>
          <a:p>
            <a:pPr algn="l">
              <a:defRPr sz="1200" b="0">
                <a:solidFill>
                  <a:srgbClr val="ECF0F1"/>
                </a:solidFill>
                <a:latin typeface="Calibri"/>
              </a:defRPr>
            </a:pPr>
            <a:r>
              <a:t>Coordination between multiple agencies remains challenging.</a:t>
            </a:r>
          </a:p>
        </p:txBody>
      </p:sp>
      <p:sp>
        <p:nvSpPr>
          <p:cNvPr id="8" name="Rounded Rectangle 7"/>
          <p:cNvSpPr/>
          <p:nvPr/>
        </p:nvSpPr>
        <p:spPr>
          <a:xfrm>
            <a:off x="429768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297680" y="1371600"/>
            <a:ext cx="365760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444752"/>
            <a:ext cx="3291840" cy="365760"/>
          </a:xfrm>
          <a:prstGeom prst="rect">
            <a:avLst/>
          </a:prstGeom>
          <a:noFill/>
        </p:spPr>
        <p:txBody>
          <a:bodyPr wrap="square">
            <a:spAutoFit/>
          </a:bodyPr>
          <a:lstStyle/>
          <a:p>
            <a:pPr algn="ctr">
              <a:defRPr sz="1600" b="1">
                <a:solidFill>
                  <a:srgbClr val="FFFFFF"/>
                </a:solidFill>
                <a:latin typeface="Calibri"/>
              </a:defRPr>
            </a:pPr>
            <a:r>
              <a:t>Funding Constraints</a:t>
            </a:r>
          </a:p>
        </p:txBody>
      </p:sp>
      <p:sp>
        <p:nvSpPr>
          <p:cNvPr id="11" name="TextBox 10"/>
          <p:cNvSpPr txBox="1"/>
          <p:nvPr/>
        </p:nvSpPr>
        <p:spPr>
          <a:xfrm>
            <a:off x="4480560" y="1920240"/>
            <a:ext cx="3291840" cy="1828800"/>
          </a:xfrm>
          <a:prstGeom prst="rect">
            <a:avLst/>
          </a:prstGeom>
          <a:noFill/>
        </p:spPr>
        <p:txBody>
          <a:bodyPr wrap="square">
            <a:spAutoFit/>
          </a:bodyPr>
          <a:lstStyle/>
          <a:p>
            <a:pPr algn="l">
              <a:defRPr sz="1200" b="0">
                <a:solidFill>
                  <a:srgbClr val="ECF0F1"/>
                </a:solidFill>
                <a:latin typeface="Calibri"/>
              </a:defRPr>
            </a:pPr>
            <a:r>
              <a:t>Insufficient allocation. Most spent on response not preparedness.</a:t>
            </a:r>
          </a:p>
        </p:txBody>
      </p:sp>
      <p:sp>
        <p:nvSpPr>
          <p:cNvPr id="12" name="Rounded Rectangle 11"/>
          <p:cNvSpPr/>
          <p:nvPr/>
        </p:nvSpPr>
        <p:spPr>
          <a:xfrm>
            <a:off x="8229600" y="137160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1371600"/>
            <a:ext cx="365760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12480" y="1444752"/>
            <a:ext cx="3291840" cy="365760"/>
          </a:xfrm>
          <a:prstGeom prst="rect">
            <a:avLst/>
          </a:prstGeom>
          <a:noFill/>
        </p:spPr>
        <p:txBody>
          <a:bodyPr wrap="square">
            <a:spAutoFit/>
          </a:bodyPr>
          <a:lstStyle/>
          <a:p>
            <a:pPr algn="ctr">
              <a:defRPr sz="1600" b="1">
                <a:solidFill>
                  <a:srgbClr val="FFFFFF"/>
                </a:solidFill>
                <a:latin typeface="Calibri"/>
              </a:defRPr>
            </a:pPr>
            <a:r>
              <a:t>Urban Vulnerability</a:t>
            </a:r>
          </a:p>
        </p:txBody>
      </p:sp>
      <p:sp>
        <p:nvSpPr>
          <p:cNvPr id="15" name="TextBox 14"/>
          <p:cNvSpPr txBox="1"/>
          <p:nvPr/>
        </p:nvSpPr>
        <p:spPr>
          <a:xfrm>
            <a:off x="8412480" y="1920240"/>
            <a:ext cx="3291840" cy="1828800"/>
          </a:xfrm>
          <a:prstGeom prst="rect">
            <a:avLst/>
          </a:prstGeom>
          <a:noFill/>
        </p:spPr>
        <p:txBody>
          <a:bodyPr wrap="square">
            <a:spAutoFit/>
          </a:bodyPr>
          <a:lstStyle/>
          <a:p>
            <a:pPr algn="l">
              <a:defRPr sz="1200" b="0">
                <a:solidFill>
                  <a:srgbClr val="ECF0F1"/>
                </a:solidFill>
                <a:latin typeface="Calibri"/>
              </a:defRPr>
            </a:pPr>
            <a:r>
              <a:t>Rapid unplanned urbanization increases disaster risk.</a:t>
            </a:r>
          </a:p>
        </p:txBody>
      </p:sp>
      <p:sp>
        <p:nvSpPr>
          <p:cNvPr id="16" name="Rounded Rectangle 15"/>
          <p:cNvSpPr/>
          <p:nvPr/>
        </p:nvSpPr>
        <p:spPr>
          <a:xfrm>
            <a:off x="36576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4023360"/>
            <a:ext cx="365760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096512"/>
            <a:ext cx="3291840" cy="365760"/>
          </a:xfrm>
          <a:prstGeom prst="rect">
            <a:avLst/>
          </a:prstGeom>
          <a:noFill/>
        </p:spPr>
        <p:txBody>
          <a:bodyPr wrap="square">
            <a:spAutoFit/>
          </a:bodyPr>
          <a:lstStyle/>
          <a:p>
            <a:pPr algn="ctr">
              <a:defRPr sz="1600" b="1">
                <a:solidFill>
                  <a:srgbClr val="FFFFFF"/>
                </a:solidFill>
                <a:latin typeface="Calibri"/>
              </a:defRPr>
            </a:pPr>
            <a:r>
              <a:t>Awareness Deficit</a:t>
            </a:r>
          </a:p>
        </p:txBody>
      </p:sp>
      <p:sp>
        <p:nvSpPr>
          <p:cNvPr id="19" name="TextBox 18"/>
          <p:cNvSpPr txBox="1"/>
          <p:nvPr/>
        </p:nvSpPr>
        <p:spPr>
          <a:xfrm>
            <a:off x="548640" y="4572000"/>
            <a:ext cx="3291840" cy="1828800"/>
          </a:xfrm>
          <a:prstGeom prst="rect">
            <a:avLst/>
          </a:prstGeom>
          <a:noFill/>
        </p:spPr>
        <p:txBody>
          <a:bodyPr wrap="square">
            <a:spAutoFit/>
          </a:bodyPr>
          <a:lstStyle/>
          <a:p>
            <a:pPr algn="l">
              <a:defRPr sz="1200" b="0">
                <a:solidFill>
                  <a:srgbClr val="ECF0F1"/>
                </a:solidFill>
                <a:latin typeface="Calibri"/>
              </a:defRPr>
            </a:pPr>
            <a:r>
              <a:t>Low disaster awareness in communities.</a:t>
            </a:r>
          </a:p>
        </p:txBody>
      </p:sp>
      <p:sp>
        <p:nvSpPr>
          <p:cNvPr id="20" name="Rounded Rectangle 19"/>
          <p:cNvSpPr/>
          <p:nvPr/>
        </p:nvSpPr>
        <p:spPr>
          <a:xfrm>
            <a:off x="429768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297680" y="4023360"/>
            <a:ext cx="365760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80560" y="4096512"/>
            <a:ext cx="3291840" cy="365760"/>
          </a:xfrm>
          <a:prstGeom prst="rect">
            <a:avLst/>
          </a:prstGeom>
          <a:noFill/>
        </p:spPr>
        <p:txBody>
          <a:bodyPr wrap="square">
            <a:spAutoFit/>
          </a:bodyPr>
          <a:lstStyle/>
          <a:p>
            <a:pPr algn="ctr">
              <a:defRPr sz="1600" b="1">
                <a:solidFill>
                  <a:srgbClr val="FFFFFF"/>
                </a:solidFill>
                <a:latin typeface="Calibri"/>
              </a:defRPr>
            </a:pPr>
            <a:r>
              <a:t>Data Gaps</a:t>
            </a:r>
          </a:p>
        </p:txBody>
      </p:sp>
      <p:sp>
        <p:nvSpPr>
          <p:cNvPr id="23" name="TextBox 22"/>
          <p:cNvSpPr txBox="1"/>
          <p:nvPr/>
        </p:nvSpPr>
        <p:spPr>
          <a:xfrm>
            <a:off x="4480560" y="4572000"/>
            <a:ext cx="3291840" cy="1828800"/>
          </a:xfrm>
          <a:prstGeom prst="rect">
            <a:avLst/>
          </a:prstGeom>
          <a:noFill/>
        </p:spPr>
        <p:txBody>
          <a:bodyPr wrap="square">
            <a:spAutoFit/>
          </a:bodyPr>
          <a:lstStyle/>
          <a:p>
            <a:pPr algn="l">
              <a:defRPr sz="1200" b="0">
                <a:solidFill>
                  <a:srgbClr val="ECF0F1"/>
                </a:solidFill>
                <a:latin typeface="Calibri"/>
              </a:defRPr>
            </a:pPr>
            <a:r>
              <a:t>Lack of comprehensive, updated hazard data.</a:t>
            </a:r>
          </a:p>
        </p:txBody>
      </p:sp>
      <p:sp>
        <p:nvSpPr>
          <p:cNvPr id="24" name="Rounded Rectangle 23"/>
          <p:cNvSpPr/>
          <p:nvPr/>
        </p:nvSpPr>
        <p:spPr>
          <a:xfrm>
            <a:off x="8229600" y="4023360"/>
            <a:ext cx="365760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229600" y="4023360"/>
            <a:ext cx="365760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412480" y="4096512"/>
            <a:ext cx="3291840" cy="365760"/>
          </a:xfrm>
          <a:prstGeom prst="rect">
            <a:avLst/>
          </a:prstGeom>
          <a:noFill/>
        </p:spPr>
        <p:txBody>
          <a:bodyPr wrap="square">
            <a:spAutoFit/>
          </a:bodyPr>
          <a:lstStyle/>
          <a:p>
            <a:pPr algn="ctr">
              <a:defRPr sz="1600" b="1">
                <a:solidFill>
                  <a:srgbClr val="FFFFFF"/>
                </a:solidFill>
                <a:latin typeface="Calibri"/>
              </a:defRPr>
            </a:pPr>
            <a:r>
              <a:t>Climate Change</a:t>
            </a:r>
          </a:p>
        </p:txBody>
      </p:sp>
      <p:sp>
        <p:nvSpPr>
          <p:cNvPr id="27" name="TextBox 26"/>
          <p:cNvSpPr txBox="1"/>
          <p:nvPr/>
        </p:nvSpPr>
        <p:spPr>
          <a:xfrm>
            <a:off x="8412480" y="4572000"/>
            <a:ext cx="3291840" cy="1828800"/>
          </a:xfrm>
          <a:prstGeom prst="rect">
            <a:avLst/>
          </a:prstGeom>
          <a:noFill/>
        </p:spPr>
        <p:txBody>
          <a:bodyPr wrap="square">
            <a:spAutoFit/>
          </a:bodyPr>
          <a:lstStyle/>
          <a:p>
            <a:pPr algn="l">
              <a:defRPr sz="1200" b="0">
                <a:solidFill>
                  <a:srgbClr val="ECF0F1"/>
                </a:solidFill>
                <a:latin typeface="Calibri"/>
              </a:defRPr>
            </a:pPr>
            <a:r>
              <a:t>Increasing variability creating new risks.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BEST PRACTICES &amp; SUCCESS STORIES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Odisha Cyclone Preparedness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Deaths reduced from 10,000+ to &lt;100 through warnings &amp; shelters.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Robust early warning</a:t>
            </a:r>
          </a:p>
          <a:p>
            <a:pPr>
              <a:spcAft>
                <a:spcPts val="600"/>
              </a:spcAft>
              <a:defRPr sz="1100">
                <a:solidFill>
                  <a:srgbClr val="ECF0F1"/>
                </a:solidFill>
                <a:latin typeface="Calibri"/>
              </a:defRPr>
              <a:buChar char="●"/>
              <a:buClr>
                <a:srgbClr val="E83E3E"/>
              </a:buClr>
            </a:pPr>
            <a:r>
              <a:t>  Cyclone shelters built</a:t>
            </a:r>
          </a:p>
          <a:p>
            <a:pPr>
              <a:spcAft>
                <a:spcPts val="600"/>
              </a:spcAft>
              <a:defRPr sz="1100">
                <a:solidFill>
                  <a:srgbClr val="ECF0F1"/>
                </a:solidFill>
                <a:latin typeface="Calibri"/>
              </a:defRPr>
              <a:buChar char="●"/>
              <a:buClr>
                <a:srgbClr val="E83E3E"/>
              </a:buClr>
            </a:pPr>
            <a:r>
              <a:t>  Mass evacuation drills</a:t>
            </a:r>
          </a:p>
          <a:p>
            <a:pPr>
              <a:spcAft>
                <a:spcPts val="600"/>
              </a:spcAft>
              <a:defRPr sz="1100">
                <a:solidFill>
                  <a:srgbClr val="ECF0F1"/>
                </a:solidFill>
                <a:latin typeface="Calibri"/>
              </a:defRPr>
              <a:buChar char="●"/>
              <a:buClr>
                <a:srgbClr val="E83E3E"/>
              </a:buClr>
            </a:pPr>
            <a:r>
              <a:t>  Community participation</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Kerala Community Response 2018</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Fishing communities created exemplary response model.</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Fishing boats for rescue</a:t>
            </a:r>
          </a:p>
          <a:p>
            <a:pPr>
              <a:spcAft>
                <a:spcPts val="600"/>
              </a:spcAft>
              <a:defRPr sz="1100">
                <a:solidFill>
                  <a:srgbClr val="ECF0F1"/>
                </a:solidFill>
                <a:latin typeface="Calibri"/>
              </a:defRPr>
              <a:buChar char="●"/>
              <a:buClr>
                <a:srgbClr val="2E86AB"/>
              </a:buClr>
            </a:pPr>
            <a:r>
              <a:t>  Volunteer coordination</a:t>
            </a:r>
          </a:p>
          <a:p>
            <a:pPr>
              <a:spcAft>
                <a:spcPts val="600"/>
              </a:spcAft>
              <a:defRPr sz="1100">
                <a:solidFill>
                  <a:srgbClr val="ECF0F1"/>
                </a:solidFill>
                <a:latin typeface="Calibri"/>
              </a:defRPr>
              <a:buChar char="●"/>
              <a:buClr>
                <a:srgbClr val="2E86AB"/>
              </a:buClr>
            </a:pPr>
            <a:r>
              <a:t>  Social media mobilization</a:t>
            </a:r>
          </a:p>
          <a:p>
            <a:pPr>
              <a:spcAft>
                <a:spcPts val="600"/>
              </a:spcAft>
              <a:defRPr sz="1100">
                <a:solidFill>
                  <a:srgbClr val="ECF0F1"/>
                </a:solidFill>
                <a:latin typeface="Calibri"/>
              </a:defRPr>
              <a:buChar char="●"/>
              <a:buClr>
                <a:srgbClr val="2E86AB"/>
              </a:buClr>
            </a:pPr>
            <a:r>
              <a:t>  Local governance role</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Gujarat Reconstruction</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Post-2001 focus on seismic-resistant construction model.</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Building code enforcement</a:t>
            </a:r>
          </a:p>
          <a:p>
            <a:pPr>
              <a:spcAft>
                <a:spcPts val="600"/>
              </a:spcAft>
              <a:defRPr sz="1100">
                <a:solidFill>
                  <a:srgbClr val="ECF0F1"/>
                </a:solidFill>
                <a:latin typeface="Calibri"/>
              </a:defRPr>
              <a:buChar char="●"/>
              <a:buClr>
                <a:srgbClr val="27AE60"/>
              </a:buClr>
            </a:pPr>
            <a:r>
              <a:t>  Retrofitting programs</a:t>
            </a:r>
          </a:p>
          <a:p>
            <a:pPr>
              <a:spcAft>
                <a:spcPts val="600"/>
              </a:spcAft>
              <a:defRPr sz="1100">
                <a:solidFill>
                  <a:srgbClr val="ECF0F1"/>
                </a:solidFill>
                <a:latin typeface="Calibri"/>
              </a:defRPr>
              <a:buChar char="●"/>
              <a:buClr>
                <a:srgbClr val="27AE60"/>
              </a:buClr>
            </a:pPr>
            <a:r>
              <a:t>  Quality control systems</a:t>
            </a:r>
          </a:p>
          <a:p>
            <a:pPr>
              <a:spcAft>
                <a:spcPts val="600"/>
              </a:spcAft>
              <a:defRPr sz="1100">
                <a:solidFill>
                  <a:srgbClr val="ECF0F1"/>
                </a:solidFill>
                <a:latin typeface="Calibri"/>
              </a:defRPr>
              <a:buChar char="●"/>
              <a:buClr>
                <a:srgbClr val="27AE60"/>
              </a:buClr>
            </a:pPr>
            <a:r>
              <a:t>  Training programs</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NDRF Professionalization</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Specialized force with international training.</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International training</a:t>
            </a:r>
          </a:p>
          <a:p>
            <a:pPr>
              <a:spcAft>
                <a:spcPts val="600"/>
              </a:spcAft>
              <a:defRPr sz="1100">
                <a:solidFill>
                  <a:srgbClr val="ECF0F1"/>
                </a:solidFill>
                <a:latin typeface="Calibri"/>
              </a:defRPr>
              <a:buChar char="●"/>
              <a:buClr>
                <a:srgbClr val="F39C12"/>
              </a:buClr>
            </a:pPr>
            <a:r>
              <a:t>  Specialized equipment</a:t>
            </a:r>
          </a:p>
          <a:p>
            <a:pPr>
              <a:spcAft>
                <a:spcPts val="600"/>
              </a:spcAft>
              <a:defRPr sz="1100">
                <a:solidFill>
                  <a:srgbClr val="ECF0F1"/>
                </a:solidFill>
                <a:latin typeface="Calibri"/>
              </a:defRPr>
              <a:buChar char="●"/>
              <a:buClr>
                <a:srgbClr val="F39C12"/>
              </a:buClr>
            </a:pPr>
            <a:r>
              <a:t>  Rapid deployment</a:t>
            </a:r>
          </a:p>
          <a:p>
            <a:pPr>
              <a:spcAft>
                <a:spcPts val="600"/>
              </a:spcAft>
              <a:defRPr sz="1100">
                <a:solidFill>
                  <a:srgbClr val="ECF0F1"/>
                </a:solidFill>
                <a:latin typeface="Calibri"/>
              </a:defRPr>
              <a:buChar char="●"/>
              <a:buClr>
                <a:srgbClr val="F39C12"/>
              </a:buClr>
            </a:pPr>
            <a:r>
              <a:t>  Multi-hazard capability</a:t>
            </a:r>
          </a:p>
        </p:txBody>
      </p:sp>
      <p:sp>
        <p:nvSpPr>
          <p:cNvPr id="24" name="Rounded Rectangle 23"/>
          <p:cNvSpPr/>
          <p:nvPr/>
        </p:nvSpPr>
        <p:spPr>
          <a:xfrm>
            <a:off x="365760" y="667512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6675120"/>
            <a:ext cx="566928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748272"/>
            <a:ext cx="5303520" cy="365760"/>
          </a:xfrm>
          <a:prstGeom prst="rect">
            <a:avLst/>
          </a:prstGeom>
          <a:noFill/>
        </p:spPr>
        <p:txBody>
          <a:bodyPr wrap="square">
            <a:spAutoFit/>
          </a:bodyPr>
          <a:lstStyle/>
          <a:p>
            <a:pPr algn="l">
              <a:defRPr sz="1600" b="1">
                <a:solidFill>
                  <a:srgbClr val="FFFFFF"/>
                </a:solidFill>
                <a:latin typeface="Calibri"/>
              </a:defRPr>
            </a:pPr>
            <a:r>
              <a:t>Smart City DM Integration</a:t>
            </a:r>
          </a:p>
        </p:txBody>
      </p:sp>
      <p:sp>
        <p:nvSpPr>
          <p:cNvPr id="27" name="TextBox 26"/>
          <p:cNvSpPr txBox="1"/>
          <p:nvPr/>
        </p:nvSpPr>
        <p:spPr>
          <a:xfrm>
            <a:off x="548640" y="7178040"/>
            <a:ext cx="5303520" cy="548640"/>
          </a:xfrm>
          <a:prstGeom prst="rect">
            <a:avLst/>
          </a:prstGeom>
          <a:noFill/>
        </p:spPr>
        <p:txBody>
          <a:bodyPr wrap="square">
            <a:spAutoFit/>
          </a:bodyPr>
          <a:lstStyle/>
          <a:p>
            <a:pPr algn="l">
              <a:defRPr sz="1100" b="0">
                <a:solidFill>
                  <a:srgbClr val="ECF0F1"/>
                </a:solidFill>
                <a:latin typeface="Calibri"/>
              </a:defRPr>
            </a:pPr>
            <a:r>
              <a:t>Technology-driven disaster management in cities.</a:t>
            </a:r>
          </a:p>
        </p:txBody>
      </p:sp>
      <p:sp>
        <p:nvSpPr>
          <p:cNvPr id="28" name="TextBox 27"/>
          <p:cNvSpPr txBox="1"/>
          <p:nvPr/>
        </p:nvSpPr>
        <p:spPr>
          <a:xfrm>
            <a:off x="548640" y="777240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9B59B6"/>
              </a:buClr>
            </a:pPr>
            <a:r>
              <a:t>  IoT monitoring systems</a:t>
            </a:r>
          </a:p>
          <a:p>
            <a:pPr>
              <a:spcAft>
                <a:spcPts val="600"/>
              </a:spcAft>
              <a:defRPr sz="1100">
                <a:solidFill>
                  <a:srgbClr val="ECF0F1"/>
                </a:solidFill>
                <a:latin typeface="Calibri"/>
              </a:defRPr>
              <a:buChar char="●"/>
              <a:buClr>
                <a:srgbClr val="9B59B6"/>
              </a:buClr>
            </a:pPr>
            <a:r>
              <a:t>  Real-time dashboards</a:t>
            </a:r>
          </a:p>
          <a:p>
            <a:pPr>
              <a:spcAft>
                <a:spcPts val="600"/>
              </a:spcAft>
              <a:defRPr sz="1100">
                <a:solidFill>
                  <a:srgbClr val="ECF0F1"/>
                </a:solidFill>
                <a:latin typeface="Calibri"/>
              </a:defRPr>
              <a:buChar char="●"/>
              <a:buClr>
                <a:srgbClr val="9B59B6"/>
              </a:buClr>
            </a:pPr>
            <a:r>
              <a:t>  Citizen apps</a:t>
            </a:r>
          </a:p>
          <a:p>
            <a:pPr>
              <a:spcAft>
                <a:spcPts val="600"/>
              </a:spcAft>
              <a:defRPr sz="1100">
                <a:solidFill>
                  <a:srgbClr val="ECF0F1"/>
                </a:solidFill>
                <a:latin typeface="Calibri"/>
              </a:defRPr>
              <a:buChar char="●"/>
              <a:buClr>
                <a:srgbClr val="9B59B6"/>
              </a:buClr>
            </a:pPr>
            <a:r>
              <a:t>  Data-driven decisions</a:t>
            </a:r>
          </a:p>
        </p:txBody>
      </p:sp>
      <p:sp>
        <p:nvSpPr>
          <p:cNvPr id="29" name="Rounded Rectangle 28"/>
          <p:cNvSpPr/>
          <p:nvPr/>
        </p:nvSpPr>
        <p:spPr>
          <a:xfrm>
            <a:off x="6309360" y="667512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6675120"/>
            <a:ext cx="5669280" cy="457200"/>
          </a:xfrm>
          <a:prstGeom prst="rect">
            <a:avLst/>
          </a:prstGeom>
          <a:solidFill>
            <a:srgbClr val="1ABC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6748272"/>
            <a:ext cx="5303520" cy="365760"/>
          </a:xfrm>
          <a:prstGeom prst="rect">
            <a:avLst/>
          </a:prstGeom>
          <a:noFill/>
        </p:spPr>
        <p:txBody>
          <a:bodyPr wrap="square">
            <a:spAutoFit/>
          </a:bodyPr>
          <a:lstStyle/>
          <a:p>
            <a:pPr algn="l">
              <a:defRPr sz="1600" b="1">
                <a:solidFill>
                  <a:srgbClr val="FFFFFF"/>
                </a:solidFill>
                <a:latin typeface="Calibri"/>
              </a:defRPr>
            </a:pPr>
            <a:r>
              <a:t>Community DM Programs</a:t>
            </a:r>
          </a:p>
        </p:txBody>
      </p:sp>
      <p:sp>
        <p:nvSpPr>
          <p:cNvPr id="32" name="TextBox 31"/>
          <p:cNvSpPr txBox="1"/>
          <p:nvPr/>
        </p:nvSpPr>
        <p:spPr>
          <a:xfrm>
            <a:off x="6492240" y="7178040"/>
            <a:ext cx="5303520" cy="548640"/>
          </a:xfrm>
          <a:prstGeom prst="rect">
            <a:avLst/>
          </a:prstGeom>
          <a:noFill/>
        </p:spPr>
        <p:txBody>
          <a:bodyPr wrap="square">
            <a:spAutoFit/>
          </a:bodyPr>
          <a:lstStyle/>
          <a:p>
            <a:pPr algn="l">
              <a:defRPr sz="1100" b="0">
                <a:solidFill>
                  <a:srgbClr val="ECF0F1"/>
                </a:solidFill>
                <a:latin typeface="Calibri"/>
              </a:defRPr>
            </a:pPr>
            <a:r>
              <a:t>Village-level committees showing results.</a:t>
            </a:r>
          </a:p>
        </p:txBody>
      </p:sp>
      <p:sp>
        <p:nvSpPr>
          <p:cNvPr id="33" name="TextBox 32"/>
          <p:cNvSpPr txBox="1"/>
          <p:nvPr/>
        </p:nvSpPr>
        <p:spPr>
          <a:xfrm>
            <a:off x="6492240" y="777240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1ABC9C"/>
              </a:buClr>
            </a:pPr>
            <a:r>
              <a:t>  Local committees formed</a:t>
            </a:r>
          </a:p>
          <a:p>
            <a:pPr>
              <a:spcAft>
                <a:spcPts val="600"/>
              </a:spcAft>
              <a:defRPr sz="1100">
                <a:solidFill>
                  <a:srgbClr val="ECF0F1"/>
                </a:solidFill>
                <a:latin typeface="Calibri"/>
              </a:defRPr>
              <a:buChar char="●"/>
              <a:buClr>
                <a:srgbClr val="1ABC9C"/>
              </a:buClr>
            </a:pPr>
            <a:r>
              <a:t>  Volunteer training</a:t>
            </a:r>
          </a:p>
          <a:p>
            <a:pPr>
              <a:spcAft>
                <a:spcPts val="600"/>
              </a:spcAft>
              <a:defRPr sz="1100">
                <a:solidFill>
                  <a:srgbClr val="ECF0F1"/>
                </a:solidFill>
                <a:latin typeface="Calibri"/>
              </a:defRPr>
              <a:buChar char="●"/>
              <a:buClr>
                <a:srgbClr val="1ABC9C"/>
              </a:buClr>
            </a:pPr>
            <a:r>
              <a:t>  Resource mapping</a:t>
            </a:r>
          </a:p>
          <a:p>
            <a:pPr>
              <a:spcAft>
                <a:spcPts val="600"/>
              </a:spcAft>
              <a:defRPr sz="1100">
                <a:solidFill>
                  <a:srgbClr val="ECF0F1"/>
                </a:solidFill>
                <a:latin typeface="Calibri"/>
              </a:defRPr>
              <a:buChar char="●"/>
              <a:buClr>
                <a:srgbClr val="1ABC9C"/>
              </a:buClr>
            </a:pPr>
            <a:r>
              <a:t>  Mock drill programs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400" b="1">
                <a:solidFill>
                  <a:srgbClr val="FFFFFF"/>
                </a:solidFill>
                <a:latin typeface="Calibri"/>
              </a:defRPr>
            </a:pPr>
            <a:r>
              <a:t>FUTURE DIRECTIONS &amp; RECOMMENDATIONS</a:t>
            </a:r>
          </a:p>
        </p:txBody>
      </p:sp>
      <p:sp>
        <p:nvSpPr>
          <p:cNvPr id="4" name="Rounded Rectangle 3"/>
          <p:cNvSpPr/>
          <p:nvPr/>
        </p:nvSpPr>
        <p:spPr>
          <a:xfrm>
            <a:off x="3657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365760" y="137160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44752"/>
            <a:ext cx="5303520" cy="365760"/>
          </a:xfrm>
          <a:prstGeom prst="rect">
            <a:avLst/>
          </a:prstGeom>
          <a:noFill/>
        </p:spPr>
        <p:txBody>
          <a:bodyPr wrap="square">
            <a:spAutoFit/>
          </a:bodyPr>
          <a:lstStyle/>
          <a:p>
            <a:pPr algn="l">
              <a:defRPr sz="1600" b="1">
                <a:solidFill>
                  <a:srgbClr val="FFFFFF"/>
                </a:solidFill>
                <a:latin typeface="Calibri"/>
              </a:defRPr>
            </a:pPr>
            <a:r>
              <a:t>Strengthen Institutions</a:t>
            </a:r>
          </a:p>
        </p:txBody>
      </p:sp>
      <p:sp>
        <p:nvSpPr>
          <p:cNvPr id="7" name="TextBox 6"/>
          <p:cNvSpPr txBox="1"/>
          <p:nvPr/>
        </p:nvSpPr>
        <p:spPr>
          <a:xfrm>
            <a:off x="548640" y="1874520"/>
            <a:ext cx="5303520" cy="548640"/>
          </a:xfrm>
          <a:prstGeom prst="rect">
            <a:avLst/>
          </a:prstGeom>
          <a:noFill/>
        </p:spPr>
        <p:txBody>
          <a:bodyPr wrap="square">
            <a:spAutoFit/>
          </a:bodyPr>
          <a:lstStyle/>
          <a:p>
            <a:pPr algn="l">
              <a:defRPr sz="1100" b="0">
                <a:solidFill>
                  <a:srgbClr val="ECF0F1"/>
                </a:solidFill>
                <a:latin typeface="Calibri"/>
              </a:defRPr>
            </a:pPr>
            <a:r>
              <a:t>Enhance coordination, funding, capacity at state/district levels.</a:t>
            </a:r>
          </a:p>
        </p:txBody>
      </p:sp>
      <p:sp>
        <p:nvSpPr>
          <p:cNvPr id="8" name="TextBox 7"/>
          <p:cNvSpPr txBox="1"/>
          <p:nvPr/>
        </p:nvSpPr>
        <p:spPr>
          <a:xfrm>
            <a:off x="5486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83E3E"/>
              </a:buClr>
            </a:pPr>
            <a:r>
              <a:t>  Multi-agency coordination</a:t>
            </a:r>
          </a:p>
          <a:p>
            <a:pPr>
              <a:spcAft>
                <a:spcPts val="600"/>
              </a:spcAft>
              <a:defRPr sz="1100">
                <a:solidFill>
                  <a:srgbClr val="ECF0F1"/>
                </a:solidFill>
                <a:latin typeface="Calibri"/>
              </a:defRPr>
              <a:buChar char="●"/>
              <a:buClr>
                <a:srgbClr val="E83E3E"/>
              </a:buClr>
            </a:pPr>
            <a:r>
              <a:t>  Adequate funding</a:t>
            </a:r>
          </a:p>
          <a:p>
            <a:pPr>
              <a:spcAft>
                <a:spcPts val="600"/>
              </a:spcAft>
              <a:defRPr sz="1100">
                <a:solidFill>
                  <a:srgbClr val="ECF0F1"/>
                </a:solidFill>
                <a:latin typeface="Calibri"/>
              </a:defRPr>
              <a:buChar char="●"/>
              <a:buClr>
                <a:srgbClr val="E83E3E"/>
              </a:buClr>
            </a:pPr>
            <a:r>
              <a:t>  Capacity building</a:t>
            </a:r>
          </a:p>
          <a:p>
            <a:pPr>
              <a:spcAft>
                <a:spcPts val="600"/>
              </a:spcAft>
              <a:defRPr sz="1100">
                <a:solidFill>
                  <a:srgbClr val="ECF0F1"/>
                </a:solidFill>
                <a:latin typeface="Calibri"/>
              </a:defRPr>
              <a:buChar char="●"/>
              <a:buClr>
                <a:srgbClr val="E83E3E"/>
              </a:buClr>
            </a:pPr>
            <a:r>
              <a:t>  Accountability mechanisms</a:t>
            </a:r>
          </a:p>
        </p:txBody>
      </p:sp>
      <p:sp>
        <p:nvSpPr>
          <p:cNvPr id="9" name="Rounded Rectangle 8"/>
          <p:cNvSpPr/>
          <p:nvPr/>
        </p:nvSpPr>
        <p:spPr>
          <a:xfrm>
            <a:off x="6309360" y="137160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137160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1444752"/>
            <a:ext cx="5303520" cy="365760"/>
          </a:xfrm>
          <a:prstGeom prst="rect">
            <a:avLst/>
          </a:prstGeom>
          <a:noFill/>
        </p:spPr>
        <p:txBody>
          <a:bodyPr wrap="square">
            <a:spAutoFit/>
          </a:bodyPr>
          <a:lstStyle/>
          <a:p>
            <a:pPr algn="l">
              <a:defRPr sz="1600" b="1">
                <a:solidFill>
                  <a:srgbClr val="FFFFFF"/>
                </a:solidFill>
                <a:latin typeface="Calibri"/>
              </a:defRPr>
            </a:pPr>
            <a:r>
              <a:t>Technology Integration</a:t>
            </a:r>
          </a:p>
        </p:txBody>
      </p:sp>
      <p:sp>
        <p:nvSpPr>
          <p:cNvPr id="12" name="TextBox 11"/>
          <p:cNvSpPr txBox="1"/>
          <p:nvPr/>
        </p:nvSpPr>
        <p:spPr>
          <a:xfrm>
            <a:off x="6492240" y="1874520"/>
            <a:ext cx="5303520" cy="548640"/>
          </a:xfrm>
          <a:prstGeom prst="rect">
            <a:avLst/>
          </a:prstGeom>
          <a:noFill/>
        </p:spPr>
        <p:txBody>
          <a:bodyPr wrap="square">
            <a:spAutoFit/>
          </a:bodyPr>
          <a:lstStyle/>
          <a:p>
            <a:pPr algn="l">
              <a:defRPr sz="1100" b="0">
                <a:solidFill>
                  <a:srgbClr val="ECF0F1"/>
                </a:solidFill>
                <a:latin typeface="Calibri"/>
              </a:defRPr>
            </a:pPr>
            <a:r>
              <a:t>Leverage AI, IoT, drones for early warning &amp; response.</a:t>
            </a:r>
          </a:p>
        </p:txBody>
      </p:sp>
      <p:sp>
        <p:nvSpPr>
          <p:cNvPr id="13" name="TextBox 12"/>
          <p:cNvSpPr txBox="1"/>
          <p:nvPr/>
        </p:nvSpPr>
        <p:spPr>
          <a:xfrm>
            <a:off x="6492240" y="246888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E86AB"/>
              </a:buClr>
            </a:pPr>
            <a:r>
              <a:t>  AI prediction models</a:t>
            </a:r>
          </a:p>
          <a:p>
            <a:pPr>
              <a:spcAft>
                <a:spcPts val="600"/>
              </a:spcAft>
              <a:defRPr sz="1100">
                <a:solidFill>
                  <a:srgbClr val="ECF0F1"/>
                </a:solidFill>
                <a:latin typeface="Calibri"/>
              </a:defRPr>
              <a:buChar char="●"/>
              <a:buClr>
                <a:srgbClr val="2E86AB"/>
              </a:buClr>
            </a:pPr>
            <a:r>
              <a:t>  IoT sensor networks</a:t>
            </a:r>
          </a:p>
          <a:p>
            <a:pPr>
              <a:spcAft>
                <a:spcPts val="600"/>
              </a:spcAft>
              <a:defRPr sz="1100">
                <a:solidFill>
                  <a:srgbClr val="ECF0F1"/>
                </a:solidFill>
                <a:latin typeface="Calibri"/>
              </a:defRPr>
              <a:buChar char="●"/>
              <a:buClr>
                <a:srgbClr val="2E86AB"/>
              </a:buClr>
            </a:pPr>
            <a:r>
              <a:t>  Drone surveillance</a:t>
            </a:r>
          </a:p>
          <a:p>
            <a:pPr>
              <a:spcAft>
                <a:spcPts val="600"/>
              </a:spcAft>
              <a:defRPr sz="1100">
                <a:solidFill>
                  <a:srgbClr val="ECF0F1"/>
                </a:solidFill>
                <a:latin typeface="Calibri"/>
              </a:defRPr>
              <a:buChar char="●"/>
              <a:buClr>
                <a:srgbClr val="2E86AB"/>
              </a:buClr>
            </a:pPr>
            <a:r>
              <a:t>  Data analytics platforms</a:t>
            </a:r>
          </a:p>
        </p:txBody>
      </p:sp>
      <p:sp>
        <p:nvSpPr>
          <p:cNvPr id="14" name="Rounded Rectangle 13"/>
          <p:cNvSpPr/>
          <p:nvPr/>
        </p:nvSpPr>
        <p:spPr>
          <a:xfrm>
            <a:off x="3657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096512"/>
            <a:ext cx="5303520" cy="365760"/>
          </a:xfrm>
          <a:prstGeom prst="rect">
            <a:avLst/>
          </a:prstGeom>
          <a:noFill/>
        </p:spPr>
        <p:txBody>
          <a:bodyPr wrap="square">
            <a:spAutoFit/>
          </a:bodyPr>
          <a:lstStyle/>
          <a:p>
            <a:pPr algn="l">
              <a:defRPr sz="1600" b="1">
                <a:solidFill>
                  <a:srgbClr val="FFFFFF"/>
                </a:solidFill>
                <a:latin typeface="Calibri"/>
              </a:defRPr>
            </a:pPr>
            <a:r>
              <a:t>Community-Centric Approach</a:t>
            </a:r>
          </a:p>
        </p:txBody>
      </p:sp>
      <p:sp>
        <p:nvSpPr>
          <p:cNvPr id="17" name="TextBox 16"/>
          <p:cNvSpPr txBox="1"/>
          <p:nvPr/>
        </p:nvSpPr>
        <p:spPr>
          <a:xfrm>
            <a:off x="548640" y="4526280"/>
            <a:ext cx="5303520" cy="548640"/>
          </a:xfrm>
          <a:prstGeom prst="rect">
            <a:avLst/>
          </a:prstGeom>
          <a:noFill/>
        </p:spPr>
        <p:txBody>
          <a:bodyPr wrap="square">
            <a:spAutoFit/>
          </a:bodyPr>
          <a:lstStyle/>
          <a:p>
            <a:pPr algn="l">
              <a:defRPr sz="1100" b="0">
                <a:solidFill>
                  <a:srgbClr val="ECF0F1"/>
                </a:solidFill>
                <a:latin typeface="Calibri"/>
              </a:defRPr>
            </a:pPr>
            <a:r>
              <a:t>Involve communities in planning, preparedness, response.</a:t>
            </a:r>
          </a:p>
        </p:txBody>
      </p:sp>
      <p:sp>
        <p:nvSpPr>
          <p:cNvPr id="18" name="TextBox 17"/>
          <p:cNvSpPr txBox="1"/>
          <p:nvPr/>
        </p:nvSpPr>
        <p:spPr>
          <a:xfrm>
            <a:off x="5486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27AE60"/>
              </a:buClr>
            </a:pPr>
            <a:r>
              <a:t>  Participatory planning</a:t>
            </a:r>
          </a:p>
          <a:p>
            <a:pPr>
              <a:spcAft>
                <a:spcPts val="600"/>
              </a:spcAft>
              <a:defRPr sz="1100">
                <a:solidFill>
                  <a:srgbClr val="ECF0F1"/>
                </a:solidFill>
                <a:latin typeface="Calibri"/>
              </a:defRPr>
              <a:buChar char="●"/>
              <a:buClr>
                <a:srgbClr val="27AE60"/>
              </a:buClr>
            </a:pPr>
            <a:r>
              <a:t>  Local volunteer networks</a:t>
            </a:r>
          </a:p>
          <a:p>
            <a:pPr>
              <a:spcAft>
                <a:spcPts val="600"/>
              </a:spcAft>
              <a:defRPr sz="1100">
                <a:solidFill>
                  <a:srgbClr val="ECF0F1"/>
                </a:solidFill>
                <a:latin typeface="Calibri"/>
              </a:defRPr>
              <a:buChar char="●"/>
              <a:buClr>
                <a:srgbClr val="27AE60"/>
              </a:buClr>
            </a:pPr>
            <a:r>
              <a:t>  Community drills</a:t>
            </a:r>
          </a:p>
          <a:p>
            <a:pPr>
              <a:spcAft>
                <a:spcPts val="600"/>
              </a:spcAft>
              <a:defRPr sz="1100">
                <a:solidFill>
                  <a:srgbClr val="ECF0F1"/>
                </a:solidFill>
                <a:latin typeface="Calibri"/>
              </a:defRPr>
              <a:buChar char="●"/>
              <a:buClr>
                <a:srgbClr val="27AE60"/>
              </a:buClr>
            </a:pPr>
            <a:r>
              <a:t>  Traditional knowledge</a:t>
            </a:r>
          </a:p>
        </p:txBody>
      </p:sp>
      <p:sp>
        <p:nvSpPr>
          <p:cNvPr id="19" name="Rounded Rectangle 18"/>
          <p:cNvSpPr/>
          <p:nvPr/>
        </p:nvSpPr>
        <p:spPr>
          <a:xfrm>
            <a:off x="6309360" y="402336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309360" y="402336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4096512"/>
            <a:ext cx="5303520" cy="365760"/>
          </a:xfrm>
          <a:prstGeom prst="rect">
            <a:avLst/>
          </a:prstGeom>
          <a:noFill/>
        </p:spPr>
        <p:txBody>
          <a:bodyPr wrap="square">
            <a:spAutoFit/>
          </a:bodyPr>
          <a:lstStyle/>
          <a:p>
            <a:pPr algn="l">
              <a:defRPr sz="1600" b="1">
                <a:solidFill>
                  <a:srgbClr val="FFFFFF"/>
                </a:solidFill>
                <a:latin typeface="Calibri"/>
              </a:defRPr>
            </a:pPr>
            <a:r>
              <a:t>Climate Adaptation</a:t>
            </a:r>
          </a:p>
        </p:txBody>
      </p:sp>
      <p:sp>
        <p:nvSpPr>
          <p:cNvPr id="22" name="TextBox 21"/>
          <p:cNvSpPr txBox="1"/>
          <p:nvPr/>
        </p:nvSpPr>
        <p:spPr>
          <a:xfrm>
            <a:off x="6492240" y="4526280"/>
            <a:ext cx="5303520" cy="548640"/>
          </a:xfrm>
          <a:prstGeom prst="rect">
            <a:avLst/>
          </a:prstGeom>
          <a:noFill/>
        </p:spPr>
        <p:txBody>
          <a:bodyPr wrap="square">
            <a:spAutoFit/>
          </a:bodyPr>
          <a:lstStyle/>
          <a:p>
            <a:pPr algn="l">
              <a:defRPr sz="1100" b="0">
                <a:solidFill>
                  <a:srgbClr val="ECF0F1"/>
                </a:solidFill>
                <a:latin typeface="Calibri"/>
              </a:defRPr>
            </a:pPr>
            <a:r>
              <a:t>Integrate DRR with climate change adaptation strategies.</a:t>
            </a:r>
          </a:p>
        </p:txBody>
      </p:sp>
      <p:sp>
        <p:nvSpPr>
          <p:cNvPr id="23" name="TextBox 22"/>
          <p:cNvSpPr txBox="1"/>
          <p:nvPr/>
        </p:nvSpPr>
        <p:spPr>
          <a:xfrm>
            <a:off x="6492240" y="512064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F39C12"/>
              </a:buClr>
            </a:pPr>
            <a:r>
              <a:t>  Climate-resilient infrastructure</a:t>
            </a:r>
          </a:p>
          <a:p>
            <a:pPr>
              <a:spcAft>
                <a:spcPts val="600"/>
              </a:spcAft>
              <a:defRPr sz="1100">
                <a:solidFill>
                  <a:srgbClr val="ECF0F1"/>
                </a:solidFill>
                <a:latin typeface="Calibri"/>
              </a:defRPr>
              <a:buChar char="●"/>
              <a:buClr>
                <a:srgbClr val="F39C12"/>
              </a:buClr>
            </a:pPr>
            <a:r>
              <a:t>  Nature-based solutions</a:t>
            </a:r>
          </a:p>
          <a:p>
            <a:pPr>
              <a:spcAft>
                <a:spcPts val="600"/>
              </a:spcAft>
              <a:defRPr sz="1100">
                <a:solidFill>
                  <a:srgbClr val="ECF0F1"/>
                </a:solidFill>
                <a:latin typeface="Calibri"/>
              </a:defRPr>
              <a:buChar char="●"/>
              <a:buClr>
                <a:srgbClr val="F39C12"/>
              </a:buClr>
            </a:pPr>
            <a:r>
              <a:t>  Adaptive management</a:t>
            </a:r>
          </a:p>
          <a:p>
            <a:pPr>
              <a:spcAft>
                <a:spcPts val="600"/>
              </a:spcAft>
              <a:defRPr sz="1100">
                <a:solidFill>
                  <a:srgbClr val="ECF0F1"/>
                </a:solidFill>
                <a:latin typeface="Calibri"/>
              </a:defRPr>
              <a:buChar char="●"/>
              <a:buClr>
                <a:srgbClr val="F39C12"/>
              </a:buClr>
            </a:pPr>
            <a:r>
              <a:t>  Risk assessment updates</a:t>
            </a:r>
          </a:p>
        </p:txBody>
      </p:sp>
      <p:sp>
        <p:nvSpPr>
          <p:cNvPr id="24" name="Rounded Rectangle 23"/>
          <p:cNvSpPr/>
          <p:nvPr/>
        </p:nvSpPr>
        <p:spPr>
          <a:xfrm>
            <a:off x="365760" y="667512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6675120"/>
            <a:ext cx="5669280" cy="457200"/>
          </a:xfrm>
          <a:prstGeom prst="rect">
            <a:avLst/>
          </a:prstGeom>
          <a:solidFill>
            <a:srgbClr val="9B59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48640" y="6748272"/>
            <a:ext cx="5303520" cy="365760"/>
          </a:xfrm>
          <a:prstGeom prst="rect">
            <a:avLst/>
          </a:prstGeom>
          <a:noFill/>
        </p:spPr>
        <p:txBody>
          <a:bodyPr wrap="square">
            <a:spAutoFit/>
          </a:bodyPr>
          <a:lstStyle/>
          <a:p>
            <a:pPr algn="l">
              <a:defRPr sz="1600" b="1">
                <a:solidFill>
                  <a:srgbClr val="FFFFFF"/>
                </a:solidFill>
                <a:latin typeface="Calibri"/>
              </a:defRPr>
            </a:pPr>
            <a:r>
              <a:t>Urban Resilience</a:t>
            </a:r>
          </a:p>
        </p:txBody>
      </p:sp>
      <p:sp>
        <p:nvSpPr>
          <p:cNvPr id="27" name="TextBox 26"/>
          <p:cNvSpPr txBox="1"/>
          <p:nvPr/>
        </p:nvSpPr>
        <p:spPr>
          <a:xfrm>
            <a:off x="548640" y="7178040"/>
            <a:ext cx="5303520" cy="548640"/>
          </a:xfrm>
          <a:prstGeom prst="rect">
            <a:avLst/>
          </a:prstGeom>
          <a:noFill/>
        </p:spPr>
        <p:txBody>
          <a:bodyPr wrap="square">
            <a:spAutoFit/>
          </a:bodyPr>
          <a:lstStyle/>
          <a:p>
            <a:pPr algn="l">
              <a:defRPr sz="1100" b="0">
                <a:solidFill>
                  <a:srgbClr val="ECF0F1"/>
                </a:solidFill>
                <a:latin typeface="Calibri"/>
              </a:defRPr>
            </a:pPr>
            <a:r>
              <a:t>Comprehensive urban DM plans in governance.</a:t>
            </a:r>
          </a:p>
        </p:txBody>
      </p:sp>
      <p:sp>
        <p:nvSpPr>
          <p:cNvPr id="28" name="TextBox 27"/>
          <p:cNvSpPr txBox="1"/>
          <p:nvPr/>
        </p:nvSpPr>
        <p:spPr>
          <a:xfrm>
            <a:off x="548640" y="777240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9B59B6"/>
              </a:buClr>
            </a:pPr>
            <a:r>
              <a:t>  City-level DM plans</a:t>
            </a:r>
          </a:p>
          <a:p>
            <a:pPr>
              <a:spcAft>
                <a:spcPts val="600"/>
              </a:spcAft>
              <a:defRPr sz="1100">
                <a:solidFill>
                  <a:srgbClr val="ECF0F1"/>
                </a:solidFill>
                <a:latin typeface="Calibri"/>
              </a:defRPr>
              <a:buChar char="●"/>
              <a:buClr>
                <a:srgbClr val="9B59B6"/>
              </a:buClr>
            </a:pPr>
            <a:r>
              <a:t>  Building code enforcement</a:t>
            </a:r>
          </a:p>
          <a:p>
            <a:pPr>
              <a:spcAft>
                <a:spcPts val="600"/>
              </a:spcAft>
              <a:defRPr sz="1100">
                <a:solidFill>
                  <a:srgbClr val="ECF0F1"/>
                </a:solidFill>
                <a:latin typeface="Calibri"/>
              </a:defRPr>
              <a:buChar char="●"/>
              <a:buClr>
                <a:srgbClr val="9B59B6"/>
              </a:buClr>
            </a:pPr>
            <a:r>
              <a:t>  Green infrastructure</a:t>
            </a:r>
          </a:p>
          <a:p>
            <a:pPr>
              <a:spcAft>
                <a:spcPts val="600"/>
              </a:spcAft>
              <a:defRPr sz="1100">
                <a:solidFill>
                  <a:srgbClr val="ECF0F1"/>
                </a:solidFill>
                <a:latin typeface="Calibri"/>
              </a:defRPr>
              <a:buChar char="●"/>
              <a:buClr>
                <a:srgbClr val="9B59B6"/>
              </a:buClr>
            </a:pPr>
            <a:r>
              <a:t>  Emergency preparedness</a:t>
            </a:r>
          </a:p>
        </p:txBody>
      </p:sp>
      <p:sp>
        <p:nvSpPr>
          <p:cNvPr id="29" name="Rounded Rectangle 28"/>
          <p:cNvSpPr/>
          <p:nvPr/>
        </p:nvSpPr>
        <p:spPr>
          <a:xfrm>
            <a:off x="6309360" y="6675120"/>
            <a:ext cx="5669280" cy="246888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09360" y="6675120"/>
            <a:ext cx="5669280" cy="457200"/>
          </a:xfrm>
          <a:prstGeom prst="rect">
            <a:avLst/>
          </a:prstGeom>
          <a:solidFill>
            <a:srgbClr val="E74C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92240" y="6748272"/>
            <a:ext cx="5303520" cy="365760"/>
          </a:xfrm>
          <a:prstGeom prst="rect">
            <a:avLst/>
          </a:prstGeom>
          <a:noFill/>
        </p:spPr>
        <p:txBody>
          <a:bodyPr wrap="square">
            <a:spAutoFit/>
          </a:bodyPr>
          <a:lstStyle/>
          <a:p>
            <a:pPr algn="l">
              <a:defRPr sz="1600" b="1">
                <a:solidFill>
                  <a:srgbClr val="FFFFFF"/>
                </a:solidFill>
                <a:latin typeface="Calibri"/>
              </a:defRPr>
            </a:pPr>
            <a:r>
              <a:t>Research &amp; Innovation</a:t>
            </a:r>
          </a:p>
        </p:txBody>
      </p:sp>
      <p:sp>
        <p:nvSpPr>
          <p:cNvPr id="32" name="TextBox 31"/>
          <p:cNvSpPr txBox="1"/>
          <p:nvPr/>
        </p:nvSpPr>
        <p:spPr>
          <a:xfrm>
            <a:off x="6492240" y="7178040"/>
            <a:ext cx="5303520" cy="548640"/>
          </a:xfrm>
          <a:prstGeom prst="rect">
            <a:avLst/>
          </a:prstGeom>
          <a:noFill/>
        </p:spPr>
        <p:txBody>
          <a:bodyPr wrap="square">
            <a:spAutoFit/>
          </a:bodyPr>
          <a:lstStyle/>
          <a:p>
            <a:pPr algn="l">
              <a:defRPr sz="1100" b="0">
                <a:solidFill>
                  <a:srgbClr val="ECF0F1"/>
                </a:solidFill>
                <a:latin typeface="Calibri"/>
              </a:defRPr>
            </a:pPr>
            <a:r>
              <a:t>Invest in DM research for India's unique challenges.</a:t>
            </a:r>
          </a:p>
        </p:txBody>
      </p:sp>
      <p:sp>
        <p:nvSpPr>
          <p:cNvPr id="33" name="TextBox 32"/>
          <p:cNvSpPr txBox="1"/>
          <p:nvPr/>
        </p:nvSpPr>
        <p:spPr>
          <a:xfrm>
            <a:off x="6492240" y="7772400"/>
            <a:ext cx="5303520" cy="1188720"/>
          </a:xfrm>
          <a:prstGeom prst="rect">
            <a:avLst/>
          </a:prstGeom>
          <a:noFill/>
        </p:spPr>
        <p:txBody>
          <a:bodyPr wrap="square">
            <a:spAutoFit/>
          </a:bodyPr>
          <a:lstStyle/>
          <a:p>
            <a:pPr>
              <a:spcAft>
                <a:spcPts val="600"/>
              </a:spcAft>
              <a:defRPr sz="1100">
                <a:solidFill>
                  <a:srgbClr val="ECF0F1"/>
                </a:solidFill>
                <a:latin typeface="Calibri"/>
              </a:defRPr>
              <a:buChar char="●"/>
              <a:buClr>
                <a:srgbClr val="E74C3C"/>
              </a:buClr>
            </a:pPr>
            <a:r>
              <a:t>  Indigenous solutions</a:t>
            </a:r>
          </a:p>
          <a:p>
            <a:pPr>
              <a:spcAft>
                <a:spcPts val="600"/>
              </a:spcAft>
              <a:defRPr sz="1100">
                <a:solidFill>
                  <a:srgbClr val="ECF0F1"/>
                </a:solidFill>
                <a:latin typeface="Calibri"/>
              </a:defRPr>
              <a:buChar char="●"/>
              <a:buClr>
                <a:srgbClr val="E74C3C"/>
              </a:buClr>
            </a:pPr>
            <a:r>
              <a:t>  Academic research</a:t>
            </a:r>
          </a:p>
          <a:p>
            <a:pPr>
              <a:spcAft>
                <a:spcPts val="600"/>
              </a:spcAft>
              <a:defRPr sz="1100">
                <a:solidFill>
                  <a:srgbClr val="ECF0F1"/>
                </a:solidFill>
                <a:latin typeface="Calibri"/>
              </a:defRPr>
              <a:buChar char="●"/>
              <a:buClr>
                <a:srgbClr val="E74C3C"/>
              </a:buClr>
            </a:pPr>
            <a:r>
              <a:t>  Field testing</a:t>
            </a:r>
          </a:p>
          <a:p>
            <a:pPr>
              <a:spcAft>
                <a:spcPts val="600"/>
              </a:spcAft>
              <a:defRPr sz="1100">
                <a:solidFill>
                  <a:srgbClr val="ECF0F1"/>
                </a:solidFill>
                <a:latin typeface="Calibri"/>
              </a:defRPr>
              <a:buChar char="●"/>
              <a:buClr>
                <a:srgbClr val="E74C3C"/>
              </a:buClr>
            </a:pPr>
            <a:r>
              <a:t>  Knowledge sharing</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4200" b="1">
                <a:solidFill>
                  <a:srgbClr val="FFFFFF"/>
                </a:solidFill>
                <a:latin typeface="Calibri"/>
              </a:defRPr>
            </a:pPr>
            <a:r>
              <a:t>CONCLUSION</a:t>
            </a:r>
          </a:p>
        </p:txBody>
      </p:sp>
      <p:sp>
        <p:nvSpPr>
          <p:cNvPr id="4" name="TextBox 3"/>
          <p:cNvSpPr txBox="1"/>
          <p:nvPr/>
        </p:nvSpPr>
        <p:spPr>
          <a:xfrm>
            <a:off x="731520" y="1371600"/>
            <a:ext cx="10972800" cy="1371600"/>
          </a:xfrm>
          <a:prstGeom prst="rect">
            <a:avLst/>
          </a:prstGeom>
          <a:noFill/>
        </p:spPr>
        <p:txBody>
          <a:bodyPr wrap="square">
            <a:spAutoFit/>
          </a:bodyPr>
          <a:lstStyle/>
          <a:p>
            <a:pPr>
              <a:spcAft>
                <a:spcPts val="450"/>
              </a:spcAft>
              <a:defRPr sz="1500" b="0">
                <a:solidFill>
                  <a:srgbClr val="ECF0F1"/>
                </a:solidFill>
                <a:latin typeface="Calibri"/>
              </a:defRPr>
            </a:pPr>
            <a:r>
              <a:t>India faces a wide spectrum of disasters. The framework has evolved significantly since 2001 and 2004, culminating in the DM Act 2005 and NDMA.</a:t>
            </a:r>
          </a:p>
        </p:txBody>
      </p:sp>
      <p:sp>
        <p:nvSpPr>
          <p:cNvPr id="5" name="Rounded Rectangle 4"/>
          <p:cNvSpPr/>
          <p:nvPr/>
        </p:nvSpPr>
        <p:spPr>
          <a:xfrm>
            <a:off x="365760" y="3017520"/>
            <a:ext cx="566928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3017520"/>
            <a:ext cx="5669280" cy="4572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3090672"/>
            <a:ext cx="5303520" cy="365760"/>
          </a:xfrm>
          <a:prstGeom prst="rect">
            <a:avLst/>
          </a:prstGeom>
          <a:noFill/>
        </p:spPr>
        <p:txBody>
          <a:bodyPr wrap="square">
            <a:spAutoFit/>
          </a:bodyPr>
          <a:lstStyle/>
          <a:p>
            <a:pPr algn="l">
              <a:defRPr sz="1800" b="1">
                <a:solidFill>
                  <a:srgbClr val="FFFFFF"/>
                </a:solidFill>
                <a:latin typeface="Calibri"/>
              </a:defRPr>
            </a:pPr>
            <a:r>
              <a:t>Progress Made</a:t>
            </a:r>
          </a:p>
        </p:txBody>
      </p:sp>
      <p:sp>
        <p:nvSpPr>
          <p:cNvPr id="8" name="TextBox 7"/>
          <p:cNvSpPr txBox="1"/>
          <p:nvPr/>
        </p:nvSpPr>
        <p:spPr>
          <a:xfrm>
            <a:off x="548640" y="3566160"/>
            <a:ext cx="5303520" cy="1005840"/>
          </a:xfrm>
          <a:prstGeom prst="rect">
            <a:avLst/>
          </a:prstGeom>
          <a:noFill/>
        </p:spPr>
        <p:txBody>
          <a:bodyPr wrap="square">
            <a:spAutoFit/>
          </a:bodyPr>
          <a:lstStyle/>
          <a:p>
            <a:pPr algn="l">
              <a:defRPr sz="1300" b="0">
                <a:solidFill>
                  <a:srgbClr val="ECF0F1"/>
                </a:solidFill>
                <a:latin typeface="Calibri"/>
              </a:defRPr>
            </a:pPr>
            <a:r>
              <a:t>Significant progress in institutional framework, early warning, response capabilities.</a:t>
            </a:r>
          </a:p>
        </p:txBody>
      </p:sp>
      <p:sp>
        <p:nvSpPr>
          <p:cNvPr id="9" name="Rounded Rectangle 8"/>
          <p:cNvSpPr/>
          <p:nvPr/>
        </p:nvSpPr>
        <p:spPr>
          <a:xfrm>
            <a:off x="6309360" y="3017520"/>
            <a:ext cx="566928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09360" y="3017520"/>
            <a:ext cx="5669280" cy="457200"/>
          </a:xfrm>
          <a:prstGeom prst="rect">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92240" y="3090672"/>
            <a:ext cx="5303520" cy="365760"/>
          </a:xfrm>
          <a:prstGeom prst="rect">
            <a:avLst/>
          </a:prstGeom>
          <a:noFill/>
        </p:spPr>
        <p:txBody>
          <a:bodyPr wrap="square">
            <a:spAutoFit/>
          </a:bodyPr>
          <a:lstStyle/>
          <a:p>
            <a:pPr algn="l">
              <a:defRPr sz="1800" b="1">
                <a:solidFill>
                  <a:srgbClr val="FFFFFF"/>
                </a:solidFill>
                <a:latin typeface="Calibri"/>
              </a:defRPr>
            </a:pPr>
            <a:r>
              <a:t>Gaps Remain</a:t>
            </a:r>
          </a:p>
        </p:txBody>
      </p:sp>
      <p:sp>
        <p:nvSpPr>
          <p:cNvPr id="12" name="TextBox 11"/>
          <p:cNvSpPr txBox="1"/>
          <p:nvPr/>
        </p:nvSpPr>
        <p:spPr>
          <a:xfrm>
            <a:off x="6492240" y="3566160"/>
            <a:ext cx="5303520" cy="1005840"/>
          </a:xfrm>
          <a:prstGeom prst="rect">
            <a:avLst/>
          </a:prstGeom>
          <a:noFill/>
        </p:spPr>
        <p:txBody>
          <a:bodyPr wrap="square">
            <a:spAutoFit/>
          </a:bodyPr>
          <a:lstStyle/>
          <a:p>
            <a:pPr algn="l">
              <a:defRPr sz="1300" b="0">
                <a:solidFill>
                  <a:srgbClr val="ECF0F1"/>
                </a:solidFill>
                <a:latin typeface="Calibri"/>
              </a:defRPr>
            </a:pPr>
            <a:r>
              <a:t>Implementation, funding, urban vulnerability, awareness gaps need urgent attention.</a:t>
            </a:r>
          </a:p>
        </p:txBody>
      </p:sp>
      <p:sp>
        <p:nvSpPr>
          <p:cNvPr id="13" name="Rounded Rectangle 12"/>
          <p:cNvSpPr/>
          <p:nvPr/>
        </p:nvSpPr>
        <p:spPr>
          <a:xfrm>
            <a:off x="365760" y="4846320"/>
            <a:ext cx="566928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5760" y="4846320"/>
            <a:ext cx="5669280" cy="457200"/>
          </a:xfrm>
          <a:prstGeom prst="rect">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4919472"/>
            <a:ext cx="5303520" cy="365760"/>
          </a:xfrm>
          <a:prstGeom prst="rect">
            <a:avLst/>
          </a:prstGeom>
          <a:noFill/>
        </p:spPr>
        <p:txBody>
          <a:bodyPr wrap="square">
            <a:spAutoFit/>
          </a:bodyPr>
          <a:lstStyle/>
          <a:p>
            <a:pPr algn="l">
              <a:defRPr sz="1800" b="1">
                <a:solidFill>
                  <a:srgbClr val="FFFFFF"/>
                </a:solidFill>
                <a:latin typeface="Calibri"/>
              </a:defRPr>
            </a:pPr>
            <a:r>
              <a:t>Role of Architecture</a:t>
            </a:r>
          </a:p>
        </p:txBody>
      </p:sp>
      <p:sp>
        <p:nvSpPr>
          <p:cNvPr id="16" name="TextBox 15"/>
          <p:cNvSpPr txBox="1"/>
          <p:nvPr/>
        </p:nvSpPr>
        <p:spPr>
          <a:xfrm>
            <a:off x="548640" y="5394960"/>
            <a:ext cx="5303520" cy="1005840"/>
          </a:xfrm>
          <a:prstGeom prst="rect">
            <a:avLst/>
          </a:prstGeom>
          <a:noFill/>
        </p:spPr>
        <p:txBody>
          <a:bodyPr wrap="square">
            <a:spAutoFit/>
          </a:bodyPr>
          <a:lstStyle/>
          <a:p>
            <a:pPr algn="l">
              <a:defRPr sz="1300" b="0">
                <a:solidFill>
                  <a:srgbClr val="ECF0F1"/>
                </a:solidFill>
                <a:latin typeface="Calibri"/>
              </a:defRPr>
            </a:pPr>
            <a:r>
              <a:t>Architects vital in disaster-resistant design, planning, reconstruction.</a:t>
            </a:r>
          </a:p>
        </p:txBody>
      </p:sp>
      <p:sp>
        <p:nvSpPr>
          <p:cNvPr id="17" name="Rounded Rectangle 16"/>
          <p:cNvSpPr/>
          <p:nvPr/>
        </p:nvSpPr>
        <p:spPr>
          <a:xfrm>
            <a:off x="6309360" y="4846320"/>
            <a:ext cx="5669280" cy="1645920"/>
          </a:xfrm>
          <a:prstGeom prst="round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309360" y="4846320"/>
            <a:ext cx="5669280" cy="457200"/>
          </a:xfrm>
          <a:prstGeom prst="rect">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92240" y="4919472"/>
            <a:ext cx="5303520" cy="365760"/>
          </a:xfrm>
          <a:prstGeom prst="rect">
            <a:avLst/>
          </a:prstGeom>
          <a:noFill/>
        </p:spPr>
        <p:txBody>
          <a:bodyPr wrap="square">
            <a:spAutoFit/>
          </a:bodyPr>
          <a:lstStyle/>
          <a:p>
            <a:pPr algn="l">
              <a:defRPr sz="1800" b="1">
                <a:solidFill>
                  <a:srgbClr val="FFFFFF"/>
                </a:solidFill>
                <a:latin typeface="Calibri"/>
              </a:defRPr>
            </a:pPr>
            <a:r>
              <a:t>Way Forward</a:t>
            </a:r>
          </a:p>
        </p:txBody>
      </p:sp>
      <p:sp>
        <p:nvSpPr>
          <p:cNvPr id="20" name="TextBox 19"/>
          <p:cNvSpPr txBox="1"/>
          <p:nvPr/>
        </p:nvSpPr>
        <p:spPr>
          <a:xfrm>
            <a:off x="6492240" y="5394960"/>
            <a:ext cx="5303520" cy="1005840"/>
          </a:xfrm>
          <a:prstGeom prst="rect">
            <a:avLst/>
          </a:prstGeom>
          <a:noFill/>
        </p:spPr>
        <p:txBody>
          <a:bodyPr wrap="square">
            <a:spAutoFit/>
          </a:bodyPr>
          <a:lstStyle/>
          <a:p>
            <a:pPr algn="l">
              <a:defRPr sz="1300" b="0">
                <a:solidFill>
                  <a:srgbClr val="ECF0F1"/>
                </a:solidFill>
                <a:latin typeface="Calibri"/>
              </a:defRPr>
            </a:pPr>
            <a:r>
              <a:t>Holistic approach: technology, community, climate adaptation, resilient design.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7F8C8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74320"/>
            <a:ext cx="10972800" cy="731520"/>
          </a:xfrm>
          <a:prstGeom prst="rect">
            <a:avLst/>
          </a:prstGeom>
          <a:noFill/>
        </p:spPr>
        <p:txBody>
          <a:bodyPr wrap="square">
            <a:spAutoFit/>
          </a:bodyPr>
          <a:lstStyle/>
          <a:p>
            <a:pPr algn="l">
              <a:defRPr sz="3600" b="1">
                <a:solidFill>
                  <a:srgbClr val="FFFFFF"/>
                </a:solidFill>
                <a:latin typeface="Calibri"/>
              </a:defRPr>
            </a:pPr>
            <a:r>
              <a:t>REFERENCES &amp; FURTHER READING</a:t>
            </a:r>
          </a:p>
        </p:txBody>
      </p:sp>
      <p:sp>
        <p:nvSpPr>
          <p:cNvPr id="4" name="TextBox 3"/>
          <p:cNvSpPr txBox="1"/>
          <p:nvPr/>
        </p:nvSpPr>
        <p:spPr>
          <a:xfrm>
            <a:off x="457200" y="1371600"/>
            <a:ext cx="5669280" cy="365760"/>
          </a:xfrm>
          <a:prstGeom prst="rect">
            <a:avLst/>
          </a:prstGeom>
          <a:noFill/>
        </p:spPr>
        <p:txBody>
          <a:bodyPr wrap="square">
            <a:spAutoFit/>
          </a:bodyPr>
          <a:lstStyle/>
          <a:p>
            <a:pPr algn="l">
              <a:defRPr sz="1200" b="0">
                <a:solidFill>
                  <a:srgbClr val="ECF0F1"/>
                </a:solidFill>
                <a:latin typeface="Calibri"/>
              </a:defRPr>
            </a:pPr>
            <a:r>
              <a:t>  Disaster Management Act, 2005</a:t>
            </a:r>
          </a:p>
        </p:txBody>
      </p:sp>
      <p:sp>
        <p:nvSpPr>
          <p:cNvPr id="5" name="TextBox 4"/>
          <p:cNvSpPr txBox="1"/>
          <p:nvPr/>
        </p:nvSpPr>
        <p:spPr>
          <a:xfrm>
            <a:off x="6400800" y="1371600"/>
            <a:ext cx="5669280" cy="365760"/>
          </a:xfrm>
          <a:prstGeom prst="rect">
            <a:avLst/>
          </a:prstGeom>
          <a:noFill/>
        </p:spPr>
        <p:txBody>
          <a:bodyPr wrap="square">
            <a:spAutoFit/>
          </a:bodyPr>
          <a:lstStyle/>
          <a:p>
            <a:pPr algn="l">
              <a:defRPr sz="1200" b="0">
                <a:solidFill>
                  <a:srgbClr val="ECF0F1"/>
                </a:solidFill>
                <a:latin typeface="Calibri"/>
              </a:defRPr>
            </a:pPr>
            <a:r>
              <a:t>  National Disaster Management Authority (NDMA) - ndma.gov.in</a:t>
            </a:r>
          </a:p>
        </p:txBody>
      </p:sp>
      <p:sp>
        <p:nvSpPr>
          <p:cNvPr id="6" name="TextBox 5"/>
          <p:cNvSpPr txBox="1"/>
          <p:nvPr/>
        </p:nvSpPr>
        <p:spPr>
          <a:xfrm>
            <a:off x="457200" y="1783080"/>
            <a:ext cx="5669280" cy="365760"/>
          </a:xfrm>
          <a:prstGeom prst="rect">
            <a:avLst/>
          </a:prstGeom>
          <a:noFill/>
        </p:spPr>
        <p:txBody>
          <a:bodyPr wrap="square">
            <a:spAutoFit/>
          </a:bodyPr>
          <a:lstStyle/>
          <a:p>
            <a:pPr algn="l">
              <a:defRPr sz="1200" b="0">
                <a:solidFill>
                  <a:srgbClr val="ECF0F1"/>
                </a:solidFill>
                <a:latin typeface="Calibri"/>
              </a:defRPr>
            </a:pPr>
            <a:r>
              <a:t>  National Institute of Disaster Management (NIDM) - nidm.gov.in</a:t>
            </a:r>
          </a:p>
        </p:txBody>
      </p:sp>
      <p:sp>
        <p:nvSpPr>
          <p:cNvPr id="7" name="TextBox 6"/>
          <p:cNvSpPr txBox="1"/>
          <p:nvPr/>
        </p:nvSpPr>
        <p:spPr>
          <a:xfrm>
            <a:off x="6400800" y="1783080"/>
            <a:ext cx="5669280" cy="365760"/>
          </a:xfrm>
          <a:prstGeom prst="rect">
            <a:avLst/>
          </a:prstGeom>
          <a:noFill/>
        </p:spPr>
        <p:txBody>
          <a:bodyPr wrap="square">
            <a:spAutoFit/>
          </a:bodyPr>
          <a:lstStyle/>
          <a:p>
            <a:pPr algn="l">
              <a:defRPr sz="1200" b="0">
                <a:solidFill>
                  <a:srgbClr val="ECF0F1"/>
                </a:solidFill>
                <a:latin typeface="Calibri"/>
              </a:defRPr>
            </a:pPr>
            <a:r>
              <a:t>  India Meteorological Department (IMD) - mausam.imd.gov.in</a:t>
            </a:r>
          </a:p>
        </p:txBody>
      </p:sp>
      <p:sp>
        <p:nvSpPr>
          <p:cNvPr id="8" name="TextBox 7"/>
          <p:cNvSpPr txBox="1"/>
          <p:nvPr/>
        </p:nvSpPr>
        <p:spPr>
          <a:xfrm>
            <a:off x="457200" y="2194560"/>
            <a:ext cx="5669280" cy="365760"/>
          </a:xfrm>
          <a:prstGeom prst="rect">
            <a:avLst/>
          </a:prstGeom>
          <a:noFill/>
        </p:spPr>
        <p:txBody>
          <a:bodyPr wrap="square">
            <a:spAutoFit/>
          </a:bodyPr>
          <a:lstStyle/>
          <a:p>
            <a:pPr algn="l">
              <a:defRPr sz="1200" b="0">
                <a:solidFill>
                  <a:srgbClr val="ECF0F1"/>
                </a:solidFill>
                <a:latin typeface="Calibri"/>
              </a:defRPr>
            </a:pPr>
            <a:r>
              <a:t>  IS 1893:2016 - Earthquake Resistant Design</a:t>
            </a:r>
          </a:p>
        </p:txBody>
      </p:sp>
      <p:sp>
        <p:nvSpPr>
          <p:cNvPr id="9" name="TextBox 8"/>
          <p:cNvSpPr txBox="1"/>
          <p:nvPr/>
        </p:nvSpPr>
        <p:spPr>
          <a:xfrm>
            <a:off x="6400800" y="2194560"/>
            <a:ext cx="5669280" cy="365760"/>
          </a:xfrm>
          <a:prstGeom prst="rect">
            <a:avLst/>
          </a:prstGeom>
          <a:noFill/>
        </p:spPr>
        <p:txBody>
          <a:bodyPr wrap="square">
            <a:spAutoFit/>
          </a:bodyPr>
          <a:lstStyle/>
          <a:p>
            <a:pPr algn="l">
              <a:defRPr sz="1200" b="0">
                <a:solidFill>
                  <a:srgbClr val="ECF0F1"/>
                </a:solidFill>
                <a:latin typeface="Calibri"/>
              </a:defRPr>
            </a:pPr>
            <a:r>
              <a:t>  Sendai Framework for DRR 2015-2030</a:t>
            </a:r>
          </a:p>
        </p:txBody>
      </p:sp>
      <p:sp>
        <p:nvSpPr>
          <p:cNvPr id="10" name="TextBox 9"/>
          <p:cNvSpPr txBox="1"/>
          <p:nvPr/>
        </p:nvSpPr>
        <p:spPr>
          <a:xfrm>
            <a:off x="457200" y="2606040"/>
            <a:ext cx="5669280" cy="365760"/>
          </a:xfrm>
          <a:prstGeom prst="rect">
            <a:avLst/>
          </a:prstGeom>
          <a:noFill/>
        </p:spPr>
        <p:txBody>
          <a:bodyPr wrap="square">
            <a:spAutoFit/>
          </a:bodyPr>
          <a:lstStyle/>
          <a:p>
            <a:pPr algn="l">
              <a:defRPr sz="1200" b="0">
                <a:solidFill>
                  <a:srgbClr val="ECF0F1"/>
                </a:solidFill>
                <a:latin typeface="Calibri"/>
              </a:defRPr>
            </a:pPr>
            <a:r>
              <a:t>  UNDRR Global Assessment Report</a:t>
            </a:r>
          </a:p>
        </p:txBody>
      </p:sp>
      <p:sp>
        <p:nvSpPr>
          <p:cNvPr id="11" name="TextBox 10"/>
          <p:cNvSpPr txBox="1"/>
          <p:nvPr/>
        </p:nvSpPr>
        <p:spPr>
          <a:xfrm>
            <a:off x="6400800" y="2606040"/>
            <a:ext cx="5669280" cy="365760"/>
          </a:xfrm>
          <a:prstGeom prst="rect">
            <a:avLst/>
          </a:prstGeom>
          <a:noFill/>
        </p:spPr>
        <p:txBody>
          <a:bodyPr wrap="square">
            <a:spAutoFit/>
          </a:bodyPr>
          <a:lstStyle/>
          <a:p>
            <a:pPr algn="l">
              <a:defRPr sz="1200" b="0">
                <a:solidFill>
                  <a:srgbClr val="ECF0F1"/>
                </a:solidFill>
                <a:latin typeface="Calibri"/>
              </a:defRPr>
            </a:pPr>
            <a:r>
              <a:t>  National Disaster Response Force (NDRF)</a:t>
            </a:r>
          </a:p>
        </p:txBody>
      </p:sp>
      <p:sp>
        <p:nvSpPr>
          <p:cNvPr id="12" name="TextBox 11"/>
          <p:cNvSpPr txBox="1"/>
          <p:nvPr/>
        </p:nvSpPr>
        <p:spPr>
          <a:xfrm>
            <a:off x="457200" y="3017520"/>
            <a:ext cx="5669280" cy="365760"/>
          </a:xfrm>
          <a:prstGeom prst="rect">
            <a:avLst/>
          </a:prstGeom>
          <a:noFill/>
        </p:spPr>
        <p:txBody>
          <a:bodyPr wrap="square">
            <a:spAutoFit/>
          </a:bodyPr>
          <a:lstStyle/>
          <a:p>
            <a:pPr algn="l">
              <a:defRPr sz="1200" b="0">
                <a:solidFill>
                  <a:srgbClr val="ECF0F1"/>
                </a:solidFill>
                <a:latin typeface="Calibri"/>
              </a:defRPr>
            </a:pPr>
            <a:r>
              <a:t>  India Tsunami Early Warning Centre (ITEWC)</a:t>
            </a:r>
          </a:p>
        </p:txBody>
      </p:sp>
      <p:sp>
        <p:nvSpPr>
          <p:cNvPr id="13" name="TextBox 12"/>
          <p:cNvSpPr txBox="1"/>
          <p:nvPr/>
        </p:nvSpPr>
        <p:spPr>
          <a:xfrm>
            <a:off x="6400800" y="3017520"/>
            <a:ext cx="5669280" cy="365760"/>
          </a:xfrm>
          <a:prstGeom prst="rect">
            <a:avLst/>
          </a:prstGeom>
          <a:noFill/>
        </p:spPr>
        <p:txBody>
          <a:bodyPr wrap="square">
            <a:spAutoFit/>
          </a:bodyPr>
          <a:lstStyle/>
          <a:p>
            <a:pPr algn="l">
              <a:defRPr sz="1200" b="0">
                <a:solidFill>
                  <a:srgbClr val="ECF0F1"/>
                </a:solidFill>
                <a:latin typeface="Calibri"/>
              </a:defRPr>
            </a:pPr>
            <a:r>
              <a:t>  National Cyclone Risk Mitigation Project</a:t>
            </a:r>
          </a:p>
        </p:txBody>
      </p:sp>
      <p:sp>
        <p:nvSpPr>
          <p:cNvPr id="14" name="TextBox 13"/>
          <p:cNvSpPr txBox="1"/>
          <p:nvPr/>
        </p:nvSpPr>
        <p:spPr>
          <a:xfrm>
            <a:off x="457200" y="3429000"/>
            <a:ext cx="5669280" cy="365760"/>
          </a:xfrm>
          <a:prstGeom prst="rect">
            <a:avLst/>
          </a:prstGeom>
          <a:noFill/>
        </p:spPr>
        <p:txBody>
          <a:bodyPr wrap="square">
            <a:spAutoFit/>
          </a:bodyPr>
          <a:lstStyle/>
          <a:p>
            <a:pPr algn="l">
              <a:defRPr sz="1200" b="0">
                <a:solidFill>
                  <a:srgbClr val="ECF0F1"/>
                </a:solidFill>
                <a:latin typeface="Calibri"/>
              </a:defRPr>
            </a:pPr>
            <a:r>
              <a:t>  NBC 2016 - National Building Code</a:t>
            </a:r>
          </a:p>
        </p:txBody>
      </p:sp>
      <p:sp>
        <p:nvSpPr>
          <p:cNvPr id="15" name="TextBox 14"/>
          <p:cNvSpPr txBox="1"/>
          <p:nvPr/>
        </p:nvSpPr>
        <p:spPr>
          <a:xfrm>
            <a:off x="6400800" y="3429000"/>
            <a:ext cx="5669280" cy="365760"/>
          </a:xfrm>
          <a:prstGeom prst="rect">
            <a:avLst/>
          </a:prstGeom>
          <a:noFill/>
        </p:spPr>
        <p:txBody>
          <a:bodyPr wrap="square">
            <a:spAutoFit/>
          </a:bodyPr>
          <a:lstStyle/>
          <a:p>
            <a:pPr algn="l">
              <a:defRPr sz="1200" b="0">
                <a:solidFill>
                  <a:srgbClr val="ECF0F1"/>
                </a:solidFill>
                <a:latin typeface="Calibri"/>
              </a:defRPr>
            </a:pPr>
            <a:r>
              <a:t>  Post-Disaster Needs Assessment Reports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Oval 1"/>
          <p:cNvSpPr/>
          <p:nvPr/>
        </p:nvSpPr>
        <p:spPr>
          <a:xfrm>
            <a:off x="457200" y="457200"/>
            <a:ext cx="1828800" cy="1828800"/>
          </a:xfrm>
          <a:prstGeom prst="ellipse">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58400" y="274320"/>
            <a:ext cx="1371600" cy="1371600"/>
          </a:xfrm>
          <a:prstGeom prst="ellipse">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144000" y="5029200"/>
            <a:ext cx="2286000" cy="2286000"/>
          </a:xfrm>
          <a:prstGeom prst="ellipse">
            <a:avLst/>
          </a:prstGeom>
          <a:solidFill>
            <a:srgbClr val="27AE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4572000"/>
            <a:ext cx="1645920" cy="1645920"/>
          </a:xfrm>
          <a:prstGeom prst="ellipse">
            <a:avLst/>
          </a:prstGeom>
          <a:solidFill>
            <a:srgbClr val="F39C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10058400" cy="1371600"/>
          </a:xfrm>
          <a:prstGeom prst="rect">
            <a:avLst/>
          </a:prstGeom>
          <a:noFill/>
        </p:spPr>
        <p:txBody>
          <a:bodyPr wrap="square">
            <a:spAutoFit/>
          </a:bodyPr>
          <a:lstStyle/>
          <a:p>
            <a:pPr algn="ctr">
              <a:defRPr sz="6400" b="1">
                <a:solidFill>
                  <a:srgbClr val="FFFFFF"/>
                </a:solidFill>
                <a:latin typeface="Calibri"/>
              </a:defRPr>
            </a:pPr>
            <a:r>
              <a:t>THANK YOU</a:t>
            </a:r>
          </a:p>
        </p:txBody>
      </p:sp>
      <p:sp>
        <p:nvSpPr>
          <p:cNvPr id="7" name="Rectangle 6"/>
          <p:cNvSpPr/>
          <p:nvPr/>
        </p:nvSpPr>
        <p:spPr>
          <a:xfrm>
            <a:off x="3657600" y="3200400"/>
            <a:ext cx="4846320" cy="508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474720"/>
            <a:ext cx="10058400" cy="914400"/>
          </a:xfrm>
          <a:prstGeom prst="rect">
            <a:avLst/>
          </a:prstGeom>
          <a:noFill/>
        </p:spPr>
        <p:txBody>
          <a:bodyPr wrap="square">
            <a:spAutoFit/>
          </a:bodyPr>
          <a:lstStyle/>
          <a:p>
            <a:pPr algn="ctr">
              <a:defRPr sz="2400" b="0">
                <a:solidFill>
                  <a:srgbClr val="ECF0F1"/>
                </a:solidFill>
                <a:latin typeface="Calibri"/>
              </a:defRPr>
            </a:pPr>
            <a:r>
              <a:t>Overview of Disaster Management</a:t>
            </a:r>
            <a:br/>
            <a:r>
              <a:t>Scenario in India</a:t>
            </a:r>
          </a:p>
        </p:txBody>
      </p:sp>
      <p:sp>
        <p:nvSpPr>
          <p:cNvPr id="9" name="TextBox 8"/>
          <p:cNvSpPr txBox="1"/>
          <p:nvPr/>
        </p:nvSpPr>
        <p:spPr>
          <a:xfrm>
            <a:off x="914400" y="4572000"/>
            <a:ext cx="10058400" cy="457200"/>
          </a:xfrm>
          <a:prstGeom prst="rect">
            <a:avLst/>
          </a:prstGeom>
          <a:noFill/>
        </p:spPr>
        <p:txBody>
          <a:bodyPr wrap="square">
            <a:spAutoFit/>
          </a:bodyPr>
          <a:lstStyle/>
          <a:p>
            <a:pPr algn="ctr">
              <a:defRPr sz="1800" b="0">
                <a:solidFill>
                  <a:srgbClr val="7F8C8D"/>
                </a:solidFill>
                <a:latin typeface="Calibri"/>
              </a:defRPr>
            </a:pPr>
            <a:r>
              <a:t>Bachelor of Architecture (B.Arch)</a:t>
            </a:r>
          </a:p>
        </p:txBody>
      </p:sp>
      <p:sp>
        <p:nvSpPr>
          <p:cNvPr id="10" name="Rectangle 9"/>
          <p:cNvSpPr/>
          <p:nvPr/>
        </p:nvSpPr>
        <p:spPr>
          <a:xfrm>
            <a:off x="0" y="5486400"/>
            <a:ext cx="12191695" cy="1371600"/>
          </a:xfrm>
          <a:prstGeom prst="rect">
            <a:avLst/>
          </a:prstGeom>
          <a:solidFill>
            <a:srgbClr val="E83E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0" y="5669280"/>
            <a:ext cx="12191695" cy="914400"/>
          </a:xfrm>
          <a:prstGeom prst="rect">
            <a:avLst/>
          </a:prstGeom>
          <a:noFill/>
        </p:spPr>
        <p:txBody>
          <a:bodyPr wrap="square">
            <a:spAutoFit/>
          </a:bodyPr>
          <a:lstStyle/>
          <a:p>
            <a:pPr algn="ctr">
              <a:defRPr sz="1400" b="0">
                <a:solidFill>
                  <a:srgbClr val="FFFFFF"/>
                </a:solidFill>
                <a:latin typeface="Calibri"/>
              </a:defRPr>
            </a:pPr>
            <a:r>
              <a:t>"Disaster management is about building resilient communities that can withstand any challenge."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